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4" r:id="rId4"/>
    <p:sldId id="258" r:id="rId5"/>
    <p:sldId id="259" r:id="rId6"/>
    <p:sldId id="265" r:id="rId7"/>
    <p:sldId id="260" r:id="rId8"/>
    <p:sldId id="261"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24"/>
    <p:restoredTop sz="94639"/>
  </p:normalViewPr>
  <p:slideViewPr>
    <p:cSldViewPr snapToGrid="0" snapToObjects="1">
      <p:cViewPr varScale="1">
        <p:scale>
          <a:sx n="121" d="100"/>
          <a:sy n="121" d="100"/>
        </p:scale>
        <p:origin x="200" y="8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Định vị 1 câu: Ứng dụng giúp sàng lọc sớm rủi ro 3 bệnh mãn tính từ chỉ số sức khỏe cơ bản, kèm khuyến nghị và giải thích minh bạch. Người trình bày: Thuận.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Nhấn</a:t>
            </a:r>
            <a:r>
              <a:rPr dirty="0"/>
              <a:t> </a:t>
            </a:r>
            <a:r>
              <a:rPr dirty="0" err="1"/>
              <a:t>mạnh</a:t>
            </a:r>
            <a:r>
              <a:rPr dirty="0"/>
              <a:t> </a:t>
            </a:r>
            <a:r>
              <a:rPr dirty="0" err="1"/>
              <a:t>ranh</a:t>
            </a:r>
            <a:r>
              <a:rPr dirty="0"/>
              <a:t> </a:t>
            </a:r>
            <a:r>
              <a:rPr dirty="0" err="1"/>
              <a:t>giới</a:t>
            </a:r>
            <a:r>
              <a:rPr dirty="0"/>
              <a:t> </a:t>
            </a:r>
            <a:r>
              <a:rPr dirty="0" err="1"/>
              <a:t>trách</a:t>
            </a:r>
            <a:r>
              <a:rPr dirty="0"/>
              <a:t> </a:t>
            </a:r>
            <a:r>
              <a:rPr dirty="0" err="1"/>
              <a:t>nhiệm</a:t>
            </a:r>
            <a:r>
              <a:rPr dirty="0"/>
              <a:t> — </a:t>
            </a:r>
            <a:r>
              <a:rPr dirty="0" err="1"/>
              <a:t>điểm</a:t>
            </a:r>
            <a:r>
              <a:rPr dirty="0"/>
              <a:t> </a:t>
            </a:r>
            <a:r>
              <a:rPr dirty="0" err="1"/>
              <a:t>cộng</a:t>
            </a:r>
            <a:r>
              <a:rPr dirty="0"/>
              <a:t> </a:t>
            </a:r>
            <a:r>
              <a:rPr dirty="0" err="1"/>
              <a:t>về</a:t>
            </a:r>
            <a:r>
              <a:rPr dirty="0"/>
              <a:t> </a:t>
            </a:r>
            <a:r>
              <a:rPr dirty="0" err="1"/>
              <a:t>đạo</a:t>
            </a:r>
            <a:r>
              <a:rPr dirty="0"/>
              <a:t> </a:t>
            </a:r>
            <a:r>
              <a:rPr dirty="0" err="1"/>
              <a:t>đức</a:t>
            </a:r>
            <a:r>
              <a:rPr dirty="0"/>
              <a:t> AI, </a:t>
            </a:r>
            <a:r>
              <a:rPr dirty="0" err="1"/>
              <a:t>phòng</a:t>
            </a:r>
            <a:r>
              <a:rPr dirty="0"/>
              <a:t> </a:t>
            </a:r>
            <a:r>
              <a:rPr dirty="0" err="1"/>
              <a:t>câu</a:t>
            </a:r>
            <a:r>
              <a:rPr dirty="0"/>
              <a:t> </a:t>
            </a:r>
            <a:r>
              <a:rPr dirty="0" err="1"/>
              <a:t>hỏi</a:t>
            </a:r>
            <a:r>
              <a:rPr dirty="0"/>
              <a:t> '</a:t>
            </a:r>
            <a:r>
              <a:rPr dirty="0" err="1"/>
              <a:t>có</a:t>
            </a:r>
            <a:r>
              <a:rPr dirty="0"/>
              <a:t> </a:t>
            </a:r>
            <a:r>
              <a:rPr dirty="0" err="1"/>
              <a:t>thay</a:t>
            </a:r>
            <a:r>
              <a:rPr dirty="0"/>
              <a:t> </a:t>
            </a:r>
            <a:r>
              <a:rPr dirty="0" err="1"/>
              <a:t>bác</a:t>
            </a:r>
            <a:r>
              <a:rPr dirty="0"/>
              <a:t> </a:t>
            </a:r>
            <a:r>
              <a:rPr dirty="0" err="1"/>
              <a:t>sĩ</a:t>
            </a:r>
            <a:r>
              <a:rPr dirty="0"/>
              <a:t> </a:t>
            </a:r>
            <a:r>
              <a:rPr dirty="0" err="1"/>
              <a:t>không</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r>
              <a:rPr dirty="0" err="1"/>
              <a:t>Nhấn</a:t>
            </a:r>
            <a:r>
              <a:rPr dirty="0"/>
              <a:t> </a:t>
            </a:r>
            <a:r>
              <a:rPr dirty="0" err="1"/>
              <a:t>mạnh</a:t>
            </a:r>
            <a:r>
              <a:rPr dirty="0"/>
              <a:t> </a:t>
            </a:r>
            <a:r>
              <a:rPr dirty="0" err="1"/>
              <a:t>ranh</a:t>
            </a:r>
            <a:r>
              <a:rPr dirty="0"/>
              <a:t> </a:t>
            </a:r>
            <a:r>
              <a:rPr dirty="0" err="1"/>
              <a:t>giới</a:t>
            </a:r>
            <a:r>
              <a:rPr dirty="0"/>
              <a:t> </a:t>
            </a:r>
            <a:r>
              <a:rPr dirty="0" err="1"/>
              <a:t>trách</a:t>
            </a:r>
            <a:r>
              <a:rPr dirty="0"/>
              <a:t> </a:t>
            </a:r>
            <a:r>
              <a:rPr dirty="0" err="1"/>
              <a:t>nhiệm</a:t>
            </a:r>
            <a:r>
              <a:rPr dirty="0"/>
              <a:t> — </a:t>
            </a:r>
            <a:r>
              <a:rPr dirty="0" err="1"/>
              <a:t>điểm</a:t>
            </a:r>
            <a:r>
              <a:rPr dirty="0"/>
              <a:t> </a:t>
            </a:r>
            <a:r>
              <a:rPr dirty="0" err="1"/>
              <a:t>cộng</a:t>
            </a:r>
            <a:r>
              <a:rPr dirty="0"/>
              <a:t> </a:t>
            </a:r>
            <a:r>
              <a:rPr dirty="0" err="1"/>
              <a:t>về</a:t>
            </a:r>
            <a:r>
              <a:rPr dirty="0"/>
              <a:t> </a:t>
            </a:r>
            <a:r>
              <a:rPr dirty="0" err="1"/>
              <a:t>đạo</a:t>
            </a:r>
            <a:r>
              <a:rPr dirty="0"/>
              <a:t> </a:t>
            </a:r>
            <a:r>
              <a:rPr dirty="0" err="1"/>
              <a:t>đức</a:t>
            </a:r>
            <a:r>
              <a:rPr dirty="0"/>
              <a:t> AI, </a:t>
            </a:r>
            <a:r>
              <a:rPr dirty="0" err="1"/>
              <a:t>phòng</a:t>
            </a:r>
            <a:r>
              <a:rPr dirty="0"/>
              <a:t> </a:t>
            </a:r>
            <a:r>
              <a:rPr dirty="0" err="1"/>
              <a:t>câu</a:t>
            </a:r>
            <a:r>
              <a:rPr dirty="0"/>
              <a:t> </a:t>
            </a:r>
            <a:r>
              <a:rPr dirty="0" err="1"/>
              <a:t>hỏi</a:t>
            </a:r>
            <a:r>
              <a:rPr dirty="0"/>
              <a:t> '</a:t>
            </a:r>
            <a:r>
              <a:rPr dirty="0" err="1"/>
              <a:t>có</a:t>
            </a:r>
            <a:r>
              <a:rPr dirty="0"/>
              <a:t> </a:t>
            </a:r>
            <a:r>
              <a:rPr dirty="0" err="1"/>
              <a:t>thay</a:t>
            </a:r>
            <a:r>
              <a:rPr dirty="0"/>
              <a:t> </a:t>
            </a:r>
            <a:r>
              <a:rPr dirty="0" err="1"/>
              <a:t>bác</a:t>
            </a:r>
            <a:r>
              <a:rPr dirty="0"/>
              <a:t> </a:t>
            </a:r>
            <a:r>
              <a:rPr dirty="0" err="1"/>
              <a:t>sĩ</a:t>
            </a:r>
            <a:r>
              <a:rPr dirty="0"/>
              <a:t> </a:t>
            </a:r>
            <a:r>
              <a:rPr dirty="0" err="1"/>
              <a:t>không</a:t>
            </a:r>
            <a:r>
              <a:rPr dirty="0"/>
              <a:t>'.</a:t>
            </a:r>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Đây</a:t>
            </a:r>
            <a:r>
              <a:rPr dirty="0"/>
              <a:t> </a:t>
            </a:r>
            <a:r>
              <a:rPr dirty="0" err="1"/>
              <a:t>là</a:t>
            </a:r>
            <a:r>
              <a:rPr dirty="0"/>
              <a:t> </a:t>
            </a:r>
            <a:r>
              <a:rPr dirty="0" err="1"/>
              <a:t>xương</a:t>
            </a:r>
            <a:r>
              <a:rPr dirty="0"/>
              <a:t> </a:t>
            </a:r>
            <a:r>
              <a:rPr dirty="0" err="1"/>
              <a:t>sống</a:t>
            </a:r>
            <a:r>
              <a:rPr dirty="0"/>
              <a:t> </a:t>
            </a:r>
            <a:r>
              <a:rPr dirty="0" err="1"/>
              <a:t>gắn</a:t>
            </a:r>
            <a:r>
              <a:rPr dirty="0"/>
              <a:t> </a:t>
            </a:r>
            <a:r>
              <a:rPr dirty="0" err="1"/>
              <a:t>lý</a:t>
            </a:r>
            <a:r>
              <a:rPr dirty="0"/>
              <a:t> </a:t>
            </a:r>
            <a:r>
              <a:rPr dirty="0" err="1"/>
              <a:t>thuyết</a:t>
            </a:r>
            <a:r>
              <a:rPr dirty="0"/>
              <a:t> Trustworthy AI </a:t>
            </a:r>
            <a:r>
              <a:rPr dirty="0" err="1"/>
              <a:t>với</a:t>
            </a:r>
            <a:r>
              <a:rPr dirty="0"/>
              <a:t> </a:t>
            </a:r>
            <a:r>
              <a:rPr dirty="0" err="1"/>
              <a:t>quyết</a:t>
            </a:r>
            <a:r>
              <a:rPr dirty="0"/>
              <a:t> </a:t>
            </a:r>
            <a:r>
              <a:rPr dirty="0" err="1"/>
              <a:t>định</a:t>
            </a:r>
            <a:r>
              <a:rPr dirty="0"/>
              <a:t> </a:t>
            </a:r>
            <a:r>
              <a:rPr dirty="0" err="1"/>
              <a:t>kỹ</a:t>
            </a:r>
            <a:r>
              <a:rPr dirty="0"/>
              <a:t> </a:t>
            </a:r>
            <a:r>
              <a:rPr dirty="0" err="1"/>
              <a:t>thuật</a:t>
            </a:r>
            <a:r>
              <a:rPr dirty="0"/>
              <a:t> </a:t>
            </a:r>
            <a:r>
              <a:rPr dirty="0" err="1"/>
              <a:t>thật</a:t>
            </a:r>
            <a:r>
              <a:rPr dirty="0"/>
              <a:t> </a:t>
            </a:r>
            <a:r>
              <a:rPr dirty="0" err="1"/>
              <a:t>trong</a:t>
            </a:r>
            <a:r>
              <a:rPr dirty="0"/>
              <a:t> module </a:t>
            </a:r>
            <a:r>
              <a:rPr dirty="0" err="1"/>
              <a:t>src</a:t>
            </a:r>
            <a:r>
              <a:rPr dirty="0"/>
              <a:t>/</a:t>
            </a:r>
            <a:r>
              <a:rPr dirty="0" err="1"/>
              <a:t>trustworthy_ai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Nêu</a:t>
            </a:r>
            <a:r>
              <a:rPr dirty="0"/>
              <a:t> </a:t>
            </a:r>
            <a:r>
              <a:rPr dirty="0" err="1"/>
              <a:t>rõ</a:t>
            </a:r>
            <a:r>
              <a:rPr dirty="0"/>
              <a:t> 4 </a:t>
            </a:r>
            <a:r>
              <a:rPr dirty="0" err="1"/>
              <a:t>tầng</a:t>
            </a:r>
            <a:r>
              <a:rPr dirty="0"/>
              <a:t>: Prediction → Decision → Recommendation → UI. </a:t>
            </a:r>
            <a:r>
              <a:rPr dirty="0" err="1"/>
              <a:t>src</a:t>
            </a:r>
            <a:r>
              <a:rPr dirty="0"/>
              <a:t>/application/</a:t>
            </a:r>
            <a:r>
              <a:rPr dirty="0" err="1"/>
              <a:t>healthcare_assistant.py</a:t>
            </a:r>
            <a:r>
              <a:rPr dirty="0"/>
              <a:t> </a:t>
            </a:r>
            <a:r>
              <a:rPr dirty="0" err="1"/>
              <a:t>là</a:t>
            </a:r>
            <a:r>
              <a:rPr dirty="0"/>
              <a:t> </a:t>
            </a:r>
            <a:r>
              <a:rPr dirty="0" err="1"/>
              <a:t>lớp</a:t>
            </a:r>
            <a:r>
              <a:rPr dirty="0"/>
              <a:t> </a:t>
            </a:r>
            <a:r>
              <a:rPr dirty="0" err="1"/>
              <a:t>điều</a:t>
            </a:r>
            <a:r>
              <a:rPr dirty="0"/>
              <a:t> </a:t>
            </a:r>
            <a:r>
              <a:rPr dirty="0" err="1"/>
              <a:t>phối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Khi demo '</a:t>
            </a:r>
            <a:r>
              <a:rPr dirty="0" err="1"/>
              <a:t>Hỏi</a:t>
            </a:r>
            <a:r>
              <a:rPr dirty="0"/>
              <a:t> AI', </a:t>
            </a:r>
            <a:r>
              <a:rPr dirty="0" err="1"/>
              <a:t>mô</a:t>
            </a:r>
            <a:r>
              <a:rPr dirty="0"/>
              <a:t> </a:t>
            </a:r>
            <a:r>
              <a:rPr dirty="0" err="1"/>
              <a:t>tả</a:t>
            </a:r>
            <a:r>
              <a:rPr dirty="0"/>
              <a:t> </a:t>
            </a:r>
            <a:r>
              <a:rPr dirty="0" err="1"/>
              <a:t>đúng</a:t>
            </a:r>
            <a:r>
              <a:rPr dirty="0"/>
              <a:t> </a:t>
            </a:r>
            <a:r>
              <a:rPr dirty="0" err="1"/>
              <a:t>là</a:t>
            </a:r>
            <a:r>
              <a:rPr dirty="0"/>
              <a:t> </a:t>
            </a:r>
            <a:r>
              <a:rPr dirty="0" err="1"/>
              <a:t>trợ</a:t>
            </a:r>
            <a:r>
              <a:rPr dirty="0"/>
              <a:t> </a:t>
            </a:r>
            <a:r>
              <a:rPr dirty="0" err="1"/>
              <a:t>lý</a:t>
            </a:r>
            <a:r>
              <a:rPr dirty="0"/>
              <a:t> </a:t>
            </a:r>
            <a:r>
              <a:rPr dirty="0" err="1"/>
              <a:t>dựa</a:t>
            </a:r>
            <a:r>
              <a:rPr dirty="0"/>
              <a:t> </a:t>
            </a:r>
            <a:r>
              <a:rPr dirty="0" err="1"/>
              <a:t>trên</a:t>
            </a:r>
            <a:r>
              <a:rPr dirty="0"/>
              <a:t> </a:t>
            </a:r>
            <a:r>
              <a:rPr dirty="0" err="1"/>
              <a:t>luật</a:t>
            </a:r>
            <a:r>
              <a:rPr dirty="0"/>
              <a:t> </a:t>
            </a:r>
            <a:r>
              <a:rPr dirty="0" err="1"/>
              <a:t>có</a:t>
            </a:r>
            <a:r>
              <a:rPr dirty="0"/>
              <a:t> </a:t>
            </a:r>
            <a:r>
              <a:rPr dirty="0" err="1"/>
              <a:t>ràng</a:t>
            </a:r>
            <a:r>
              <a:rPr dirty="0"/>
              <a:t> </a:t>
            </a:r>
            <a:r>
              <a:rPr dirty="0" err="1"/>
              <a:t>buộc</a:t>
            </a:r>
            <a:r>
              <a:rPr dirty="0"/>
              <a:t> an </a:t>
            </a:r>
            <a:r>
              <a:rPr dirty="0" err="1"/>
              <a:t>toàn</a:t>
            </a:r>
            <a:r>
              <a:rPr dirty="0"/>
              <a:t> — KHÔNG </a:t>
            </a:r>
            <a:r>
              <a:rPr dirty="0" err="1"/>
              <a:t>gọi</a:t>
            </a:r>
            <a:r>
              <a:rPr dirty="0"/>
              <a:t> </a:t>
            </a:r>
            <a:r>
              <a:rPr dirty="0" err="1"/>
              <a:t>là</a:t>
            </a:r>
            <a:r>
              <a:rPr dirty="0"/>
              <a:t> LLM. RAG+LLM </a:t>
            </a:r>
            <a:r>
              <a:rPr dirty="0" err="1"/>
              <a:t>là</a:t>
            </a:r>
            <a:r>
              <a:rPr dirty="0"/>
              <a:t> </a:t>
            </a:r>
            <a:r>
              <a:rPr dirty="0" err="1"/>
              <a:t>hướng</a:t>
            </a:r>
            <a:r>
              <a:rPr dirty="0"/>
              <a:t> </a:t>
            </a:r>
            <a:r>
              <a:rPr dirty="0" err="1"/>
              <a:t>phát</a:t>
            </a:r>
            <a:r>
              <a:rPr dirty="0"/>
              <a:t> </a:t>
            </a:r>
            <a:r>
              <a:rPr dirty="0" err="1"/>
              <a:t>triển</a:t>
            </a:r>
            <a:r>
              <a:rPr dirty="0"/>
              <a:t> (Slide 7). </a:t>
            </a:r>
            <a:r>
              <a:rPr dirty="0" err="1"/>
              <a:t>Đã</a:t>
            </a:r>
            <a:r>
              <a:rPr dirty="0"/>
              <a:t> </a:t>
            </a:r>
            <a:r>
              <a:rPr dirty="0" err="1"/>
              <a:t>chốt</a:t>
            </a:r>
            <a:r>
              <a:rPr dirty="0"/>
              <a:t>: </a:t>
            </a:r>
            <a:r>
              <a:rPr dirty="0" err="1"/>
              <a:t>ẩn</a:t>
            </a:r>
            <a:r>
              <a:rPr dirty="0"/>
              <a:t> </a:t>
            </a:r>
            <a:r>
              <a:rPr dirty="0" err="1"/>
              <a:t>phần</a:t>
            </a:r>
            <a:r>
              <a:rPr dirty="0"/>
              <a:t> '</a:t>
            </a:r>
            <a:r>
              <a:rPr dirty="0" err="1"/>
              <a:t>Hỏi</a:t>
            </a:r>
            <a:r>
              <a:rPr dirty="0"/>
              <a:t> </a:t>
            </a:r>
            <a:r>
              <a:rPr dirty="0" err="1"/>
              <a:t>đáp</a:t>
            </a:r>
            <a:r>
              <a:rPr dirty="0"/>
              <a:t> Quốc </a:t>
            </a:r>
            <a:r>
              <a:rPr dirty="0" err="1"/>
              <a:t>phòng</a:t>
            </a:r>
            <a:r>
              <a:rPr dirty="0"/>
              <a:t>' </a:t>
            </a:r>
            <a:r>
              <a:rPr dirty="0" err="1"/>
              <a:t>trước</a:t>
            </a:r>
            <a:r>
              <a:rPr dirty="0"/>
              <a:t> </a:t>
            </a:r>
            <a:r>
              <a:rPr dirty="0" err="1"/>
              <a:t>khi</a:t>
            </a:r>
            <a:r>
              <a:rPr dirty="0"/>
              <a:t> demo; GIỮ dashboard Trustworthy AI.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Đóng</a:t>
            </a:r>
            <a:r>
              <a:rPr dirty="0"/>
              <a:t> </a:t>
            </a:r>
            <a:r>
              <a:rPr dirty="0" err="1"/>
              <a:t>khung</a:t>
            </a:r>
            <a:r>
              <a:rPr dirty="0"/>
              <a:t> '</a:t>
            </a:r>
            <a:r>
              <a:rPr dirty="0" err="1"/>
              <a:t>cái</a:t>
            </a:r>
            <a:r>
              <a:rPr dirty="0"/>
              <a:t> </a:t>
            </a:r>
            <a:r>
              <a:rPr dirty="0" err="1"/>
              <a:t>đã</a:t>
            </a:r>
            <a:r>
              <a:rPr dirty="0"/>
              <a:t> </a:t>
            </a:r>
            <a:r>
              <a:rPr dirty="0" err="1"/>
              <a:t>có</a:t>
            </a:r>
            <a:r>
              <a:rPr dirty="0"/>
              <a:t>' vs '</a:t>
            </a:r>
            <a:r>
              <a:rPr dirty="0" err="1"/>
              <a:t>cái</a:t>
            </a:r>
            <a:r>
              <a:rPr dirty="0"/>
              <a:t> </a:t>
            </a:r>
            <a:r>
              <a:rPr dirty="0" err="1"/>
              <a:t>sẽ</a:t>
            </a:r>
            <a:r>
              <a:rPr dirty="0"/>
              <a:t> </a:t>
            </a:r>
            <a:r>
              <a:rPr dirty="0" err="1"/>
              <a:t>làm</a:t>
            </a:r>
            <a:r>
              <a:rPr dirty="0"/>
              <a:t>' </a:t>
            </a:r>
            <a:r>
              <a:rPr dirty="0" err="1"/>
              <a:t>một</a:t>
            </a:r>
            <a:r>
              <a:rPr dirty="0"/>
              <a:t> </a:t>
            </a:r>
            <a:r>
              <a:rPr dirty="0" err="1"/>
              <a:t>cách</a:t>
            </a:r>
            <a:r>
              <a:rPr dirty="0"/>
              <a:t> </a:t>
            </a:r>
            <a:r>
              <a:rPr dirty="0" err="1"/>
              <a:t>trung</a:t>
            </a:r>
            <a:r>
              <a:rPr dirty="0"/>
              <a:t> </a:t>
            </a:r>
            <a:r>
              <a:rPr dirty="0" err="1"/>
              <a:t>thực</a:t>
            </a:r>
            <a:r>
              <a:rPr dirty="0"/>
              <a:t> — </a:t>
            </a:r>
            <a:r>
              <a:rPr dirty="0" err="1"/>
              <a:t>điểm</a:t>
            </a:r>
            <a:r>
              <a:rPr dirty="0"/>
              <a:t> </a:t>
            </a:r>
            <a:r>
              <a:rPr dirty="0" err="1"/>
              <a:t>cộng</a:t>
            </a:r>
            <a:r>
              <a:rPr dirty="0"/>
              <a:t> </a:t>
            </a:r>
            <a:r>
              <a:rPr dirty="0" err="1"/>
              <a:t>về</a:t>
            </a:r>
            <a:r>
              <a:rPr dirty="0"/>
              <a:t> </a:t>
            </a:r>
            <a:r>
              <a:rPr dirty="0" err="1"/>
              <a:t>tư</a:t>
            </a:r>
            <a:r>
              <a:rPr dirty="0"/>
              <a:t> </a:t>
            </a:r>
            <a:r>
              <a:rPr dirty="0" err="1"/>
              <a:t>duy</a:t>
            </a:r>
            <a:r>
              <a:rPr dirty="0"/>
              <a:t> </a:t>
            </a:r>
            <a:r>
              <a:rPr dirty="0" err="1"/>
              <a:t>phản</a:t>
            </a:r>
            <a:r>
              <a:rPr dirty="0"/>
              <a:t> </a:t>
            </a:r>
            <a:r>
              <a:rPr dirty="0" err="1"/>
              <a:t>biện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kaggle.com/datasets/jamaltariqcheema/pima-indians-diabetes-datase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hyperlink" Target="https://www.kaggle.com/datasets/khan1803115/hypertension-risk-model-main" TargetMode="External"/><Relationship Id="rId4" Type="http://schemas.openxmlformats.org/officeDocument/2006/relationships/hyperlink" Target="https://www.kaggle.com/datasets/sulianova/cardiovascular-disease-dataset"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2215991"/>
          </a:xfrm>
          <a:prstGeom prst="rect">
            <a:avLst/>
          </a:prstGeom>
          <a:noFill/>
        </p:spPr>
        <p:txBody>
          <a:bodyPr wrap="square">
            <a:spAutoFit/>
          </a:bodyPr>
          <a:lstStyle/>
          <a:p>
            <a:r>
              <a:rPr lang="vi-VN" sz="4000" b="1" dirty="0">
                <a:solidFill>
                  <a:srgbClr val="CFE3EC"/>
                </a:solidFill>
                <a:latin typeface="Arial"/>
              </a:rPr>
              <a:t>Trợ lý AI hỗ trợ chẩn đoán ban đầu</a:t>
            </a:r>
          </a:p>
          <a:p>
            <a:r>
              <a:rPr lang="vi-VN" sz="4000" b="1" dirty="0">
                <a:solidFill>
                  <a:srgbClr val="CFE3EC"/>
                </a:solidFill>
                <a:latin typeface="Arial"/>
              </a:rPr>
              <a:t>và theo dõi bệnh mãn tính</a:t>
            </a:r>
          </a:p>
          <a:p>
            <a:r>
              <a:rPr lang="vi-VN" sz="4000" b="1" dirty="0">
                <a:solidFill>
                  <a:srgbClr val="CFE3EC"/>
                </a:solidFill>
                <a:latin typeface="Arial"/>
              </a:rPr>
              <a:t>cho người cao tuổi ở nông thôn</a:t>
            </a:r>
          </a:p>
          <a:p>
            <a:endParaRPr lang="en-VN" dirty="0">
              <a:solidFill>
                <a:srgbClr val="CFE3EC"/>
              </a:solidFill>
              <a:latin typeface="Arial"/>
            </a:endParaRPr>
          </a:p>
        </p:txBody>
      </p:sp>
      <p:sp>
        <p:nvSpPr>
          <p:cNvPr id="5" name="TextBox 4"/>
          <p:cNvSpPr txBox="1"/>
          <p:nvPr/>
        </p:nvSpPr>
        <p:spPr>
          <a:xfrm>
            <a:off x="822959" y="4702126"/>
            <a:ext cx="10545775" cy="1554272"/>
          </a:xfrm>
          <a:prstGeom prst="rect">
            <a:avLst/>
          </a:prstGeom>
          <a:noFill/>
        </p:spPr>
        <p:txBody>
          <a:bodyPr wrap="square">
            <a:spAutoFit/>
          </a:bodyPr>
          <a:lstStyle/>
          <a:p>
            <a:r>
              <a:rPr lang="vi-VN" sz="1400" b="1" dirty="0">
                <a:solidFill>
                  <a:schemeClr val="accent1">
                    <a:lumMod val="20000"/>
                    <a:lumOff val="80000"/>
                  </a:schemeClr>
                </a:solidFill>
                <a:latin typeface="Arial"/>
              </a:rPr>
              <a:t>Môn học: </a:t>
            </a:r>
            <a:r>
              <a:rPr sz="1400" b="1" dirty="0" err="1">
                <a:solidFill>
                  <a:schemeClr val="accent1">
                    <a:lumMod val="20000"/>
                    <a:lumOff val="80000"/>
                  </a:schemeClr>
                </a:solidFill>
                <a:latin typeface="Arial"/>
              </a:rPr>
              <a:t>Tư</a:t>
            </a:r>
            <a:r>
              <a:rPr sz="1400" b="1" dirty="0">
                <a:solidFill>
                  <a:schemeClr val="accent1">
                    <a:lumMod val="20000"/>
                    <a:lumOff val="80000"/>
                  </a:schemeClr>
                </a:solidFill>
                <a:latin typeface="Arial"/>
              </a:rPr>
              <a:t> </a:t>
            </a:r>
            <a:r>
              <a:rPr sz="1400" b="1" dirty="0" err="1">
                <a:solidFill>
                  <a:schemeClr val="accent1">
                    <a:lumMod val="20000"/>
                    <a:lumOff val="80000"/>
                  </a:schemeClr>
                </a:solidFill>
                <a:latin typeface="Arial"/>
              </a:rPr>
              <a:t>duy</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t</a:t>
            </a:r>
            <a:r>
              <a:rPr sz="1400" b="1" dirty="0">
                <a:solidFill>
                  <a:schemeClr val="accent1">
                    <a:lumMod val="20000"/>
                    <a:lumOff val="80000"/>
                  </a:schemeClr>
                </a:solidFill>
                <a:latin typeface="Arial"/>
              </a:rPr>
              <a:t>rí </a:t>
            </a:r>
            <a:r>
              <a:rPr sz="1400" b="1" dirty="0" err="1">
                <a:solidFill>
                  <a:schemeClr val="accent1">
                    <a:lumMod val="20000"/>
                    <a:lumOff val="80000"/>
                  </a:schemeClr>
                </a:solidFill>
                <a:latin typeface="Arial"/>
              </a:rPr>
              <a:t>tuệ</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n</a:t>
            </a:r>
            <a:r>
              <a:rPr sz="1400" b="1" dirty="0" err="1">
                <a:solidFill>
                  <a:schemeClr val="accent1">
                    <a:lumMod val="20000"/>
                    <a:lumOff val="80000"/>
                  </a:schemeClr>
                </a:solidFill>
                <a:latin typeface="Arial"/>
              </a:rPr>
              <a:t>hân</a:t>
            </a:r>
            <a:r>
              <a:rPr sz="1400" b="1" dirty="0">
                <a:solidFill>
                  <a:schemeClr val="accent1">
                    <a:lumMod val="20000"/>
                    <a:lumOff val="80000"/>
                  </a:schemeClr>
                </a:solidFill>
                <a:latin typeface="Arial"/>
              </a:rPr>
              <a:t> </a:t>
            </a:r>
            <a:r>
              <a:rPr sz="1400" b="1" dirty="0" err="1">
                <a:solidFill>
                  <a:schemeClr val="accent1">
                    <a:lumMod val="20000"/>
                    <a:lumOff val="80000"/>
                  </a:schemeClr>
                </a:solidFill>
                <a:latin typeface="Arial"/>
              </a:rPr>
              <a:t>tạo</a:t>
            </a:r>
            <a:r>
              <a:rPr sz="1400" b="1" dirty="0">
                <a:solidFill>
                  <a:schemeClr val="accent1">
                    <a:lumMod val="20000"/>
                    <a:lumOff val="80000"/>
                  </a:schemeClr>
                </a:solidFill>
                <a:latin typeface="Arial"/>
              </a:rPr>
              <a:t> (AI002)</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TS. Phan </a:t>
            </a:r>
            <a:r>
              <a:rPr sz="1400" b="1" dirty="0" err="1">
                <a:solidFill>
                  <a:schemeClr val="accent1">
                    <a:lumMod val="20000"/>
                    <a:lumOff val="80000"/>
                  </a:schemeClr>
                </a:solidFill>
                <a:latin typeface="Arial"/>
              </a:rPr>
              <a:t>Thế</a:t>
            </a:r>
            <a:r>
              <a:rPr sz="1400" b="1" dirty="0">
                <a:solidFill>
                  <a:schemeClr val="accent1">
                    <a:lumMod val="20000"/>
                    <a:lumOff val="80000"/>
                  </a:schemeClr>
                </a:solidFill>
                <a:latin typeface="Arial"/>
              </a:rPr>
              <a:t> Duy</a:t>
            </a: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G02:</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sz="1300" b="0" dirty="0">
                <a:solidFill>
                  <a:schemeClr val="accent1">
                    <a:lumMod val="20000"/>
                    <a:lumOff val="80000"/>
                  </a:schemeClr>
                </a:solidFill>
                <a:latin typeface="Arial"/>
              </a:rPr>
              <a:t> — 26410297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3072" y="1713145"/>
            <a:ext cx="11185855" cy="3431709"/>
          </a:xfrm>
          <a:prstGeom prst="rect">
            <a:avLst/>
          </a:prstGeom>
          <a:noFill/>
        </p:spPr>
        <p:txBody>
          <a:bodyPr wrap="square">
            <a:spAutoFit/>
          </a:bodyPr>
          <a:lstStyle/>
          <a:p>
            <a:pPr>
              <a:spcAft>
                <a:spcPts val="600"/>
              </a:spcAft>
            </a:pPr>
            <a:r>
              <a:rPr lang="vi-VN" sz="3200" b="1" dirty="0">
                <a:solidFill>
                  <a:srgbClr val="1B8A7A"/>
                </a:solidFill>
                <a:latin typeface="Arial"/>
              </a:rPr>
              <a:t>1 – Phạm vi đồ án</a:t>
            </a:r>
          </a:p>
          <a:p>
            <a:pPr>
              <a:spcAft>
                <a:spcPts val="600"/>
              </a:spcAft>
            </a:pPr>
            <a:r>
              <a:rPr lang="vi-VN" sz="3200" b="1" dirty="0">
                <a:solidFill>
                  <a:srgbClr val="1B8A7A"/>
                </a:solidFill>
                <a:latin typeface="Arial"/>
              </a:rPr>
              <a:t>2 – Phân tích rủi ro theo 5 trục</a:t>
            </a:r>
          </a:p>
          <a:p>
            <a:pPr>
              <a:spcAft>
                <a:spcPts val="600"/>
              </a:spcAft>
            </a:pPr>
            <a:r>
              <a:rPr lang="vi-VN" sz="3200" b="1" dirty="0">
                <a:solidFill>
                  <a:srgbClr val="1B8A7A"/>
                </a:solidFill>
                <a:latin typeface="Arial"/>
              </a:rPr>
              <a:t>3 – Giải pháp hệ thống</a:t>
            </a:r>
          </a:p>
          <a:p>
            <a:pPr>
              <a:spcAft>
                <a:spcPts val="600"/>
              </a:spcAft>
            </a:pPr>
            <a:r>
              <a:rPr lang="vi-VN" sz="3200" b="1" dirty="0">
                <a:solidFill>
                  <a:srgbClr val="1B8A7A"/>
                </a:solidFill>
                <a:latin typeface="Arial"/>
              </a:rPr>
              <a:t>4 – Dữ liệu</a:t>
            </a:r>
          </a:p>
          <a:p>
            <a:pPr>
              <a:spcAft>
                <a:spcPts val="600"/>
              </a:spcAft>
            </a:pPr>
            <a:r>
              <a:rPr lang="vi-VN" sz="3200" b="1" dirty="0">
                <a:solidFill>
                  <a:srgbClr val="1B8A7A"/>
                </a:solidFill>
                <a:latin typeface="Arial"/>
              </a:rPr>
              <a:t>5 – Demo</a:t>
            </a:r>
          </a:p>
          <a:p>
            <a:pPr>
              <a:spcAft>
                <a:spcPts val="600"/>
              </a:spcAft>
            </a:pPr>
            <a:r>
              <a:rPr lang="vi-VN" sz="3200" b="1" dirty="0">
                <a:solidFill>
                  <a:srgbClr val="1B8A7A"/>
                </a:solidFill>
                <a:latin typeface="Arial"/>
              </a:rPr>
              <a:t>6 – Hạn chế và hướng cải thiện </a:t>
            </a:r>
            <a:endParaRPr sz="28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a:solidFill>
                  <a:srgbClr val="FFFFFF"/>
                </a:solidFill>
                <a:latin typeface="Arial"/>
              </a:rPr>
              <a:t>Phạm vi </a:t>
            </a:r>
            <a:r>
              <a:rPr lang="en-US" sz="2600" b="1" dirty="0" err="1">
                <a:solidFill>
                  <a:srgbClr val="FFFFFF"/>
                </a:solidFill>
                <a:latin typeface="Arial"/>
              </a:rPr>
              <a:t>đồ</a:t>
            </a:r>
            <a:r>
              <a:rPr lang="en-US" sz="2600" b="1" dirty="0">
                <a:solidFill>
                  <a:srgbClr val="FFFFFF"/>
                </a:solidFill>
                <a:latin typeface="Arial"/>
              </a:rPr>
              <a:t> </a:t>
            </a:r>
            <a:r>
              <a:rPr lang="en-US" sz="2600" b="1" dirty="0" err="1">
                <a:solidFill>
                  <a:srgbClr val="FFFFFF"/>
                </a:solidFill>
                <a:latin typeface="Arial"/>
              </a:rPr>
              <a:t>án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Thuận</a:t>
            </a:r>
            <a:endParaRPr lang="en-US" sz="1300" i="1" dirty="0">
              <a:solidFill>
                <a:srgbClr val="CFE3EC"/>
              </a:solidFill>
              <a:latin typeface="Arial"/>
            </a:endParaRPr>
          </a:p>
        </p:txBody>
      </p:sp>
      <p:sp>
        <p:nvSpPr>
          <p:cNvPr id="3" name="TextBox 2">
            <a:extLst>
              <a:ext uri="{FF2B5EF4-FFF2-40B4-BE49-F238E27FC236}">
                <a16:creationId xmlns:a16="http://schemas.microsoft.com/office/drawing/2014/main" id="{3870ED03-DFCB-5AF3-DCB1-9F857B814DF3}"/>
              </a:ext>
            </a:extLst>
          </p:cNvPr>
          <p:cNvSpPr txBox="1"/>
          <p:nvPr/>
        </p:nvSpPr>
        <p:spPr>
          <a:xfrm>
            <a:off x="502920" y="1325880"/>
            <a:ext cx="11185855" cy="4693593"/>
          </a:xfrm>
          <a:prstGeom prst="rect">
            <a:avLst/>
          </a:prstGeom>
          <a:noFill/>
        </p:spPr>
        <p:txBody>
          <a:bodyPr wrap="square">
            <a:spAutoFit/>
          </a:bodyPr>
          <a:lstStyle/>
          <a:p>
            <a:pPr>
              <a:spcAft>
                <a:spcPts val="600"/>
              </a:spcAft>
            </a:pPr>
            <a:r>
              <a:rPr lang="en-US" sz="1500" b="1" dirty="0">
                <a:solidFill>
                  <a:srgbClr val="1B8A7A"/>
                </a:solidFill>
                <a:latin typeface="Arial"/>
              </a:rPr>
              <a:t>•  </a:t>
            </a:r>
            <a:r>
              <a:rPr lang="en-US" sz="1500" b="1" dirty="0" err="1">
                <a:solidFill>
                  <a:srgbClr val="1B8A7A"/>
                </a:solidFill>
                <a:latin typeface="Arial"/>
              </a:rPr>
              <a:t>Vấn</a:t>
            </a:r>
            <a:r>
              <a:rPr lang="en-US" sz="1500" b="1" dirty="0">
                <a:solidFill>
                  <a:srgbClr val="1B8A7A"/>
                </a:solidFill>
                <a:latin typeface="Arial"/>
              </a:rPr>
              <a:t> </a:t>
            </a:r>
            <a:r>
              <a:rPr lang="en-US" sz="1500" b="1" dirty="0" err="1">
                <a:solidFill>
                  <a:srgbClr val="1B8A7A"/>
                </a:solidFill>
                <a:latin typeface="Arial"/>
              </a:rPr>
              <a:t>đề</a:t>
            </a:r>
            <a:r>
              <a:rPr lang="en-US" sz="1500" b="1" dirty="0">
                <a:solidFill>
                  <a:srgbClr val="1B8A7A"/>
                </a:solidFill>
                <a:latin typeface="Arial"/>
              </a:rPr>
              <a:t>:</a:t>
            </a:r>
          </a:p>
          <a:p>
            <a:pPr>
              <a:spcAft>
                <a:spcPts val="600"/>
              </a:spcAft>
            </a:pPr>
            <a:r>
              <a:rPr lang="vi-VN" sz="1600" dirty="0">
                <a:solidFill>
                  <a:srgbClr val="444B52"/>
                </a:solidFill>
                <a:latin typeface="Arial"/>
              </a:rPr>
              <a:t>	–  Ở nông thôn, bệnh viện lớn chưa nhiều</a:t>
            </a:r>
          </a:p>
          <a:p>
            <a:pPr>
              <a:spcAft>
                <a:spcPts val="600"/>
              </a:spcAft>
            </a:pPr>
            <a:r>
              <a:rPr lang="vi-VN" sz="1600" dirty="0">
                <a:solidFill>
                  <a:srgbClr val="444B52"/>
                </a:solidFill>
                <a:latin typeface="Arial"/>
              </a:rPr>
              <a:t>	–  Bác sĩ chuyên khoa chưa nhiều</a:t>
            </a:r>
          </a:p>
          <a:p>
            <a:pPr>
              <a:spcAft>
                <a:spcPts val="600"/>
              </a:spcAft>
            </a:pPr>
            <a:r>
              <a:rPr lang="vi-VN" sz="1600" dirty="0">
                <a:solidFill>
                  <a:srgbClr val="444B52"/>
                </a:solidFill>
                <a:latin typeface="Arial"/>
              </a:rPr>
              <a:t>	–  Điều kiện công nghệ như mạng và máy tính chưa cao</a:t>
            </a:r>
          </a:p>
          <a:p>
            <a:pPr>
              <a:spcAft>
                <a:spcPts val="600"/>
              </a:spcAft>
            </a:pPr>
            <a:r>
              <a:rPr lang="vi-VN" sz="1600" dirty="0">
                <a:solidFill>
                  <a:srgbClr val="444B52"/>
                </a:solidFill>
                <a:latin typeface="Arial"/>
              </a:rPr>
              <a:t>	–  Người cao tuổi khó thao tác sử dụng điện thoại	</a:t>
            </a:r>
            <a:endParaRPr lang="en-VN" sz="1600" b="1" dirty="0">
              <a:solidFill>
                <a:srgbClr val="1B8A7A"/>
              </a:solidFill>
              <a:latin typeface="Arial"/>
            </a:endParaRPr>
          </a:p>
          <a:p>
            <a:pPr>
              <a:spcAft>
                <a:spcPts val="600"/>
              </a:spcAft>
            </a:pPr>
            <a:r>
              <a:rPr sz="1500" b="1" dirty="0">
                <a:solidFill>
                  <a:srgbClr val="1B8A7A"/>
                </a:solidFill>
                <a:latin typeface="Arial"/>
              </a:rPr>
              <a:t>•  </a:t>
            </a:r>
            <a:r>
              <a:rPr lang="vi-VN" sz="1500" b="1" dirty="0">
                <a:solidFill>
                  <a:srgbClr val="1B8A7A"/>
                </a:solidFill>
                <a:latin typeface="Arial"/>
              </a:rPr>
              <a:t>Tính năng giải quyết vấn đề</a:t>
            </a:r>
            <a:r>
              <a:rPr sz="1500" b="1" dirty="0">
                <a:solidFill>
                  <a:srgbClr val="1B8A7A"/>
                </a:solidFill>
                <a:latin typeface="Arial"/>
              </a:rPr>
              <a:t>:</a:t>
            </a:r>
          </a:p>
          <a:p>
            <a:pPr lvl="1">
              <a:spcAft>
                <a:spcPts val="600"/>
              </a:spcAft>
            </a:pPr>
            <a:r>
              <a:rPr sz="1500" dirty="0">
                <a:solidFill>
                  <a:srgbClr val="444B52"/>
                </a:solidFill>
                <a:latin typeface="Arial"/>
              </a:rPr>
              <a:t>– </a:t>
            </a:r>
            <a:r>
              <a:rPr lang="vi-VN" sz="1500" dirty="0">
                <a:solidFill>
                  <a:srgbClr val="444B52"/>
                </a:solidFill>
                <a:latin typeface="Arial"/>
              </a:rPr>
              <a:t> </a:t>
            </a:r>
            <a:r>
              <a:rPr lang="en-US" sz="1500" dirty="0">
                <a:solidFill>
                  <a:srgbClr val="444B52"/>
                </a:solidFill>
                <a:latin typeface="Arial"/>
              </a:rPr>
              <a:t>Sàng </a:t>
            </a:r>
            <a:r>
              <a:rPr lang="en-US" sz="1500" dirty="0" err="1">
                <a:solidFill>
                  <a:srgbClr val="444B52"/>
                </a:solidFill>
                <a:latin typeface="Arial"/>
              </a:rPr>
              <a:t>lọc</a:t>
            </a:r>
            <a:r>
              <a:rPr lang="en-US" sz="1500" dirty="0">
                <a:solidFill>
                  <a:srgbClr val="444B52"/>
                </a:solidFill>
                <a:latin typeface="Arial"/>
              </a:rPr>
              <a:t>, </a:t>
            </a:r>
            <a:r>
              <a:rPr lang="en-US" sz="1500" dirty="0" err="1">
                <a:solidFill>
                  <a:srgbClr val="444B52"/>
                </a:solidFill>
                <a:latin typeface="Arial"/>
              </a:rPr>
              <a:t>đánh</a:t>
            </a:r>
            <a:r>
              <a:rPr lang="en-US" sz="1500" dirty="0">
                <a:solidFill>
                  <a:srgbClr val="444B52"/>
                </a:solidFill>
                <a:latin typeface="Arial"/>
              </a:rPr>
              <a:t> </a:t>
            </a:r>
            <a:r>
              <a:rPr lang="en-US" sz="1500" dirty="0" err="1">
                <a:solidFill>
                  <a:srgbClr val="444B52"/>
                </a:solidFill>
                <a:latin typeface="Arial"/>
              </a:rPr>
              <a:t>giá</a:t>
            </a:r>
            <a:r>
              <a:rPr lang="en-US" sz="1500" dirty="0">
                <a:solidFill>
                  <a:srgbClr val="444B52"/>
                </a:solidFill>
                <a:latin typeface="Arial"/>
              </a:rPr>
              <a:t> </a:t>
            </a:r>
            <a:r>
              <a:rPr sz="1500" dirty="0">
                <a:solidFill>
                  <a:srgbClr val="444B52"/>
                </a:solidFill>
                <a:latin typeface="Arial"/>
              </a:rPr>
              <a:t>RỦI RO 3 </a:t>
            </a:r>
            <a:r>
              <a:rPr sz="1500" dirty="0" err="1">
                <a:solidFill>
                  <a:srgbClr val="444B52"/>
                </a:solidFill>
                <a:latin typeface="Arial"/>
              </a:rPr>
              <a:t>bệnh</a:t>
            </a:r>
            <a:r>
              <a:rPr sz="1500" dirty="0">
                <a:solidFill>
                  <a:srgbClr val="444B52"/>
                </a:solidFill>
                <a:latin typeface="Arial"/>
              </a:rPr>
              <a:t> </a:t>
            </a:r>
            <a:r>
              <a:rPr sz="1500" dirty="0" err="1">
                <a:solidFill>
                  <a:srgbClr val="444B52"/>
                </a:solidFill>
                <a:latin typeface="Arial"/>
              </a:rPr>
              <a:t>mãn</a:t>
            </a:r>
            <a:r>
              <a:rPr sz="1500" dirty="0">
                <a:solidFill>
                  <a:srgbClr val="444B52"/>
                </a:solidFill>
                <a:latin typeface="Arial"/>
              </a:rPr>
              <a:t> </a:t>
            </a:r>
            <a:r>
              <a:rPr sz="1500" dirty="0" err="1">
                <a:solidFill>
                  <a:srgbClr val="444B52"/>
                </a:solidFill>
                <a:latin typeface="Arial"/>
              </a:rPr>
              <a:t>tính</a:t>
            </a:r>
            <a:r>
              <a:rPr sz="1500" dirty="0">
                <a:solidFill>
                  <a:srgbClr val="444B52"/>
                </a:solidFill>
                <a:latin typeface="Arial"/>
              </a:rPr>
              <a:t>: Tim </a:t>
            </a:r>
            <a:r>
              <a:rPr sz="1500" dirty="0" err="1">
                <a:solidFill>
                  <a:srgbClr val="444B52"/>
                </a:solidFill>
                <a:latin typeface="Arial"/>
              </a:rPr>
              <a:t>mạch</a:t>
            </a:r>
            <a:r>
              <a:rPr sz="1500" dirty="0">
                <a:solidFill>
                  <a:srgbClr val="444B52"/>
                </a:solidFill>
                <a:latin typeface="Arial"/>
              </a:rPr>
              <a:t>, </a:t>
            </a:r>
            <a:r>
              <a:rPr sz="1500" dirty="0" err="1">
                <a:solidFill>
                  <a:srgbClr val="444B52"/>
                </a:solidFill>
                <a:latin typeface="Arial"/>
              </a:rPr>
              <a:t>Tiểu</a:t>
            </a:r>
            <a:r>
              <a:rPr sz="1500" dirty="0">
                <a:solidFill>
                  <a:srgbClr val="444B52"/>
                </a:solidFill>
                <a:latin typeface="Arial"/>
              </a:rPr>
              <a:t> </a:t>
            </a:r>
            <a:r>
              <a:rPr sz="1500" dirty="0" err="1">
                <a:solidFill>
                  <a:srgbClr val="444B52"/>
                </a:solidFill>
                <a:latin typeface="Arial"/>
              </a:rPr>
              <a:t>đường</a:t>
            </a:r>
            <a:r>
              <a:rPr sz="1500" dirty="0">
                <a:solidFill>
                  <a:srgbClr val="444B52"/>
                </a:solidFill>
                <a:latin typeface="Arial"/>
              </a:rPr>
              <a:t>, </a:t>
            </a:r>
            <a:r>
              <a:rPr sz="1500" dirty="0" err="1">
                <a:solidFill>
                  <a:srgbClr val="444B52"/>
                </a:solidFill>
                <a:latin typeface="Arial"/>
              </a:rPr>
              <a:t>Tăng</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a:t>
            </a:r>
            <a:r>
              <a:rPr sz="1500" dirty="0" err="1">
                <a:solidFill>
                  <a:srgbClr val="444B52"/>
                </a:solidFill>
                <a:latin typeface="Arial"/>
              </a:rPr>
              <a:t>áp</a:t>
            </a:r>
            <a:endParaRPr sz="1500" dirty="0">
              <a:solidFill>
                <a:srgbClr val="444B52"/>
              </a:solidFill>
              <a:latin typeface="Arial"/>
            </a:endParaRPr>
          </a:p>
          <a:p>
            <a:pPr lvl="1">
              <a:spcAft>
                <a:spcPts val="600"/>
              </a:spcAft>
            </a:pPr>
            <a:r>
              <a:rPr sz="1500" dirty="0">
                <a:solidFill>
                  <a:srgbClr val="444B52"/>
                </a:solidFill>
                <a:latin typeface="Arial"/>
              </a:rPr>
              <a:t>–  </a:t>
            </a:r>
            <a:r>
              <a:rPr sz="1500" dirty="0" err="1">
                <a:solidFill>
                  <a:srgbClr val="444B52"/>
                </a:solidFill>
                <a:latin typeface="Arial"/>
              </a:rPr>
              <a:t>Đầu</a:t>
            </a:r>
            <a:r>
              <a:rPr sz="1500" dirty="0">
                <a:solidFill>
                  <a:srgbClr val="444B52"/>
                </a:solidFill>
                <a:latin typeface="Arial"/>
              </a:rPr>
              <a:t> </a:t>
            </a:r>
            <a:r>
              <a:rPr sz="1500" dirty="0" err="1">
                <a:solidFill>
                  <a:srgbClr val="444B52"/>
                </a:solidFill>
                <a:latin typeface="Arial"/>
              </a:rPr>
              <a:t>vào</a:t>
            </a:r>
            <a:r>
              <a:rPr sz="1500" dirty="0">
                <a:solidFill>
                  <a:srgbClr val="444B52"/>
                </a:solidFill>
                <a:latin typeface="Arial"/>
              </a:rPr>
              <a:t>: </a:t>
            </a:r>
            <a:r>
              <a:rPr sz="1500" dirty="0" err="1">
                <a:solidFill>
                  <a:srgbClr val="444B52"/>
                </a:solidFill>
                <a:latin typeface="Arial"/>
              </a:rPr>
              <a:t>chỉ</a:t>
            </a:r>
            <a:r>
              <a:rPr sz="1500" dirty="0">
                <a:solidFill>
                  <a:srgbClr val="444B52"/>
                </a:solidFill>
                <a:latin typeface="Arial"/>
              </a:rPr>
              <a:t> </a:t>
            </a:r>
            <a:r>
              <a:rPr sz="1500" dirty="0" err="1">
                <a:solidFill>
                  <a:srgbClr val="444B52"/>
                </a:solidFill>
                <a:latin typeface="Arial"/>
              </a:rPr>
              <a:t>số</a:t>
            </a:r>
            <a:r>
              <a:rPr sz="1500" dirty="0">
                <a:solidFill>
                  <a:srgbClr val="444B52"/>
                </a:solidFill>
                <a:latin typeface="Arial"/>
              </a:rPr>
              <a:t> </a:t>
            </a:r>
            <a:r>
              <a:rPr sz="1500" dirty="0" err="1">
                <a:solidFill>
                  <a:srgbClr val="444B52"/>
                </a:solidFill>
                <a:latin typeface="Arial"/>
              </a:rPr>
              <a:t>sức</a:t>
            </a:r>
            <a:r>
              <a:rPr sz="1500" dirty="0">
                <a:solidFill>
                  <a:srgbClr val="444B52"/>
                </a:solidFill>
                <a:latin typeface="Arial"/>
              </a:rPr>
              <a:t> </a:t>
            </a:r>
            <a:r>
              <a:rPr sz="1500" dirty="0" err="1">
                <a:solidFill>
                  <a:srgbClr val="444B52"/>
                </a:solidFill>
                <a:latin typeface="Arial"/>
              </a:rPr>
              <a:t>khỏe</a:t>
            </a:r>
            <a:r>
              <a:rPr sz="1500" dirty="0">
                <a:solidFill>
                  <a:srgbClr val="444B52"/>
                </a:solidFill>
                <a:latin typeface="Arial"/>
              </a:rPr>
              <a:t> </a:t>
            </a:r>
            <a:r>
              <a:rPr sz="1500" dirty="0" err="1">
                <a:solidFill>
                  <a:srgbClr val="444B52"/>
                </a:solidFill>
                <a:latin typeface="Arial"/>
              </a:rPr>
              <a:t>cơ</a:t>
            </a:r>
            <a:r>
              <a:rPr sz="1500" dirty="0">
                <a:solidFill>
                  <a:srgbClr val="444B52"/>
                </a:solidFill>
                <a:latin typeface="Arial"/>
              </a:rPr>
              <a:t> </a:t>
            </a:r>
            <a:r>
              <a:rPr sz="1500" dirty="0" err="1">
                <a:solidFill>
                  <a:srgbClr val="444B52"/>
                </a:solidFill>
                <a:latin typeface="Arial"/>
              </a:rPr>
              <a:t>bản</a:t>
            </a:r>
            <a:r>
              <a:rPr sz="1500" dirty="0">
                <a:solidFill>
                  <a:srgbClr val="444B52"/>
                </a:solidFill>
                <a:latin typeface="Arial"/>
              </a:rPr>
              <a:t> (</a:t>
            </a:r>
            <a:r>
              <a:rPr sz="1500" dirty="0" err="1">
                <a:solidFill>
                  <a:srgbClr val="444B52"/>
                </a:solidFill>
                <a:latin typeface="Arial"/>
              </a:rPr>
              <a:t>tuổi</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a:t>
            </a:r>
            <a:r>
              <a:rPr sz="1500" dirty="0" err="1">
                <a:solidFill>
                  <a:srgbClr val="444B52"/>
                </a:solidFill>
                <a:latin typeface="Arial"/>
              </a:rPr>
              <a:t>áp</a:t>
            </a:r>
            <a:r>
              <a:rPr sz="1500" dirty="0">
                <a:solidFill>
                  <a:srgbClr val="444B52"/>
                </a:solidFill>
                <a:latin typeface="Arial"/>
              </a:rPr>
              <a:t>, BMI, </a:t>
            </a:r>
            <a:r>
              <a:rPr sz="1500" dirty="0" err="1">
                <a:solidFill>
                  <a:srgbClr val="444B52"/>
                </a:solidFill>
                <a:latin typeface="Arial"/>
              </a:rPr>
              <a:t>đường</a:t>
            </a:r>
            <a:r>
              <a:rPr sz="1500" dirty="0">
                <a:solidFill>
                  <a:srgbClr val="444B52"/>
                </a:solidFill>
                <a:latin typeface="Arial"/>
              </a:rPr>
              <a:t> </a:t>
            </a:r>
            <a:r>
              <a:rPr sz="1500" dirty="0" err="1">
                <a:solidFill>
                  <a:srgbClr val="444B52"/>
                </a:solidFill>
                <a:latin typeface="Arial"/>
              </a:rPr>
              <a:t>huyết</a:t>
            </a:r>
            <a:r>
              <a:rPr sz="1500" dirty="0">
                <a:solidFill>
                  <a:srgbClr val="444B52"/>
                </a:solidFill>
                <a:latin typeface="Arial"/>
              </a:rPr>
              <a:t>, cholesterol, </a:t>
            </a:r>
            <a:r>
              <a:rPr sz="1500" dirty="0" err="1">
                <a:solidFill>
                  <a:srgbClr val="444B52"/>
                </a:solidFill>
                <a:latin typeface="Arial"/>
              </a:rPr>
              <a:t>lối</a:t>
            </a:r>
            <a:r>
              <a:rPr sz="1500" dirty="0">
                <a:solidFill>
                  <a:srgbClr val="444B52"/>
                </a:solidFill>
                <a:latin typeface="Arial"/>
              </a:rPr>
              <a:t> </a:t>
            </a:r>
            <a:r>
              <a:rPr sz="1500" dirty="0" err="1">
                <a:solidFill>
                  <a:srgbClr val="444B52"/>
                </a:solidFill>
                <a:latin typeface="Arial"/>
              </a:rPr>
              <a:t>sống</a:t>
            </a:r>
            <a:r>
              <a:rPr sz="1500" dirty="0">
                <a:solidFill>
                  <a:srgbClr val="444B52"/>
                </a:solidFill>
                <a:latin typeface="Arial"/>
              </a:rPr>
              <a:t>…)</a:t>
            </a:r>
          </a:p>
          <a:p>
            <a:pPr lvl="1">
              <a:spcAft>
                <a:spcPts val="600"/>
              </a:spcAft>
            </a:pPr>
            <a:r>
              <a:rPr sz="1500" dirty="0">
                <a:solidFill>
                  <a:srgbClr val="444B52"/>
                </a:solidFill>
                <a:latin typeface="Arial"/>
              </a:rPr>
              <a:t>–  </a:t>
            </a:r>
            <a:r>
              <a:rPr sz="1500" dirty="0" err="1">
                <a:solidFill>
                  <a:srgbClr val="444B52"/>
                </a:solidFill>
                <a:latin typeface="Arial"/>
              </a:rPr>
              <a:t>Đầu</a:t>
            </a:r>
            <a:r>
              <a:rPr sz="1500" dirty="0">
                <a:solidFill>
                  <a:srgbClr val="444B52"/>
                </a:solidFill>
                <a:latin typeface="Arial"/>
              </a:rPr>
              <a:t> </a:t>
            </a:r>
            <a:r>
              <a:rPr sz="1500" dirty="0" err="1">
                <a:solidFill>
                  <a:srgbClr val="444B52"/>
                </a:solidFill>
                <a:latin typeface="Arial"/>
              </a:rPr>
              <a:t>ra</a:t>
            </a:r>
            <a:r>
              <a:rPr sz="1500" dirty="0">
                <a:solidFill>
                  <a:srgbClr val="444B52"/>
                </a:solidFill>
                <a:latin typeface="Arial"/>
              </a:rPr>
              <a:t>: </a:t>
            </a:r>
            <a:r>
              <a:rPr sz="1500" dirty="0" err="1">
                <a:solidFill>
                  <a:srgbClr val="444B52"/>
                </a:solidFill>
                <a:latin typeface="Arial"/>
              </a:rPr>
              <a:t>xác</a:t>
            </a:r>
            <a:r>
              <a:rPr sz="1500" dirty="0">
                <a:solidFill>
                  <a:srgbClr val="444B52"/>
                </a:solidFill>
                <a:latin typeface="Arial"/>
              </a:rPr>
              <a:t> </a:t>
            </a:r>
            <a:r>
              <a:rPr sz="1500" dirty="0" err="1">
                <a:solidFill>
                  <a:srgbClr val="444B52"/>
                </a:solidFill>
                <a:latin typeface="Arial"/>
              </a:rPr>
              <a:t>suất</a:t>
            </a:r>
            <a:r>
              <a:rPr sz="1500" dirty="0">
                <a:solidFill>
                  <a:srgbClr val="444B52"/>
                </a:solidFill>
                <a:latin typeface="Arial"/>
              </a:rPr>
              <a:t> </a:t>
            </a:r>
            <a:r>
              <a:rPr sz="1500" dirty="0" err="1">
                <a:solidFill>
                  <a:srgbClr val="444B52"/>
                </a:solidFill>
                <a:latin typeface="Arial"/>
              </a:rPr>
              <a:t>rủi</a:t>
            </a:r>
            <a:r>
              <a:rPr sz="1500" dirty="0">
                <a:solidFill>
                  <a:srgbClr val="444B52"/>
                </a:solidFill>
                <a:latin typeface="Arial"/>
              </a:rPr>
              <a:t> </a:t>
            </a:r>
            <a:r>
              <a:rPr sz="1500" dirty="0" err="1">
                <a:solidFill>
                  <a:srgbClr val="444B52"/>
                </a:solidFill>
                <a:latin typeface="Arial"/>
              </a:rPr>
              <a:t>ro</a:t>
            </a:r>
            <a:r>
              <a:rPr lang="vi-VN" sz="1500" dirty="0">
                <a:solidFill>
                  <a:srgbClr val="444B52"/>
                </a:solidFill>
                <a:latin typeface="Arial"/>
              </a:rPr>
              <a:t>,</a:t>
            </a:r>
            <a:r>
              <a:rPr sz="1500" dirty="0">
                <a:solidFill>
                  <a:srgbClr val="444B52"/>
                </a:solidFill>
                <a:latin typeface="Arial"/>
              </a:rPr>
              <a:t> </a:t>
            </a:r>
            <a:r>
              <a:rPr sz="1500" dirty="0" err="1">
                <a:solidFill>
                  <a:srgbClr val="444B52"/>
                </a:solidFill>
                <a:latin typeface="Arial"/>
              </a:rPr>
              <a:t>mức</a:t>
            </a:r>
            <a:r>
              <a:rPr lang="vi-VN" sz="1500" dirty="0">
                <a:solidFill>
                  <a:srgbClr val="444B52"/>
                </a:solidFill>
                <a:latin typeface="Arial"/>
              </a:rPr>
              <a:t> độ rủi ro</a:t>
            </a:r>
            <a:r>
              <a:rPr sz="1500" dirty="0">
                <a:solidFill>
                  <a:srgbClr val="444B52"/>
                </a:solidFill>
                <a:latin typeface="Arial"/>
              </a:rPr>
              <a:t> (THẤP/TRUNG BÌNH/CAO)</a:t>
            </a:r>
            <a:r>
              <a:rPr lang="vi-VN" sz="1500" dirty="0">
                <a:solidFill>
                  <a:srgbClr val="444B52"/>
                </a:solidFill>
                <a:latin typeface="Arial"/>
              </a:rPr>
              <a:t>, </a:t>
            </a:r>
            <a:r>
              <a:rPr sz="1500" dirty="0" err="1">
                <a:solidFill>
                  <a:srgbClr val="444B52"/>
                </a:solidFill>
                <a:latin typeface="Arial"/>
              </a:rPr>
              <a:t>khuyến</a:t>
            </a:r>
            <a:r>
              <a:rPr sz="1500" dirty="0">
                <a:solidFill>
                  <a:srgbClr val="444B52"/>
                </a:solidFill>
                <a:latin typeface="Arial"/>
              </a:rPr>
              <a:t> </a:t>
            </a:r>
            <a:r>
              <a:rPr sz="1500" dirty="0" err="1">
                <a:solidFill>
                  <a:srgbClr val="444B52"/>
                </a:solidFill>
                <a:latin typeface="Arial"/>
              </a:rPr>
              <a:t>ngh</a:t>
            </a:r>
            <a:r>
              <a:rPr lang="en-US" sz="1500" dirty="0" err="1">
                <a:solidFill>
                  <a:srgbClr val="444B52"/>
                </a:solidFill>
                <a:latin typeface="Arial"/>
              </a:rPr>
              <a:t>ị</a:t>
            </a:r>
            <a:endParaRPr lang="en-US" sz="1500" dirty="0">
              <a:solidFill>
                <a:srgbClr val="444B52"/>
              </a:solidFill>
              <a:latin typeface="Arial"/>
            </a:endParaRPr>
          </a:p>
          <a:p>
            <a:pPr lvl="1">
              <a:spcAft>
                <a:spcPts val="600"/>
              </a:spcAft>
            </a:pPr>
            <a:r>
              <a:rPr lang="en-US" sz="1500" dirty="0">
                <a:solidFill>
                  <a:srgbClr val="444B52"/>
                </a:solidFill>
                <a:latin typeface="Arial"/>
              </a:rPr>
              <a:t>–  </a:t>
            </a:r>
            <a:r>
              <a:rPr lang="en-US" sz="1500" dirty="0" err="1">
                <a:solidFill>
                  <a:srgbClr val="444B52"/>
                </a:solidFill>
                <a:latin typeface="Arial"/>
              </a:rPr>
              <a:t>Chạy</a:t>
            </a:r>
            <a:r>
              <a:rPr lang="en-US" sz="1500" dirty="0">
                <a:solidFill>
                  <a:srgbClr val="444B52"/>
                </a:solidFill>
                <a:latin typeface="Arial"/>
              </a:rPr>
              <a:t> </a:t>
            </a:r>
            <a:r>
              <a:rPr lang="en-US" sz="1500" dirty="0" err="1">
                <a:solidFill>
                  <a:srgbClr val="444B52"/>
                </a:solidFill>
                <a:latin typeface="Arial"/>
              </a:rPr>
              <a:t>ở</a:t>
            </a:r>
            <a:r>
              <a:rPr lang="en-US" sz="1500" dirty="0">
                <a:solidFill>
                  <a:srgbClr val="444B52"/>
                </a:solidFill>
                <a:latin typeface="Arial"/>
              </a:rPr>
              <a:t> </a:t>
            </a:r>
            <a:r>
              <a:rPr lang="en-US" sz="1500" dirty="0" err="1">
                <a:solidFill>
                  <a:srgbClr val="444B52"/>
                </a:solidFill>
                <a:latin typeface="Arial"/>
              </a:rPr>
              <a:t>máy</a:t>
            </a:r>
            <a:r>
              <a:rPr lang="en-US" sz="1500" dirty="0">
                <a:solidFill>
                  <a:srgbClr val="444B52"/>
                </a:solidFill>
                <a:latin typeface="Arial"/>
              </a:rPr>
              <a:t> local,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gửi</a:t>
            </a:r>
            <a:r>
              <a:rPr lang="en-US" sz="1500" dirty="0">
                <a:solidFill>
                  <a:srgbClr val="444B52"/>
                </a:solidFill>
                <a:latin typeface="Arial"/>
              </a:rPr>
              <a:t> </a:t>
            </a:r>
            <a:r>
              <a:rPr lang="en-US" sz="1500" dirty="0" err="1">
                <a:solidFill>
                  <a:srgbClr val="444B52"/>
                </a:solidFill>
                <a:latin typeface="Arial"/>
              </a:rPr>
              <a:t>dữ</a:t>
            </a:r>
            <a:r>
              <a:rPr lang="en-US" sz="1500" dirty="0">
                <a:solidFill>
                  <a:srgbClr val="444B52"/>
                </a:solidFill>
                <a:latin typeface="Arial"/>
              </a:rPr>
              <a:t> </a:t>
            </a:r>
            <a:r>
              <a:rPr lang="en-US" sz="1500" dirty="0" err="1">
                <a:solidFill>
                  <a:srgbClr val="444B52"/>
                </a:solidFill>
                <a:latin typeface="Arial"/>
              </a:rPr>
              <a:t>liệu</a:t>
            </a:r>
            <a:r>
              <a:rPr lang="en-US" sz="1500" dirty="0">
                <a:solidFill>
                  <a:srgbClr val="444B52"/>
                </a:solidFill>
                <a:latin typeface="Arial"/>
              </a:rPr>
              <a:t> </a:t>
            </a:r>
            <a:r>
              <a:rPr lang="en-US" sz="1500" dirty="0" err="1">
                <a:solidFill>
                  <a:srgbClr val="444B52"/>
                </a:solidFill>
                <a:latin typeface="Arial"/>
              </a:rPr>
              <a:t>ra</a:t>
            </a:r>
            <a:r>
              <a:rPr lang="en-US" sz="1500" dirty="0">
                <a:solidFill>
                  <a:srgbClr val="444B52"/>
                </a:solidFill>
                <a:latin typeface="Arial"/>
              </a:rPr>
              <a:t> </a:t>
            </a:r>
            <a:r>
              <a:rPr lang="en-US" sz="1500" dirty="0" err="1">
                <a:solidFill>
                  <a:srgbClr val="444B52"/>
                </a:solidFill>
                <a:latin typeface="Arial"/>
              </a:rPr>
              <a:t>ngoài</a:t>
            </a:r>
            <a:endParaRPr lang="en-US" sz="1500" dirty="0">
              <a:solidFill>
                <a:srgbClr val="444B52"/>
              </a:solidFill>
              <a:latin typeface="Arial"/>
            </a:endParaRPr>
          </a:p>
          <a:p>
            <a:pPr lvl="1">
              <a:spcAft>
                <a:spcPts val="600"/>
              </a:spcAft>
            </a:pPr>
            <a:r>
              <a:rPr lang="en-US" sz="1500" dirty="0">
                <a:solidFill>
                  <a:srgbClr val="444B52"/>
                </a:solidFill>
                <a:latin typeface="Arial"/>
              </a:rPr>
              <a:t>–  Lưu </a:t>
            </a:r>
            <a:r>
              <a:rPr lang="en-US" sz="1500" dirty="0" err="1">
                <a:solidFill>
                  <a:srgbClr val="444B52"/>
                </a:solidFill>
                <a:latin typeface="Arial"/>
              </a:rPr>
              <a:t>thông</a:t>
            </a:r>
            <a:r>
              <a:rPr lang="en-US" sz="1500" dirty="0">
                <a:solidFill>
                  <a:srgbClr val="444B52"/>
                </a:solidFill>
                <a:latin typeface="Arial"/>
              </a:rPr>
              <a:t> tin </a:t>
            </a:r>
            <a:r>
              <a:rPr lang="en-US" sz="1500" dirty="0" err="1">
                <a:solidFill>
                  <a:srgbClr val="444B52"/>
                </a:solidFill>
                <a:latin typeface="Arial"/>
              </a:rPr>
              <a:t>bệnh</a:t>
            </a:r>
            <a:r>
              <a:rPr lang="en-US" sz="1500" dirty="0">
                <a:solidFill>
                  <a:srgbClr val="444B52"/>
                </a:solidFill>
                <a:latin typeface="Arial"/>
              </a:rPr>
              <a:t> </a:t>
            </a:r>
            <a:r>
              <a:rPr lang="en-US" sz="1500" dirty="0" err="1">
                <a:solidFill>
                  <a:srgbClr val="444B52"/>
                </a:solidFill>
                <a:latin typeface="Arial"/>
              </a:rPr>
              <a:t>nhân</a:t>
            </a:r>
            <a:r>
              <a:rPr lang="en-US" sz="1500" dirty="0">
                <a:solidFill>
                  <a:srgbClr val="444B52"/>
                </a:solidFill>
                <a:latin typeface="Arial"/>
              </a:rPr>
              <a:t> </a:t>
            </a:r>
            <a:r>
              <a:rPr lang="en-US" sz="1500" dirty="0" err="1">
                <a:solidFill>
                  <a:srgbClr val="444B52"/>
                </a:solidFill>
                <a:latin typeface="Arial"/>
              </a:rPr>
              <a:t>và</a:t>
            </a:r>
            <a:r>
              <a:rPr lang="en-US" sz="1500" dirty="0">
                <a:solidFill>
                  <a:srgbClr val="444B52"/>
                </a:solidFill>
                <a:latin typeface="Arial"/>
              </a:rPr>
              <a:t> </a:t>
            </a:r>
            <a:r>
              <a:rPr lang="en-US" sz="1500" dirty="0" err="1">
                <a:solidFill>
                  <a:srgbClr val="444B52"/>
                </a:solidFill>
                <a:latin typeface="Arial"/>
              </a:rPr>
              <a:t>các</a:t>
            </a:r>
            <a:r>
              <a:rPr lang="en-US" sz="1500" dirty="0">
                <a:solidFill>
                  <a:srgbClr val="444B52"/>
                </a:solidFill>
                <a:latin typeface="Arial"/>
              </a:rPr>
              <a:t> </a:t>
            </a:r>
            <a:r>
              <a:rPr lang="en-US" sz="1500" dirty="0" err="1">
                <a:solidFill>
                  <a:srgbClr val="444B52"/>
                </a:solidFill>
                <a:latin typeface="Arial"/>
              </a:rPr>
              <a:t>lần</a:t>
            </a:r>
            <a:r>
              <a:rPr lang="en-US" sz="1500" dirty="0">
                <a:solidFill>
                  <a:srgbClr val="444B52"/>
                </a:solidFill>
                <a:latin typeface="Arial"/>
              </a:rPr>
              <a:t> </a:t>
            </a:r>
            <a:r>
              <a:rPr lang="en-US" sz="1500" dirty="0" err="1">
                <a:solidFill>
                  <a:srgbClr val="444B52"/>
                </a:solidFill>
                <a:latin typeface="Arial"/>
              </a:rPr>
              <a:t>đo</a:t>
            </a:r>
            <a:r>
              <a:rPr lang="en-US" sz="1500" dirty="0">
                <a:solidFill>
                  <a:srgbClr val="444B52"/>
                </a:solidFill>
                <a:latin typeface="Arial"/>
              </a:rPr>
              <a:t> </a:t>
            </a:r>
            <a:r>
              <a:rPr lang="en-US" sz="1500" dirty="0" err="1">
                <a:solidFill>
                  <a:srgbClr val="444B52"/>
                </a:solidFill>
                <a:latin typeface="Arial"/>
              </a:rPr>
              <a:t>để</a:t>
            </a:r>
            <a:r>
              <a:rPr lang="en-US" sz="1500" dirty="0">
                <a:solidFill>
                  <a:srgbClr val="444B52"/>
                </a:solidFill>
                <a:latin typeface="Arial"/>
              </a:rPr>
              <a:t> </a:t>
            </a:r>
            <a:r>
              <a:rPr lang="en-US" sz="1500" dirty="0" err="1">
                <a:solidFill>
                  <a:srgbClr val="444B52"/>
                </a:solidFill>
                <a:latin typeface="Arial"/>
              </a:rPr>
              <a:t>theo</a:t>
            </a:r>
            <a:r>
              <a:rPr lang="en-US" sz="1500" dirty="0">
                <a:solidFill>
                  <a:srgbClr val="444B52"/>
                </a:solidFill>
                <a:latin typeface="Arial"/>
              </a:rPr>
              <a:t> </a:t>
            </a:r>
            <a:r>
              <a:rPr lang="en-US" sz="1500" dirty="0" err="1">
                <a:solidFill>
                  <a:srgbClr val="444B52"/>
                </a:solidFill>
                <a:latin typeface="Arial"/>
              </a:rPr>
              <a:t>dõi</a:t>
            </a:r>
            <a:endParaRPr sz="1500" dirty="0">
              <a:solidFill>
                <a:srgbClr val="444B52"/>
              </a:solidFill>
              <a:latin typeface="Arial"/>
            </a:endParaRPr>
          </a:p>
          <a:p>
            <a:pPr>
              <a:spcAft>
                <a:spcPts val="600"/>
              </a:spcAft>
            </a:pPr>
            <a:r>
              <a:rPr sz="1500" b="1" dirty="0">
                <a:solidFill>
                  <a:srgbClr val="1B8A7A"/>
                </a:solidFill>
                <a:latin typeface="Arial"/>
              </a:rPr>
              <a:t>•  </a:t>
            </a:r>
            <a:r>
              <a:rPr lang="vi-VN" sz="1500" b="1" dirty="0">
                <a:solidFill>
                  <a:srgbClr val="1B8A7A"/>
                </a:solidFill>
                <a:latin typeface="Arial"/>
              </a:rPr>
              <a:t>Ngoài phạm vi tính năng</a:t>
            </a:r>
            <a:r>
              <a:rPr lang="en-US" sz="1500" b="1" dirty="0">
                <a:solidFill>
                  <a:srgbClr val="1B8A7A"/>
                </a:solidFill>
                <a:latin typeface="Arial"/>
              </a:rPr>
              <a:t>:</a:t>
            </a:r>
          </a:p>
          <a:p>
            <a:pPr lvl="1">
              <a:spcAft>
                <a:spcPts val="600"/>
              </a:spcAft>
            </a:pPr>
            <a:r>
              <a:rPr lang="en-US" sz="1500" dirty="0">
                <a:solidFill>
                  <a:srgbClr val="444B52"/>
                </a:solidFill>
                <a:latin typeface="Arial"/>
              </a:rPr>
              <a:t>–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chẩn</a:t>
            </a:r>
            <a:r>
              <a:rPr lang="en-US" sz="1500" dirty="0">
                <a:solidFill>
                  <a:srgbClr val="444B52"/>
                </a:solidFill>
                <a:latin typeface="Arial"/>
              </a:rPr>
              <a:t> </a:t>
            </a:r>
            <a:r>
              <a:rPr lang="en-US" sz="1500" dirty="0" err="1">
                <a:solidFill>
                  <a:srgbClr val="444B52"/>
                </a:solidFill>
                <a:latin typeface="Arial"/>
              </a:rPr>
              <a:t>đoán</a:t>
            </a:r>
            <a:r>
              <a:rPr lang="en-US" sz="1500" dirty="0">
                <a:solidFill>
                  <a:srgbClr val="444B52"/>
                </a:solidFill>
                <a:latin typeface="Arial"/>
              </a:rPr>
              <a:t>, </a:t>
            </a:r>
            <a:r>
              <a:rPr lang="en-US" sz="1500" dirty="0" err="1">
                <a:solidFill>
                  <a:srgbClr val="444B52"/>
                </a:solidFill>
                <a:latin typeface="Arial"/>
              </a:rPr>
              <a:t>không</a:t>
            </a:r>
            <a:r>
              <a:rPr lang="en-US" sz="1500" dirty="0">
                <a:solidFill>
                  <a:srgbClr val="444B52"/>
                </a:solidFill>
                <a:latin typeface="Arial"/>
              </a:rPr>
              <a:t> </a:t>
            </a:r>
            <a:r>
              <a:rPr lang="en-US" sz="1500" dirty="0" err="1">
                <a:solidFill>
                  <a:srgbClr val="444B52"/>
                </a:solidFill>
                <a:latin typeface="Arial"/>
              </a:rPr>
              <a:t>thay</a:t>
            </a:r>
            <a:r>
              <a:rPr lang="en-US" sz="1500" dirty="0">
                <a:solidFill>
                  <a:srgbClr val="444B52"/>
                </a:solidFill>
                <a:latin typeface="Arial"/>
              </a:rPr>
              <a:t> </a:t>
            </a:r>
            <a:r>
              <a:rPr lang="en-US" sz="1500" dirty="0" err="1">
                <a:solidFill>
                  <a:srgbClr val="444B52"/>
                </a:solidFill>
                <a:latin typeface="Arial"/>
              </a:rPr>
              <a:t>thế</a:t>
            </a:r>
            <a:r>
              <a:rPr lang="en-US" sz="1500" dirty="0">
                <a:solidFill>
                  <a:srgbClr val="444B52"/>
                </a:solidFill>
                <a:latin typeface="Arial"/>
              </a:rPr>
              <a:t> </a:t>
            </a:r>
            <a:r>
              <a:rPr lang="en-US" sz="1500" dirty="0" err="1">
                <a:solidFill>
                  <a:srgbClr val="444B52"/>
                </a:solidFill>
                <a:latin typeface="Arial"/>
              </a:rPr>
              <a:t>bác</a:t>
            </a:r>
            <a:r>
              <a:rPr lang="en-US" sz="1500" dirty="0">
                <a:solidFill>
                  <a:srgbClr val="444B52"/>
                </a:solidFill>
                <a:latin typeface="Arial"/>
              </a:rPr>
              <a:t> </a:t>
            </a:r>
            <a:r>
              <a:rPr lang="en-US" sz="1500" dirty="0" err="1">
                <a:solidFill>
                  <a:srgbClr val="444B52"/>
                </a:solidFill>
                <a:latin typeface="Arial"/>
              </a:rPr>
              <a:t>sĩ</a:t>
            </a:r>
            <a:endParaRPr lang="en-US" sz="1500" dirty="0">
              <a:solidFill>
                <a:srgbClr val="444B52"/>
              </a:solidFill>
              <a:latin typeface="Arial"/>
            </a:endParaRPr>
          </a:p>
          <a:p>
            <a:pPr lvl="1">
              <a:spcAft>
                <a:spcPts val="600"/>
              </a:spcAft>
            </a:pPr>
            <a:r>
              <a:rPr sz="1500" dirty="0">
                <a:solidFill>
                  <a:srgbClr val="444B52"/>
                </a:solidFill>
                <a:latin typeface="Arial"/>
              </a:rPr>
              <a:t>–  </a:t>
            </a:r>
            <a:r>
              <a:rPr sz="1500" dirty="0" err="1">
                <a:solidFill>
                  <a:srgbClr val="444B52"/>
                </a:solidFill>
                <a:latin typeface="Arial"/>
              </a:rPr>
              <a:t>Không</a:t>
            </a:r>
            <a:r>
              <a:rPr sz="1500" dirty="0">
                <a:solidFill>
                  <a:srgbClr val="444B52"/>
                </a:solidFill>
                <a:latin typeface="Arial"/>
              </a:rPr>
              <a:t> </a:t>
            </a:r>
            <a:r>
              <a:rPr sz="1500" dirty="0" err="1">
                <a:solidFill>
                  <a:srgbClr val="444B52"/>
                </a:solidFill>
                <a:latin typeface="Arial"/>
              </a:rPr>
              <a:t>kê</a:t>
            </a:r>
            <a:r>
              <a:rPr sz="1500" dirty="0">
                <a:solidFill>
                  <a:srgbClr val="444B52"/>
                </a:solidFill>
                <a:latin typeface="Arial"/>
              </a:rPr>
              <a:t> </a:t>
            </a:r>
            <a:r>
              <a:rPr sz="1500" dirty="0" err="1">
                <a:solidFill>
                  <a:srgbClr val="444B52"/>
                </a:solidFill>
                <a:latin typeface="Arial"/>
              </a:rPr>
              <a:t>đơn</a:t>
            </a:r>
            <a:r>
              <a:rPr sz="1500" dirty="0">
                <a:solidFill>
                  <a:srgbClr val="444B52"/>
                </a:solidFill>
                <a:latin typeface="Arial"/>
              </a:rPr>
              <a:t> / </a:t>
            </a:r>
            <a:r>
              <a:rPr sz="1500" dirty="0" err="1">
                <a:solidFill>
                  <a:srgbClr val="444B52"/>
                </a:solidFill>
                <a:latin typeface="Arial"/>
              </a:rPr>
              <a:t>không</a:t>
            </a:r>
            <a:r>
              <a:rPr sz="1500" dirty="0">
                <a:solidFill>
                  <a:srgbClr val="444B52"/>
                </a:solidFill>
                <a:latin typeface="Arial"/>
              </a:rPr>
              <a:t> </a:t>
            </a:r>
            <a:r>
              <a:rPr sz="1500" dirty="0" err="1">
                <a:solidFill>
                  <a:srgbClr val="444B52"/>
                </a:solidFill>
                <a:latin typeface="Arial"/>
              </a:rPr>
              <a:t>chỉ</a:t>
            </a:r>
            <a:r>
              <a:rPr sz="1500" dirty="0">
                <a:solidFill>
                  <a:srgbClr val="444B52"/>
                </a:solidFill>
                <a:latin typeface="Arial"/>
              </a:rPr>
              <a:t> </a:t>
            </a:r>
            <a:r>
              <a:rPr sz="1500" dirty="0" err="1">
                <a:solidFill>
                  <a:srgbClr val="444B52"/>
                </a:solidFill>
                <a:latin typeface="Arial"/>
              </a:rPr>
              <a:t>định</a:t>
            </a:r>
            <a:r>
              <a:rPr sz="1500" dirty="0">
                <a:solidFill>
                  <a:srgbClr val="444B52"/>
                </a:solidFill>
                <a:latin typeface="Arial"/>
              </a:rPr>
              <a:t> </a:t>
            </a:r>
            <a:r>
              <a:rPr sz="1500" dirty="0" err="1">
                <a:solidFill>
                  <a:srgbClr val="444B52"/>
                </a:solidFill>
                <a:latin typeface="Arial"/>
              </a:rPr>
              <a:t>thuố</a:t>
            </a:r>
            <a:r>
              <a:rPr lang="vi-VN" sz="1500" dirty="0">
                <a:solidFill>
                  <a:srgbClr val="444B52"/>
                </a:solidFill>
                <a:latin typeface="Arial"/>
              </a:rPr>
              <a:t>c</a:t>
            </a:r>
          </a:p>
          <a:p>
            <a:pPr lvl="1">
              <a:spcAft>
                <a:spcPts val="600"/>
              </a:spcAft>
            </a:pPr>
            <a:r>
              <a:rPr lang="vi-VN" sz="1500" dirty="0">
                <a:solidFill>
                  <a:srgbClr val="444B52"/>
                </a:solidFill>
                <a:latin typeface="Arial"/>
              </a:rPr>
              <a:t>–  Kết quả khuyến nghị chỉ để tham khảo/sàng lọc</a:t>
            </a:r>
          </a:p>
        </p:txBody>
      </p:sp>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Phân </a:t>
            </a:r>
            <a:r>
              <a:rPr sz="2600" b="1" dirty="0" err="1">
                <a:solidFill>
                  <a:srgbClr val="FFFFFF"/>
                </a:solidFill>
                <a:latin typeface="Arial"/>
              </a:rPr>
              <a:t>tích</a:t>
            </a:r>
            <a:r>
              <a:rPr sz="2600" b="1" dirty="0">
                <a:solidFill>
                  <a:srgbClr val="FFFFFF"/>
                </a:solidFill>
                <a:latin typeface="Arial"/>
              </a:rPr>
              <a:t> </a:t>
            </a:r>
            <a:r>
              <a:rPr sz="2600" b="1" dirty="0" err="1">
                <a:solidFill>
                  <a:srgbClr val="FFFFFF"/>
                </a:solidFill>
                <a:latin typeface="Arial"/>
              </a:rPr>
              <a:t>rủi</a:t>
            </a:r>
            <a:r>
              <a:rPr sz="2600" b="1" dirty="0">
                <a:solidFill>
                  <a:srgbClr val="FFFFFF"/>
                </a:solidFill>
                <a:latin typeface="Arial"/>
              </a:rPr>
              <a:t> </a:t>
            </a:r>
            <a:r>
              <a:rPr sz="2600" b="1" dirty="0" err="1">
                <a:solidFill>
                  <a:srgbClr val="FFFFFF"/>
                </a:solidFill>
                <a:latin typeface="Arial"/>
              </a:rPr>
              <a:t>ro</a:t>
            </a:r>
            <a:r>
              <a:rPr sz="2600" b="1" dirty="0">
                <a:solidFill>
                  <a:srgbClr val="FFFFFF"/>
                </a:solidFill>
                <a:latin typeface="Arial"/>
              </a:rPr>
              <a:t> </a:t>
            </a:r>
            <a:r>
              <a:rPr sz="2600" b="1" dirty="0" err="1">
                <a:solidFill>
                  <a:srgbClr val="FFFFFF"/>
                </a:solidFill>
                <a:latin typeface="Arial"/>
              </a:rPr>
              <a:t>theo</a:t>
            </a:r>
            <a:r>
              <a:rPr sz="2600" b="1" dirty="0">
                <a:solidFill>
                  <a:srgbClr val="FFFFFF"/>
                </a:solidFill>
                <a:latin typeface="Arial"/>
              </a:rPr>
              <a:t> 5 </a:t>
            </a:r>
            <a:r>
              <a:rPr sz="2600" b="1" dirty="0" err="1">
                <a:solidFill>
                  <a:srgbClr val="FFFFFF"/>
                </a:solidFill>
                <a:latin typeface="Arial"/>
              </a:rPr>
              <a:t>trục</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Thuận</a:t>
            </a:r>
            <a:endParaRPr lang="en-US" sz="1300" i="1" dirty="0">
              <a:solidFill>
                <a:srgbClr val="CFE3EC"/>
              </a:solidFill>
              <a:latin typeface="Arial"/>
            </a:endParaRPr>
          </a:p>
        </p:txBody>
      </p:sp>
      <p:sp>
        <p:nvSpPr>
          <p:cNvPr id="3" name="TextBox 2"/>
          <p:cNvSpPr txBox="1"/>
          <p:nvPr/>
        </p:nvSpPr>
        <p:spPr>
          <a:xfrm>
            <a:off x="502920" y="1531620"/>
            <a:ext cx="3045898" cy="323165"/>
          </a:xfrm>
          <a:prstGeom prst="rect">
            <a:avLst/>
          </a:prstGeom>
          <a:noFill/>
        </p:spPr>
        <p:txBody>
          <a:bodyPr wrap="none">
            <a:spAutoFit/>
          </a:bodyPr>
          <a:lstStyle/>
          <a:p>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a:t>
            </a:r>
            <a:r>
              <a:rPr sz="1500" b="1" dirty="0" err="1">
                <a:solidFill>
                  <a:srgbClr val="1B8A7A"/>
                </a:solidFill>
                <a:latin typeface="Arial"/>
              </a:rPr>
              <a:t>hệ</a:t>
            </a:r>
            <a:r>
              <a:rPr sz="1500" b="1" dirty="0">
                <a:solidFill>
                  <a:srgbClr val="1B8A7A"/>
                </a:solidFill>
                <a:latin typeface="Arial"/>
              </a:rPr>
              <a:t> </a:t>
            </a:r>
            <a:r>
              <a:rPr sz="1500" b="1" dirty="0" err="1">
                <a:solidFill>
                  <a:srgbClr val="1B8A7A"/>
                </a:solidFill>
                <a:latin typeface="Arial"/>
              </a:rPr>
              <a:t>thống</a:t>
            </a:r>
            <a:r>
              <a:rPr sz="1500" b="1" dirty="0">
                <a:solidFill>
                  <a:srgbClr val="1B8A7A"/>
                </a:solidFill>
                <a:latin typeface="Arial"/>
              </a:rPr>
              <a:t> Trustworthy AI</a:t>
            </a:r>
          </a:p>
        </p:txBody>
      </p:sp>
      <p:graphicFrame>
        <p:nvGraphicFramePr>
          <p:cNvPr id="4" name="Table 3"/>
          <p:cNvGraphicFramePr>
            <a:graphicFrameLocks noGrp="1"/>
          </p:cNvGraphicFramePr>
          <p:nvPr>
            <p:extLst>
              <p:ext uri="{D42A27DB-BD31-4B8C-83A1-F6EECF244321}">
                <p14:modId xmlns:p14="http://schemas.microsoft.com/office/powerpoint/2010/main" val="313745507"/>
              </p:ext>
            </p:extLst>
          </p:nvPr>
        </p:nvGraphicFramePr>
        <p:xfrm>
          <a:off x="502920" y="1943100"/>
          <a:ext cx="11155680" cy="1920239"/>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320039">
                <a:tc>
                  <a:txBody>
                    <a:bodyPr/>
                    <a:lstStyle/>
                    <a:p>
                      <a:r>
                        <a:rPr sz="1200" b="1" dirty="0" err="1">
                          <a:solidFill>
                            <a:srgbClr val="FFFFFF"/>
                          </a:solidFill>
                          <a:latin typeface="Arial"/>
                        </a:rPr>
                        <a:t>Trục</a:t>
                      </a:r>
                      <a:endParaRPr sz="1200" b="1" dirty="0">
                        <a:solidFill>
                          <a:srgbClr val="FFFFFF"/>
                        </a:solidFill>
                        <a:latin typeface="Arial"/>
                      </a:endParaRPr>
                    </a:p>
                  </a:txBody>
                  <a:tcPr marL="73152" marR="73152" marT="27432" marB="27432" anchor="ctr">
                    <a:solidFill>
                      <a:srgbClr val="0F3D5E"/>
                    </a:solidFill>
                  </a:tcPr>
                </a:tc>
                <a:tc>
                  <a:txBody>
                    <a:bodyPr/>
                    <a:lstStyle/>
                    <a:p>
                      <a:r>
                        <a:rPr sz="1200" b="1" dirty="0" err="1">
                          <a:solidFill>
                            <a:srgbClr val="FFFFFF"/>
                          </a:solidFill>
                          <a:latin typeface="Arial"/>
                        </a:rPr>
                        <a:t>Rủi</a:t>
                      </a:r>
                      <a:r>
                        <a:rPr sz="1200" b="1" dirty="0">
                          <a:solidFill>
                            <a:srgbClr val="FFFFFF"/>
                          </a:solidFill>
                          <a:latin typeface="Arial"/>
                        </a:rPr>
                        <a:t> </a:t>
                      </a:r>
                      <a:r>
                        <a:rPr sz="1200" b="1" dirty="0" err="1">
                          <a:solidFill>
                            <a:srgbClr val="FFFFFF"/>
                          </a:solidFill>
                          <a:latin typeface="Arial"/>
                        </a:rPr>
                        <a:t>ro</a:t>
                      </a:r>
                      <a:r>
                        <a:rPr sz="1200" b="1" dirty="0">
                          <a:solidFill>
                            <a:srgbClr val="FFFFFF"/>
                          </a:solidFill>
                          <a:latin typeface="Arial"/>
                        </a:rPr>
                        <a:t> </a:t>
                      </a:r>
                      <a:r>
                        <a:rPr sz="1200" b="1" dirty="0" err="1">
                          <a:solidFill>
                            <a:srgbClr val="FFFFFF"/>
                          </a:solidFill>
                          <a:latin typeface="Arial"/>
                        </a:rPr>
                        <a:t>trong</a:t>
                      </a:r>
                      <a:r>
                        <a:rPr sz="1200" b="1" dirty="0">
                          <a:solidFill>
                            <a:srgbClr val="FFFFFF"/>
                          </a:solidFill>
                          <a:latin typeface="Arial"/>
                        </a:rPr>
                        <a:t> </a:t>
                      </a:r>
                      <a:r>
                        <a:rPr sz="1200" b="1" dirty="0" err="1">
                          <a:solidFill>
                            <a:srgbClr val="FFFFFF"/>
                          </a:solidFill>
                          <a:latin typeface="Arial"/>
                        </a:rPr>
                        <a:t>bài</a:t>
                      </a:r>
                      <a:r>
                        <a:rPr sz="1200" b="1" dirty="0">
                          <a:solidFill>
                            <a:srgbClr val="FFFFFF"/>
                          </a:solidFill>
                          <a:latin typeface="Arial"/>
                        </a:rPr>
                        <a:t> </a:t>
                      </a:r>
                      <a:r>
                        <a:rPr sz="1200" b="1" dirty="0" err="1">
                          <a:solidFill>
                            <a:srgbClr val="FFFFFF"/>
                          </a:solidFill>
                          <a:latin typeface="Arial"/>
                        </a:rPr>
                        <a:t>toán</a:t>
                      </a:r>
                      <a:r>
                        <a:rPr sz="1200" b="1" dirty="0">
                          <a:solidFill>
                            <a:srgbClr val="FFFFFF"/>
                          </a:solidFill>
                          <a:latin typeface="Arial"/>
                        </a:rPr>
                        <a:t> y </a:t>
                      </a:r>
                      <a:r>
                        <a:rPr sz="1200" b="1" dirty="0" err="1">
                          <a:solidFill>
                            <a:srgbClr val="FFFFFF"/>
                          </a:solidFill>
                          <a:latin typeface="Arial"/>
                        </a:rPr>
                        <a:t>tế</a:t>
                      </a:r>
                      <a:endParaRPr sz="1200" b="1" dirty="0">
                        <a:solidFill>
                          <a:srgbClr val="FFFFFF"/>
                        </a:solidFill>
                        <a:latin typeface="Arial"/>
                      </a:endParaRPr>
                    </a:p>
                  </a:txBody>
                  <a:tcPr marL="73152" marR="73152" marT="27432" marB="27432" anchor="ctr">
                    <a:solidFill>
                      <a:srgbClr val="0F3D5E"/>
                    </a:solidFill>
                  </a:tcPr>
                </a:tc>
                <a:extLst>
                  <a:ext uri="{0D108BD9-81ED-4DB2-BD59-A6C34878D82A}">
                    <a16:rowId xmlns:a16="http://schemas.microsoft.com/office/drawing/2014/main" val="10000"/>
                  </a:ext>
                </a:extLst>
              </a:tr>
              <a:tr h="320039">
                <a:tc>
                  <a:txBody>
                    <a:bodyPr/>
                    <a:lstStyle/>
                    <a:p>
                      <a:r>
                        <a:rPr sz="1200" dirty="0">
                          <a:solidFill>
                            <a:srgbClr val="444B52"/>
                          </a:solidFill>
                          <a:latin typeface="Arial"/>
                        </a:rPr>
                        <a:t>Fairness (Công </a:t>
                      </a:r>
                      <a:r>
                        <a:rPr sz="1200" dirty="0" err="1">
                          <a:solidFill>
                            <a:srgbClr val="444B52"/>
                          </a:solidFill>
                          <a:latin typeface="Arial"/>
                        </a:rPr>
                        <a:t>bằng</a:t>
                      </a:r>
                      <a:r>
                        <a:rPr sz="1200" dirty="0">
                          <a:solidFill>
                            <a:srgbClr val="444B52"/>
                          </a:solidFill>
                          <a:latin typeface="Arial"/>
                        </a:rPr>
                        <a:t>)</a:t>
                      </a:r>
                    </a:p>
                  </a:txBody>
                  <a:tcPr marL="73152" marR="73152" marT="27432" marB="27432" anchor="ctr">
                    <a:solidFill>
                      <a:srgbClr val="FFFFFF"/>
                    </a:solidFill>
                  </a:tcPr>
                </a:tc>
                <a:tc>
                  <a:txBody>
                    <a:bodyPr/>
                    <a:lstStyle/>
                    <a:p>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r>
                        <a:rPr sz="1200" dirty="0">
                          <a:solidFill>
                            <a:srgbClr val="444B52"/>
                          </a:solidFill>
                          <a:latin typeface="Arial"/>
                        </a:rPr>
                        <a:t> </a:t>
                      </a:r>
                      <a:r>
                        <a:rPr sz="1200" dirty="0" err="1">
                          <a:solidFill>
                            <a:srgbClr val="444B52"/>
                          </a:solidFill>
                          <a:latin typeface="Arial"/>
                        </a:rPr>
                        <a:t>lệch</a:t>
                      </a:r>
                      <a:r>
                        <a:rPr sz="1200" dirty="0">
                          <a:solidFill>
                            <a:srgbClr val="444B52"/>
                          </a:solidFill>
                          <a:latin typeface="Arial"/>
                        </a:rPr>
                        <a:t> </a:t>
                      </a:r>
                      <a:r>
                        <a:rPr sz="1200" dirty="0" err="1">
                          <a:solidFill>
                            <a:srgbClr val="444B52"/>
                          </a:solidFill>
                          <a:latin typeface="Arial"/>
                        </a:rPr>
                        <a:t>giới</a:t>
                      </a:r>
                      <a:r>
                        <a:rPr sz="1200" dirty="0">
                          <a:solidFill>
                            <a:srgbClr val="444B52"/>
                          </a:solidFill>
                          <a:latin typeface="Arial"/>
                        </a:rPr>
                        <a:t>/</a:t>
                      </a:r>
                      <a:r>
                        <a:rPr sz="1200" dirty="0" err="1">
                          <a:solidFill>
                            <a:srgbClr val="444B52"/>
                          </a:solidFill>
                          <a:latin typeface="Arial"/>
                        </a:rPr>
                        <a:t>tuổ</a:t>
                      </a:r>
                      <a:r>
                        <a:rPr lang="vi-VN" sz="1200" dirty="0">
                          <a:solidFill>
                            <a:srgbClr val="444B52"/>
                          </a:solidFill>
                          <a:latin typeface="Arial"/>
                        </a:rPr>
                        <a:t>i/vị trí địa lý/lối sống sinh hoạt</a:t>
                      </a:r>
                      <a:r>
                        <a:rPr sz="1200" dirty="0">
                          <a:solidFill>
                            <a:srgbClr val="444B52"/>
                          </a:solidFill>
                          <a:latin typeface="Arial"/>
                        </a:rPr>
                        <a:t> → </a:t>
                      </a:r>
                      <a:r>
                        <a:rPr sz="1200" dirty="0" err="1">
                          <a:solidFill>
                            <a:srgbClr val="444B52"/>
                          </a:solidFill>
                          <a:latin typeface="Arial"/>
                        </a:rPr>
                        <a:t>thiên</a:t>
                      </a:r>
                      <a:r>
                        <a:rPr sz="1200" dirty="0">
                          <a:solidFill>
                            <a:srgbClr val="444B52"/>
                          </a:solidFill>
                          <a:latin typeface="Arial"/>
                        </a:rPr>
                        <a:t> </a:t>
                      </a:r>
                      <a:r>
                        <a:rPr sz="1200" dirty="0" err="1">
                          <a:solidFill>
                            <a:srgbClr val="444B52"/>
                          </a:solidFill>
                          <a:latin typeface="Arial"/>
                        </a:rPr>
                        <a:t>vị</a:t>
                      </a:r>
                      <a:r>
                        <a:rPr sz="1200" dirty="0">
                          <a:solidFill>
                            <a:srgbClr val="444B52"/>
                          </a:solidFill>
                          <a:latin typeface="Arial"/>
                        </a:rPr>
                        <a:t> </a:t>
                      </a:r>
                      <a:r>
                        <a:rPr sz="1200" dirty="0" err="1">
                          <a:solidFill>
                            <a:srgbClr val="444B52"/>
                          </a:solidFill>
                          <a:latin typeface="Arial"/>
                        </a:rPr>
                        <a:t>nhóm</a:t>
                      </a:r>
                      <a:r>
                        <a:rPr sz="1200" dirty="0">
                          <a:solidFill>
                            <a:srgbClr val="444B52"/>
                          </a:solidFill>
                          <a:latin typeface="Arial"/>
                        </a:rPr>
                        <a:t> </a:t>
                      </a:r>
                      <a:r>
                        <a:rPr lang="vi-VN" sz="1200" dirty="0">
                          <a:solidFill>
                            <a:srgbClr val="444B52"/>
                          </a:solidFill>
                          <a:latin typeface="Arial"/>
                        </a:rPr>
                        <a:t>thành phố</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1"/>
                  </a:ext>
                </a:extLst>
              </a:tr>
              <a:tr h="320039">
                <a:tc>
                  <a:txBody>
                    <a:bodyPr/>
                    <a:lstStyle/>
                    <a:p>
                      <a:r>
                        <a:rPr sz="1200" dirty="0">
                          <a:solidFill>
                            <a:srgbClr val="444B52"/>
                          </a:solidFill>
                          <a:latin typeface="Arial"/>
                        </a:rPr>
                        <a:t>Explainability (</a:t>
                      </a:r>
                      <a:r>
                        <a:rPr sz="1200" dirty="0" err="1">
                          <a:solidFill>
                            <a:srgbClr val="444B52"/>
                          </a:solidFill>
                          <a:latin typeface="Arial"/>
                        </a:rPr>
                        <a:t>Giải</a:t>
                      </a:r>
                      <a:r>
                        <a:rPr sz="1200" dirty="0">
                          <a:solidFill>
                            <a:srgbClr val="444B52"/>
                          </a:solidFill>
                          <a:latin typeface="Arial"/>
                        </a:rPr>
                        <a:t> </a:t>
                      </a:r>
                      <a:r>
                        <a:rPr sz="1200" dirty="0" err="1">
                          <a:solidFill>
                            <a:srgbClr val="444B52"/>
                          </a:solidFill>
                          <a:latin typeface="Arial"/>
                        </a:rPr>
                        <a:t>thích</a:t>
                      </a:r>
                      <a:r>
                        <a:rPr sz="1200" dirty="0">
                          <a:solidFill>
                            <a:srgbClr val="444B52"/>
                          </a:solidFill>
                          <a:latin typeface="Arial"/>
                        </a:rPr>
                        <a:t>)</a:t>
                      </a:r>
                    </a:p>
                  </a:txBody>
                  <a:tcPr marL="73152" marR="73152" marT="27432" marB="27432" anchor="ctr">
                    <a:solidFill>
                      <a:srgbClr val="EAF2F6"/>
                    </a:solidFill>
                  </a:tcPr>
                </a:tc>
                <a:tc>
                  <a:txBody>
                    <a:bodyPr/>
                    <a:lstStyle/>
                    <a:p>
                      <a:r>
                        <a:rPr sz="1200" dirty="0" err="1">
                          <a:solidFill>
                            <a:srgbClr val="444B52"/>
                          </a:solidFill>
                          <a:latin typeface="Arial"/>
                        </a:rPr>
                        <a:t>Mô</a:t>
                      </a:r>
                      <a:r>
                        <a:rPr sz="1200" dirty="0">
                          <a:solidFill>
                            <a:srgbClr val="444B52"/>
                          </a:solidFill>
                          <a:latin typeface="Arial"/>
                        </a:rPr>
                        <a:t> </a:t>
                      </a:r>
                      <a:r>
                        <a:rPr sz="1200" dirty="0" err="1">
                          <a:solidFill>
                            <a:srgbClr val="444B52"/>
                          </a:solidFill>
                          <a:latin typeface="Arial"/>
                        </a:rPr>
                        <a:t>hình</a:t>
                      </a:r>
                      <a:r>
                        <a:rPr sz="1200" dirty="0">
                          <a:solidFill>
                            <a:srgbClr val="444B52"/>
                          </a:solidFill>
                          <a:latin typeface="Arial"/>
                        </a:rPr>
                        <a:t> '</a:t>
                      </a:r>
                      <a:r>
                        <a:rPr sz="1200" dirty="0" err="1">
                          <a:solidFill>
                            <a:srgbClr val="444B52"/>
                          </a:solidFill>
                          <a:latin typeface="Arial"/>
                        </a:rPr>
                        <a:t>hộp</a:t>
                      </a:r>
                      <a:r>
                        <a:rPr sz="1200" dirty="0">
                          <a:solidFill>
                            <a:srgbClr val="444B52"/>
                          </a:solidFill>
                          <a:latin typeface="Arial"/>
                        </a:rPr>
                        <a:t> </a:t>
                      </a:r>
                      <a:r>
                        <a:rPr sz="1200" dirty="0" err="1">
                          <a:solidFill>
                            <a:srgbClr val="444B52"/>
                          </a:solidFill>
                          <a:latin typeface="Arial"/>
                        </a:rPr>
                        <a:t>đen</a:t>
                      </a:r>
                      <a:r>
                        <a:rPr sz="1200" dirty="0">
                          <a:solidFill>
                            <a:srgbClr val="444B52"/>
                          </a:solidFill>
                          <a:latin typeface="Arial"/>
                        </a:rPr>
                        <a:t>' → </a:t>
                      </a:r>
                      <a:r>
                        <a:rPr sz="1200" dirty="0" err="1">
                          <a:solidFill>
                            <a:srgbClr val="444B52"/>
                          </a:solidFill>
                          <a:latin typeface="Arial"/>
                        </a:rPr>
                        <a:t>khó</a:t>
                      </a:r>
                      <a:r>
                        <a:rPr sz="1200" dirty="0">
                          <a:solidFill>
                            <a:srgbClr val="444B52"/>
                          </a:solidFill>
                          <a:latin typeface="Arial"/>
                        </a:rPr>
                        <a:t> tin, </a:t>
                      </a:r>
                      <a:r>
                        <a:rPr sz="1200" dirty="0" err="1">
                          <a:solidFill>
                            <a:srgbClr val="444B52"/>
                          </a:solidFill>
                          <a:latin typeface="Arial"/>
                        </a:rPr>
                        <a:t>khó</a:t>
                      </a:r>
                      <a:r>
                        <a:rPr sz="1200" dirty="0">
                          <a:solidFill>
                            <a:srgbClr val="444B52"/>
                          </a:solidFill>
                          <a:latin typeface="Arial"/>
                        </a:rPr>
                        <a:t> </a:t>
                      </a:r>
                      <a:r>
                        <a:rPr sz="1200" dirty="0" err="1">
                          <a:solidFill>
                            <a:srgbClr val="444B52"/>
                          </a:solidFill>
                          <a:latin typeface="Arial"/>
                        </a:rPr>
                        <a:t>kiểm</a:t>
                      </a:r>
                      <a:r>
                        <a:rPr sz="1200" dirty="0">
                          <a:solidFill>
                            <a:srgbClr val="444B52"/>
                          </a:solidFill>
                          <a:latin typeface="Arial"/>
                        </a:rPr>
                        <a:t> </a:t>
                      </a:r>
                      <a:r>
                        <a:rPr sz="1200" dirty="0" err="1">
                          <a:solidFill>
                            <a:srgbClr val="444B52"/>
                          </a:solidFill>
                          <a:latin typeface="Arial"/>
                        </a:rPr>
                        <a:t>chứng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2"/>
                  </a:ext>
                </a:extLst>
              </a:tr>
              <a:tr h="320039">
                <a:tc>
                  <a:txBody>
                    <a:bodyPr/>
                    <a:lstStyle/>
                    <a:p>
                      <a:r>
                        <a:rPr sz="1200" dirty="0">
                          <a:solidFill>
                            <a:srgbClr val="444B52"/>
                          </a:solidFill>
                          <a:latin typeface="Arial"/>
                        </a:rPr>
                        <a:t>Robustness (</a:t>
                      </a:r>
                      <a:r>
                        <a:rPr sz="1200" dirty="0" err="1">
                          <a:solidFill>
                            <a:srgbClr val="444B52"/>
                          </a:solidFill>
                          <a:latin typeface="Arial"/>
                        </a:rPr>
                        <a:t>Bền</a:t>
                      </a:r>
                      <a:r>
                        <a:rPr sz="1200" dirty="0">
                          <a:solidFill>
                            <a:srgbClr val="444B52"/>
                          </a:solidFill>
                          <a:latin typeface="Arial"/>
                        </a:rPr>
                        <a:t> </a:t>
                      </a:r>
                      <a:r>
                        <a:rPr sz="1200" dirty="0" err="1">
                          <a:solidFill>
                            <a:srgbClr val="444B52"/>
                          </a:solidFill>
                          <a:latin typeface="Arial"/>
                        </a:rPr>
                        <a:t>vững</a:t>
                      </a:r>
                      <a:r>
                        <a:rPr sz="1200" dirty="0">
                          <a:solidFill>
                            <a:srgbClr val="444B52"/>
                          </a:solidFill>
                          <a:latin typeface="Arial"/>
                        </a:rPr>
                        <a:t>)</a:t>
                      </a:r>
                    </a:p>
                  </a:txBody>
                  <a:tcPr marL="73152" marR="73152" marT="27432" marB="27432" anchor="ctr">
                    <a:solidFill>
                      <a:srgbClr val="FFFFFF"/>
                    </a:solidFill>
                  </a:tcPr>
                </a:tc>
                <a:tc>
                  <a:txBody>
                    <a:bodyPr/>
                    <a:lstStyle/>
                    <a:p>
                      <a:r>
                        <a:rPr sz="1200" dirty="0">
                          <a:solidFill>
                            <a:srgbClr val="444B52"/>
                          </a:solidFill>
                          <a:latin typeface="Arial"/>
                        </a:rPr>
                        <a:t>Nhập </a:t>
                      </a:r>
                      <a:r>
                        <a:rPr sz="1200" dirty="0" err="1">
                          <a:solidFill>
                            <a:srgbClr val="444B52"/>
                          </a:solidFill>
                          <a:latin typeface="Arial"/>
                        </a:rPr>
                        <a:t>sai</a:t>
                      </a:r>
                      <a:r>
                        <a:rPr sz="1200" dirty="0">
                          <a:solidFill>
                            <a:srgbClr val="444B52"/>
                          </a:solidFill>
                          <a:latin typeface="Arial"/>
                        </a:rPr>
                        <a:t>/</a:t>
                      </a:r>
                      <a:r>
                        <a:rPr sz="1200" dirty="0" err="1">
                          <a:solidFill>
                            <a:srgbClr val="444B52"/>
                          </a:solidFill>
                          <a:latin typeface="Arial"/>
                        </a:rPr>
                        <a:t>nhiễu</a:t>
                      </a:r>
                      <a:r>
                        <a:rPr sz="1200" dirty="0">
                          <a:solidFill>
                            <a:srgbClr val="444B52"/>
                          </a:solidFill>
                          <a:latin typeface="Arial"/>
                        </a:rPr>
                        <a:t>, </a:t>
                      </a:r>
                      <a:r>
                        <a:rPr sz="1200" dirty="0" err="1">
                          <a:solidFill>
                            <a:srgbClr val="444B52"/>
                          </a:solidFill>
                          <a:latin typeface="Arial"/>
                        </a:rPr>
                        <a:t>ngoài</a:t>
                      </a:r>
                      <a:r>
                        <a:rPr sz="1200" dirty="0">
                          <a:solidFill>
                            <a:srgbClr val="444B52"/>
                          </a:solidFill>
                          <a:latin typeface="Arial"/>
                        </a:rPr>
                        <a:t> </a:t>
                      </a:r>
                      <a:r>
                        <a:rPr sz="1200" dirty="0" err="1">
                          <a:solidFill>
                            <a:srgbClr val="444B52"/>
                          </a:solidFill>
                          <a:latin typeface="Arial"/>
                        </a:rPr>
                        <a:t>phạm</a:t>
                      </a:r>
                      <a:r>
                        <a:rPr sz="1200" dirty="0">
                          <a:solidFill>
                            <a:srgbClr val="444B52"/>
                          </a:solidFill>
                          <a:latin typeface="Arial"/>
                        </a:rPr>
                        <a:t> vi → </a:t>
                      </a:r>
                      <a:r>
                        <a:rPr sz="1200" dirty="0" err="1">
                          <a:solidFill>
                            <a:srgbClr val="444B52"/>
                          </a:solidFill>
                          <a:latin typeface="Arial"/>
                        </a:rPr>
                        <a:t>dự</a:t>
                      </a:r>
                      <a:r>
                        <a:rPr sz="1200" dirty="0">
                          <a:solidFill>
                            <a:srgbClr val="444B52"/>
                          </a:solidFill>
                          <a:latin typeface="Arial"/>
                        </a:rPr>
                        <a:t> </a:t>
                      </a:r>
                      <a:r>
                        <a:rPr sz="1200" dirty="0" err="1">
                          <a:solidFill>
                            <a:srgbClr val="444B52"/>
                          </a:solidFill>
                          <a:latin typeface="Arial"/>
                        </a:rPr>
                        <a:t>đoán</a:t>
                      </a:r>
                      <a:r>
                        <a:rPr sz="1200" dirty="0">
                          <a:solidFill>
                            <a:srgbClr val="444B52"/>
                          </a:solidFill>
                          <a:latin typeface="Arial"/>
                        </a:rPr>
                        <a:t> </a:t>
                      </a:r>
                      <a:r>
                        <a:rPr sz="1200" dirty="0" err="1">
                          <a:solidFill>
                            <a:srgbClr val="444B52"/>
                          </a:solidFill>
                          <a:latin typeface="Arial"/>
                        </a:rPr>
                        <a:t>sai</a:t>
                      </a:r>
                      <a:r>
                        <a:rPr sz="1200" dirty="0">
                          <a:solidFill>
                            <a:srgbClr val="444B52"/>
                          </a:solidFill>
                          <a:latin typeface="Arial"/>
                        </a:rPr>
                        <a:t> </a:t>
                      </a:r>
                      <a:r>
                        <a:rPr lang="vi-VN" sz="1200" dirty="0">
                          <a:solidFill>
                            <a:srgbClr val="444B52"/>
                          </a:solidFill>
                          <a:latin typeface="Arial"/>
                        </a:rPr>
                        <a:t>dẫn tới </a:t>
                      </a:r>
                      <a:r>
                        <a:rPr sz="1200" dirty="0" err="1">
                          <a:solidFill>
                            <a:srgbClr val="444B52"/>
                          </a:solidFill>
                          <a:latin typeface="Arial"/>
                        </a:rPr>
                        <a:t>nguy</a:t>
                      </a:r>
                      <a:r>
                        <a:rPr sz="1200" dirty="0">
                          <a:solidFill>
                            <a:srgbClr val="444B52"/>
                          </a:solidFill>
                          <a:latin typeface="Arial"/>
                        </a:rPr>
                        <a:t> </a:t>
                      </a:r>
                      <a:r>
                        <a:rPr sz="1200" dirty="0" err="1">
                          <a:solidFill>
                            <a:srgbClr val="444B52"/>
                          </a:solidFill>
                          <a:latin typeface="Arial"/>
                        </a:rPr>
                        <a:t>hiểm</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3"/>
                  </a:ext>
                </a:extLst>
              </a:tr>
              <a:tr h="320039">
                <a:tc>
                  <a:txBody>
                    <a:bodyPr/>
                    <a:lstStyle/>
                    <a:p>
                      <a:r>
                        <a:rPr sz="1200" dirty="0">
                          <a:solidFill>
                            <a:srgbClr val="444B52"/>
                          </a:solidFill>
                          <a:latin typeface="Arial"/>
                        </a:rPr>
                        <a:t>Privacy (</a:t>
                      </a:r>
                      <a:r>
                        <a:rPr sz="1200" dirty="0" err="1">
                          <a:solidFill>
                            <a:srgbClr val="444B52"/>
                          </a:solidFill>
                          <a:latin typeface="Arial"/>
                        </a:rPr>
                        <a:t>Riêng</a:t>
                      </a:r>
                      <a:r>
                        <a:rPr sz="1200" dirty="0">
                          <a:solidFill>
                            <a:srgbClr val="444B52"/>
                          </a:solidFill>
                          <a:latin typeface="Arial"/>
                        </a:rPr>
                        <a:t> </a:t>
                      </a:r>
                      <a:r>
                        <a:rPr sz="1200" dirty="0" err="1">
                          <a:solidFill>
                            <a:srgbClr val="444B52"/>
                          </a:solidFill>
                          <a:latin typeface="Arial"/>
                        </a:rPr>
                        <a:t>tư</a:t>
                      </a:r>
                      <a:r>
                        <a:rPr sz="1200" dirty="0">
                          <a:solidFill>
                            <a:srgbClr val="444B52"/>
                          </a:solidFill>
                          <a:latin typeface="Arial"/>
                        </a:rPr>
                        <a:t>)</a:t>
                      </a:r>
                    </a:p>
                  </a:txBody>
                  <a:tcPr marL="73152" marR="73152" marT="27432" marB="27432" anchor="ctr">
                    <a:solidFill>
                      <a:srgbClr val="EAF2F6"/>
                    </a:solidFill>
                  </a:tcPr>
                </a:tc>
                <a:tc>
                  <a:txBody>
                    <a:bodyPr/>
                    <a:lstStyle/>
                    <a:p>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r>
                        <a:rPr sz="1200" dirty="0">
                          <a:solidFill>
                            <a:srgbClr val="444B52"/>
                          </a:solidFill>
                          <a:latin typeface="Arial"/>
                        </a:rPr>
                        <a:t> </a:t>
                      </a:r>
                      <a:r>
                        <a:rPr sz="1200" dirty="0" err="1">
                          <a:solidFill>
                            <a:srgbClr val="444B52"/>
                          </a:solidFill>
                          <a:latin typeface="Arial"/>
                        </a:rPr>
                        <a:t>sức</a:t>
                      </a:r>
                      <a:r>
                        <a:rPr sz="1200" dirty="0">
                          <a:solidFill>
                            <a:srgbClr val="444B52"/>
                          </a:solidFill>
                          <a:latin typeface="Arial"/>
                        </a:rPr>
                        <a:t> </a:t>
                      </a:r>
                      <a:r>
                        <a:rPr sz="1200" dirty="0" err="1">
                          <a:solidFill>
                            <a:srgbClr val="444B52"/>
                          </a:solidFill>
                          <a:latin typeface="Arial"/>
                        </a:rPr>
                        <a:t>khỏe</a:t>
                      </a:r>
                      <a:r>
                        <a:rPr sz="1200" dirty="0">
                          <a:solidFill>
                            <a:srgbClr val="444B52"/>
                          </a:solidFill>
                          <a:latin typeface="Arial"/>
                        </a:rPr>
                        <a:t> </a:t>
                      </a:r>
                      <a:r>
                        <a:rPr sz="1200" dirty="0" err="1">
                          <a:solidFill>
                            <a:srgbClr val="444B52"/>
                          </a:solidFill>
                          <a:latin typeface="Arial"/>
                        </a:rPr>
                        <a:t>nhạy</a:t>
                      </a:r>
                      <a:r>
                        <a:rPr sz="1200" dirty="0">
                          <a:solidFill>
                            <a:srgbClr val="444B52"/>
                          </a:solidFill>
                          <a:latin typeface="Arial"/>
                        </a:rPr>
                        <a:t> </a:t>
                      </a:r>
                      <a:r>
                        <a:rPr sz="1200" dirty="0" err="1">
                          <a:solidFill>
                            <a:srgbClr val="444B52"/>
                          </a:solidFill>
                          <a:latin typeface="Arial"/>
                        </a:rPr>
                        <a:t>cảm</a:t>
                      </a:r>
                      <a:r>
                        <a:rPr sz="1200" dirty="0">
                          <a:solidFill>
                            <a:srgbClr val="444B52"/>
                          </a:solidFill>
                          <a:latin typeface="Arial"/>
                        </a:rPr>
                        <a:t> → </a:t>
                      </a:r>
                      <a:r>
                        <a:rPr sz="1200" dirty="0" err="1">
                          <a:solidFill>
                            <a:srgbClr val="444B52"/>
                          </a:solidFill>
                          <a:latin typeface="Arial"/>
                        </a:rPr>
                        <a:t>rò</a:t>
                      </a:r>
                      <a:r>
                        <a:rPr sz="1200" dirty="0">
                          <a:solidFill>
                            <a:srgbClr val="444B52"/>
                          </a:solidFill>
                          <a:latin typeface="Arial"/>
                        </a:rPr>
                        <a:t> </a:t>
                      </a:r>
                      <a:r>
                        <a:rPr sz="1200" dirty="0" err="1">
                          <a:solidFill>
                            <a:srgbClr val="444B52"/>
                          </a:solidFill>
                          <a:latin typeface="Arial"/>
                        </a:rPr>
                        <a:t>rỉ</a:t>
                      </a:r>
                      <a:r>
                        <a:rPr sz="1200" dirty="0">
                          <a:solidFill>
                            <a:srgbClr val="444B52"/>
                          </a:solidFill>
                          <a:latin typeface="Arial"/>
                        </a:rPr>
                        <a:t>, </a:t>
                      </a:r>
                      <a:r>
                        <a:rPr sz="1200" dirty="0" err="1">
                          <a:solidFill>
                            <a:srgbClr val="444B52"/>
                          </a:solidFill>
                          <a:latin typeface="Arial"/>
                        </a:rPr>
                        <a:t>lạm</a:t>
                      </a:r>
                      <a:r>
                        <a:rPr sz="1200" dirty="0">
                          <a:solidFill>
                            <a:srgbClr val="444B52"/>
                          </a:solidFill>
                          <a:latin typeface="Arial"/>
                        </a:rPr>
                        <a:t> </a:t>
                      </a:r>
                      <a:r>
                        <a:rPr sz="1200" dirty="0" err="1">
                          <a:solidFill>
                            <a:srgbClr val="444B52"/>
                          </a:solidFill>
                          <a:latin typeface="Arial"/>
                        </a:rPr>
                        <a:t>dụng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4"/>
                  </a:ext>
                </a:extLst>
              </a:tr>
              <a:tr h="320044">
                <a:tc>
                  <a:txBody>
                    <a:bodyPr/>
                    <a:lstStyle/>
                    <a:p>
                      <a:r>
                        <a:rPr sz="1200" dirty="0">
                          <a:solidFill>
                            <a:srgbClr val="444B52"/>
                          </a:solidFill>
                          <a:latin typeface="Arial"/>
                        </a:rPr>
                        <a:t>Accountability (</a:t>
                      </a:r>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r>
                        <a:rPr sz="1200" dirty="0">
                          <a:solidFill>
                            <a:srgbClr val="444B52"/>
                          </a:solidFill>
                          <a:latin typeface="Arial"/>
                        </a:rPr>
                        <a:t>)</a:t>
                      </a:r>
                    </a:p>
                  </a:txBody>
                  <a:tcPr marL="73152" marR="73152" marT="27432" marB="27432" anchor="ctr">
                    <a:solidFill>
                      <a:srgbClr val="FFFFFF"/>
                    </a:solidFill>
                  </a:tcPr>
                </a:tc>
                <a:tc>
                  <a:txBody>
                    <a:bodyPr/>
                    <a:lstStyle/>
                    <a:p>
                      <a:r>
                        <a:rPr sz="1200" dirty="0">
                          <a:solidFill>
                            <a:srgbClr val="444B52"/>
                          </a:solidFill>
                          <a:latin typeface="Arial"/>
                        </a:rPr>
                        <a:t>Ai </a:t>
                      </a:r>
                      <a:r>
                        <a:rPr sz="1200" dirty="0" err="1">
                          <a:solidFill>
                            <a:srgbClr val="444B52"/>
                          </a:solidFill>
                          <a:latin typeface="Arial"/>
                        </a:rPr>
                        <a:t>chịu</a:t>
                      </a:r>
                      <a:r>
                        <a:rPr sz="1200" dirty="0">
                          <a:solidFill>
                            <a:srgbClr val="444B52"/>
                          </a:solidFill>
                          <a:latin typeface="Arial"/>
                        </a:rPr>
                        <a:t> </a:t>
                      </a:r>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r>
                        <a:rPr sz="1200" dirty="0">
                          <a:solidFill>
                            <a:srgbClr val="444B52"/>
                          </a:solidFill>
                          <a:latin typeface="Arial"/>
                        </a:rPr>
                        <a:t> </a:t>
                      </a:r>
                      <a:r>
                        <a:rPr sz="1200" dirty="0" err="1">
                          <a:solidFill>
                            <a:srgbClr val="444B52"/>
                          </a:solidFill>
                          <a:latin typeface="Arial"/>
                        </a:rPr>
                        <a:t>khi</a:t>
                      </a:r>
                      <a:r>
                        <a:rPr sz="1200" dirty="0">
                          <a:solidFill>
                            <a:srgbClr val="444B52"/>
                          </a:solidFill>
                          <a:latin typeface="Arial"/>
                        </a:rPr>
                        <a:t> </a:t>
                      </a:r>
                      <a:r>
                        <a:rPr sz="1200" dirty="0" err="1">
                          <a:solidFill>
                            <a:srgbClr val="444B52"/>
                          </a:solidFill>
                          <a:latin typeface="Arial"/>
                        </a:rPr>
                        <a:t>sai</a:t>
                      </a:r>
                      <a:r>
                        <a:rPr sz="1200" dirty="0">
                          <a:solidFill>
                            <a:srgbClr val="444B52"/>
                          </a:solidFill>
                          <a:latin typeface="Arial"/>
                        </a:rPr>
                        <a:t>? Truy </a:t>
                      </a:r>
                      <a:r>
                        <a:rPr sz="1200" dirty="0" err="1">
                          <a:solidFill>
                            <a:srgbClr val="444B52"/>
                          </a:solidFill>
                          <a:latin typeface="Arial"/>
                        </a:rPr>
                        <a:t>vết</a:t>
                      </a:r>
                      <a:r>
                        <a:rPr sz="1200" dirty="0">
                          <a:solidFill>
                            <a:srgbClr val="444B52"/>
                          </a:solidFill>
                          <a:latin typeface="Arial"/>
                        </a:rPr>
                        <a:t> </a:t>
                      </a:r>
                      <a:r>
                        <a:rPr sz="1200" dirty="0" err="1">
                          <a:solidFill>
                            <a:srgbClr val="444B52"/>
                          </a:solidFill>
                          <a:latin typeface="Arial"/>
                        </a:rPr>
                        <a:t>được</a:t>
                      </a:r>
                      <a:r>
                        <a:rPr sz="1200" dirty="0">
                          <a:solidFill>
                            <a:srgbClr val="444B52"/>
                          </a:solidFill>
                          <a:latin typeface="Arial"/>
                        </a:rPr>
                        <a:t> </a:t>
                      </a:r>
                      <a:r>
                        <a:rPr sz="1200" dirty="0" err="1">
                          <a:solidFill>
                            <a:srgbClr val="444B52"/>
                          </a:solidFill>
                          <a:latin typeface="Arial"/>
                        </a:rPr>
                        <a:t>không</a:t>
                      </a:r>
                      <a:r>
                        <a:rPr sz="1200" dirty="0">
                          <a:solidFill>
                            <a:srgbClr val="444B52"/>
                          </a:solidFill>
                          <a:latin typeface="Arial"/>
                        </a:rPr>
                        <a:t>?</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502920" y="4343400"/>
            <a:ext cx="2725426" cy="323165"/>
          </a:xfrm>
          <a:prstGeom prst="rect">
            <a:avLst/>
          </a:prstGeom>
          <a:noFill/>
        </p:spPr>
        <p:txBody>
          <a:bodyPr wrap="none">
            <a:spAutoFit/>
          </a:bodyPr>
          <a:lstStyle/>
          <a:p>
            <a:r>
              <a:rPr sz="1500" b="1" dirty="0" err="1">
                <a:solidFill>
                  <a:srgbClr val="1B8A7A"/>
                </a:solidFill>
                <a:latin typeface="Arial"/>
              </a:rPr>
              <a:t>Từ</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 </a:t>
            </a:r>
            <a:r>
              <a:rPr sz="1500" b="1" dirty="0" err="1">
                <a:solidFill>
                  <a:srgbClr val="1B8A7A"/>
                </a:solidFill>
                <a:latin typeface="Arial"/>
              </a:rPr>
              <a:t>yêu</a:t>
            </a:r>
            <a:r>
              <a:rPr sz="1500" b="1" dirty="0">
                <a:solidFill>
                  <a:srgbClr val="1B8A7A"/>
                </a:solidFill>
                <a:latin typeface="Arial"/>
              </a:rPr>
              <a:t> </a:t>
            </a:r>
            <a:r>
              <a:rPr sz="1500" b="1" dirty="0" err="1">
                <a:solidFill>
                  <a:srgbClr val="1B8A7A"/>
                </a:solidFill>
                <a:latin typeface="Arial"/>
              </a:rPr>
              <a:t>cầu</a:t>
            </a:r>
            <a:r>
              <a:rPr sz="1500" b="1" dirty="0">
                <a:solidFill>
                  <a:srgbClr val="1B8A7A"/>
                </a:solidFill>
                <a:latin typeface="Arial"/>
              </a:rPr>
              <a:t> </a:t>
            </a:r>
            <a:r>
              <a:rPr sz="1500" b="1" dirty="0" err="1">
                <a:solidFill>
                  <a:srgbClr val="1B8A7A"/>
                </a:solidFill>
                <a:latin typeface="Arial"/>
              </a:rPr>
              <a:t>thiết</a:t>
            </a:r>
            <a:r>
              <a:rPr sz="1500" b="1" dirty="0">
                <a:solidFill>
                  <a:srgbClr val="1B8A7A"/>
                </a:solidFill>
                <a:latin typeface="Arial"/>
              </a:rPr>
              <a:t> </a:t>
            </a:r>
            <a:r>
              <a:rPr sz="1500" b="1" dirty="0" err="1">
                <a:solidFill>
                  <a:srgbClr val="1B8A7A"/>
                </a:solidFill>
                <a:latin typeface="Arial"/>
              </a:rPr>
              <a:t>kế</a:t>
            </a:r>
            <a:endParaRPr sz="1500" b="1" dirty="0">
              <a:solidFill>
                <a:srgbClr val="1B8A7A"/>
              </a:solidFill>
              <a:latin typeface="Arial"/>
            </a:endParaRPr>
          </a:p>
        </p:txBody>
      </p:sp>
      <p:graphicFrame>
        <p:nvGraphicFramePr>
          <p:cNvPr id="6" name="Table 5"/>
          <p:cNvGraphicFramePr>
            <a:graphicFrameLocks noGrp="1"/>
          </p:cNvGraphicFramePr>
          <p:nvPr>
            <p:extLst>
              <p:ext uri="{D42A27DB-BD31-4B8C-83A1-F6EECF244321}">
                <p14:modId xmlns:p14="http://schemas.microsoft.com/office/powerpoint/2010/main" val="826043705"/>
              </p:ext>
            </p:extLst>
          </p:nvPr>
        </p:nvGraphicFramePr>
        <p:xfrm>
          <a:off x="502920" y="4754880"/>
          <a:ext cx="11155680" cy="1920239"/>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320039">
                <a:tc>
                  <a:txBody>
                    <a:bodyPr/>
                    <a:lstStyle/>
                    <a:p>
                      <a:r>
                        <a:rPr sz="1200" b="1" dirty="0" err="1">
                          <a:solidFill>
                            <a:srgbClr val="FFFFFF"/>
                          </a:solidFill>
                          <a:latin typeface="Arial"/>
                        </a:rPr>
                        <a:t>Rủi</a:t>
                      </a:r>
                      <a:r>
                        <a:rPr sz="1200" b="1" dirty="0">
                          <a:solidFill>
                            <a:srgbClr val="FFFFFF"/>
                          </a:solidFill>
                          <a:latin typeface="Arial"/>
                        </a:rPr>
                        <a:t> </a:t>
                      </a:r>
                      <a:r>
                        <a:rPr sz="1200" b="1" dirty="0" err="1">
                          <a:solidFill>
                            <a:srgbClr val="FFFFFF"/>
                          </a:solidFill>
                          <a:latin typeface="Arial"/>
                        </a:rPr>
                        <a:t>ro</a:t>
                      </a:r>
                      <a:endParaRPr sz="1200" b="1" dirty="0">
                        <a:solidFill>
                          <a:srgbClr val="FFFFFF"/>
                        </a:solidFill>
                        <a:latin typeface="Arial"/>
                      </a:endParaRPr>
                    </a:p>
                  </a:txBody>
                  <a:tcPr marL="73152" marR="73152" marT="27432" marB="27432" anchor="ctr">
                    <a:solidFill>
                      <a:srgbClr val="0F3D5E"/>
                    </a:solidFill>
                  </a:tcPr>
                </a:tc>
                <a:tc>
                  <a:txBody>
                    <a:bodyPr/>
                    <a:lstStyle/>
                    <a:p>
                      <a:r>
                        <a:rPr sz="1200" b="1" dirty="0" err="1">
                          <a:solidFill>
                            <a:srgbClr val="FFFFFF"/>
                          </a:solidFill>
                          <a:latin typeface="Arial"/>
                        </a:rPr>
                        <a:t>Yêu</a:t>
                      </a:r>
                      <a:r>
                        <a:rPr sz="1200" b="1" dirty="0">
                          <a:solidFill>
                            <a:srgbClr val="FFFFFF"/>
                          </a:solidFill>
                          <a:latin typeface="Arial"/>
                        </a:rPr>
                        <a:t> </a:t>
                      </a:r>
                      <a:r>
                        <a:rPr sz="1200" b="1" dirty="0" err="1">
                          <a:solidFill>
                            <a:srgbClr val="FFFFFF"/>
                          </a:solidFill>
                          <a:latin typeface="Arial"/>
                        </a:rPr>
                        <a:t>cầu</a:t>
                      </a:r>
                      <a:r>
                        <a:rPr sz="1200" b="1" dirty="0">
                          <a:solidFill>
                            <a:srgbClr val="FFFFFF"/>
                          </a:solidFill>
                          <a:latin typeface="Arial"/>
                        </a:rPr>
                        <a:t> </a:t>
                      </a:r>
                      <a:r>
                        <a:rPr sz="1200" b="1" dirty="0" err="1">
                          <a:solidFill>
                            <a:srgbClr val="FFFFFF"/>
                          </a:solidFill>
                          <a:latin typeface="Arial"/>
                        </a:rPr>
                        <a:t>thiết</a:t>
                      </a:r>
                      <a:r>
                        <a:rPr sz="1200" b="1" dirty="0">
                          <a:solidFill>
                            <a:srgbClr val="FFFFFF"/>
                          </a:solidFill>
                          <a:latin typeface="Arial"/>
                        </a:rPr>
                        <a:t> </a:t>
                      </a:r>
                      <a:r>
                        <a:rPr sz="1200" b="1" dirty="0" err="1">
                          <a:solidFill>
                            <a:srgbClr val="FFFFFF"/>
                          </a:solidFill>
                          <a:latin typeface="Arial"/>
                        </a:rPr>
                        <a:t>kế</a:t>
                      </a:r>
                      <a:r>
                        <a:rPr sz="1200" b="1" dirty="0">
                          <a:solidFill>
                            <a:srgbClr val="FFFFFF"/>
                          </a:solidFill>
                          <a:latin typeface="Arial"/>
                        </a:rPr>
                        <a:t> </a:t>
                      </a:r>
                      <a:r>
                        <a:rPr sz="1200" b="1" dirty="0" err="1">
                          <a:solidFill>
                            <a:srgbClr val="FFFFFF"/>
                          </a:solidFill>
                          <a:latin typeface="Arial"/>
                        </a:rPr>
                        <a:t>đã</a:t>
                      </a:r>
                      <a:r>
                        <a:rPr sz="1200" b="1" dirty="0">
                          <a:solidFill>
                            <a:srgbClr val="FFFFFF"/>
                          </a:solidFill>
                          <a:latin typeface="Arial"/>
                        </a:rPr>
                        <a:t> </a:t>
                      </a:r>
                      <a:r>
                        <a:rPr sz="1200" b="1" dirty="0" err="1">
                          <a:solidFill>
                            <a:srgbClr val="FFFFFF"/>
                          </a:solidFill>
                          <a:latin typeface="Arial"/>
                        </a:rPr>
                        <a:t>áp</a:t>
                      </a:r>
                      <a:r>
                        <a:rPr sz="1200" b="1" dirty="0">
                          <a:solidFill>
                            <a:srgbClr val="FFFFFF"/>
                          </a:solidFill>
                          <a:latin typeface="Arial"/>
                        </a:rPr>
                        <a:t> </a:t>
                      </a:r>
                      <a:r>
                        <a:rPr sz="1200" b="1" dirty="0" err="1">
                          <a:solidFill>
                            <a:srgbClr val="FFFFFF"/>
                          </a:solidFill>
                          <a:latin typeface="Arial"/>
                        </a:rPr>
                        <a:t>dụng</a:t>
                      </a:r>
                      <a:endParaRPr sz="1200" b="1" dirty="0">
                        <a:solidFill>
                          <a:srgbClr val="FFFFFF"/>
                        </a:solidFill>
                        <a:latin typeface="Arial"/>
                      </a:endParaRPr>
                    </a:p>
                  </a:txBody>
                  <a:tcPr marL="73152" marR="73152" marT="27432" marB="27432" anchor="ctr">
                    <a:solidFill>
                      <a:srgbClr val="0F3D5E"/>
                    </a:solidFill>
                  </a:tcPr>
                </a:tc>
                <a:extLst>
                  <a:ext uri="{0D108BD9-81ED-4DB2-BD59-A6C34878D82A}">
                    <a16:rowId xmlns:a16="http://schemas.microsoft.com/office/drawing/2014/main" val="10000"/>
                  </a:ext>
                </a:extLst>
              </a:tr>
              <a:tr h="320039">
                <a:tc>
                  <a:txBody>
                    <a:bodyPr/>
                    <a:lstStyle/>
                    <a:p>
                      <a:r>
                        <a:rPr sz="1200">
                          <a:solidFill>
                            <a:srgbClr val="444B52"/>
                          </a:solidFill>
                          <a:latin typeface="Arial"/>
                        </a:rPr>
                        <a:t>Thiên vị</a:t>
                      </a:r>
                    </a:p>
                  </a:txBody>
                  <a:tcPr marL="73152" marR="73152" marT="27432" marB="27432" anchor="ctr">
                    <a:solidFill>
                      <a:srgbClr val="FFFFFF"/>
                    </a:solidFill>
                  </a:tcPr>
                </a:tc>
                <a:tc>
                  <a:txBody>
                    <a:bodyPr/>
                    <a:lstStyle/>
                    <a:p>
                      <a:r>
                        <a:rPr sz="1200" dirty="0" err="1">
                          <a:solidFill>
                            <a:srgbClr val="444B52"/>
                          </a:solidFill>
                          <a:latin typeface="Arial"/>
                        </a:rPr>
                        <a:t>Đo</a:t>
                      </a:r>
                      <a:r>
                        <a:rPr sz="1200" dirty="0">
                          <a:solidFill>
                            <a:srgbClr val="444B52"/>
                          </a:solidFill>
                          <a:latin typeface="Arial"/>
                        </a:rPr>
                        <a:t> fairness/bias </a:t>
                      </a:r>
                      <a:r>
                        <a:rPr sz="1200" dirty="0" err="1">
                          <a:solidFill>
                            <a:srgbClr val="444B52"/>
                          </a:solidFill>
                          <a:latin typeface="Arial"/>
                        </a:rPr>
                        <a:t>trên</a:t>
                      </a:r>
                      <a:r>
                        <a:rPr sz="1200" dirty="0">
                          <a:solidFill>
                            <a:srgbClr val="444B52"/>
                          </a:solidFill>
                          <a:latin typeface="Arial"/>
                        </a:rPr>
                        <a:t> </a:t>
                      </a:r>
                      <a:r>
                        <a:rPr sz="1200" dirty="0" err="1">
                          <a:solidFill>
                            <a:srgbClr val="444B52"/>
                          </a:solidFill>
                          <a:latin typeface="Arial"/>
                        </a:rPr>
                        <a:t>dữ</a:t>
                      </a:r>
                      <a:r>
                        <a:rPr sz="1200" dirty="0">
                          <a:solidFill>
                            <a:srgbClr val="444B52"/>
                          </a:solidFill>
                          <a:latin typeface="Arial"/>
                        </a:rPr>
                        <a:t> </a:t>
                      </a:r>
                      <a:r>
                        <a:rPr sz="1200" dirty="0" err="1">
                          <a:solidFill>
                            <a:srgbClr val="444B52"/>
                          </a:solidFill>
                          <a:latin typeface="Arial"/>
                        </a:rPr>
                        <a:t>liệu</a:t>
                      </a:r>
                      <a:endParaRPr sz="1200" dirty="0">
                        <a:solidFill>
                          <a:srgbClr val="444B52"/>
                        </a:solidFill>
                        <a:latin typeface="Arial"/>
                      </a:endParaRPr>
                    </a:p>
                  </a:txBody>
                  <a:tcPr marL="73152" marR="73152" marT="27432" marB="27432" anchor="ctr">
                    <a:solidFill>
                      <a:srgbClr val="FFFFFF"/>
                    </a:solidFill>
                  </a:tcPr>
                </a:tc>
                <a:extLst>
                  <a:ext uri="{0D108BD9-81ED-4DB2-BD59-A6C34878D82A}">
                    <a16:rowId xmlns:a16="http://schemas.microsoft.com/office/drawing/2014/main" val="10001"/>
                  </a:ext>
                </a:extLst>
              </a:tr>
              <a:tr h="320039">
                <a:tc>
                  <a:txBody>
                    <a:bodyPr/>
                    <a:lstStyle/>
                    <a:p>
                      <a:r>
                        <a:rPr sz="1200" dirty="0" err="1">
                          <a:solidFill>
                            <a:srgbClr val="444B52"/>
                          </a:solidFill>
                          <a:latin typeface="Arial"/>
                        </a:rPr>
                        <a:t>Hộp</a:t>
                      </a:r>
                      <a:r>
                        <a:rPr sz="1200" dirty="0">
                          <a:solidFill>
                            <a:srgbClr val="444B52"/>
                          </a:solidFill>
                          <a:latin typeface="Arial"/>
                        </a:rPr>
                        <a:t> </a:t>
                      </a:r>
                      <a:r>
                        <a:rPr sz="1200" dirty="0" err="1">
                          <a:solidFill>
                            <a:srgbClr val="444B52"/>
                          </a:solidFill>
                          <a:latin typeface="Arial"/>
                        </a:rPr>
                        <a:t>đen</a:t>
                      </a:r>
                      <a:endParaRPr sz="1200" dirty="0">
                        <a:solidFill>
                          <a:srgbClr val="444B52"/>
                        </a:solidFill>
                        <a:latin typeface="Arial"/>
                      </a:endParaRPr>
                    </a:p>
                  </a:txBody>
                  <a:tcPr marL="73152" marR="73152" marT="27432" marB="27432" anchor="ctr">
                    <a:solidFill>
                      <a:srgbClr val="EAF2F6"/>
                    </a:solidFill>
                  </a:tcPr>
                </a:tc>
                <a:tc>
                  <a:txBody>
                    <a:bodyPr/>
                    <a:lstStyle/>
                    <a:p>
                      <a:r>
                        <a:rPr sz="1200" dirty="0" err="1">
                          <a:solidFill>
                            <a:srgbClr val="444B52"/>
                          </a:solidFill>
                          <a:latin typeface="Arial"/>
                        </a:rPr>
                        <a:t>Tích</a:t>
                      </a:r>
                      <a:r>
                        <a:rPr sz="1200" dirty="0">
                          <a:solidFill>
                            <a:srgbClr val="444B52"/>
                          </a:solidFill>
                          <a:latin typeface="Arial"/>
                        </a:rPr>
                        <a:t> </a:t>
                      </a:r>
                      <a:r>
                        <a:rPr sz="1200" dirty="0" err="1">
                          <a:solidFill>
                            <a:srgbClr val="444B52"/>
                          </a:solidFill>
                          <a:latin typeface="Arial"/>
                        </a:rPr>
                        <a:t>hợp</a:t>
                      </a:r>
                      <a:r>
                        <a:rPr sz="1200" dirty="0">
                          <a:solidFill>
                            <a:srgbClr val="444B52"/>
                          </a:solidFill>
                          <a:latin typeface="Arial"/>
                        </a:rPr>
                        <a:t> SHAP </a:t>
                      </a:r>
                      <a:r>
                        <a:rPr sz="1200" dirty="0" err="1">
                          <a:solidFill>
                            <a:srgbClr val="444B52"/>
                          </a:solidFill>
                          <a:latin typeface="Arial"/>
                        </a:rPr>
                        <a:t>giải</a:t>
                      </a:r>
                      <a:r>
                        <a:rPr sz="1200" dirty="0">
                          <a:solidFill>
                            <a:srgbClr val="444B52"/>
                          </a:solidFill>
                          <a:latin typeface="Arial"/>
                        </a:rPr>
                        <a:t> </a:t>
                      </a:r>
                      <a:r>
                        <a:rPr sz="1200" dirty="0" err="1">
                          <a:solidFill>
                            <a:srgbClr val="444B52"/>
                          </a:solidFill>
                          <a:latin typeface="Arial"/>
                        </a:rPr>
                        <a:t>thích</a:t>
                      </a:r>
                      <a:r>
                        <a:rPr sz="1200" dirty="0">
                          <a:solidFill>
                            <a:srgbClr val="444B52"/>
                          </a:solidFill>
                          <a:latin typeface="Arial"/>
                        </a:rPr>
                        <a:t> </a:t>
                      </a:r>
                      <a:r>
                        <a:rPr sz="1200" dirty="0" err="1">
                          <a:solidFill>
                            <a:srgbClr val="444B52"/>
                          </a:solidFill>
                          <a:latin typeface="Arial"/>
                        </a:rPr>
                        <a:t>đóng</a:t>
                      </a:r>
                      <a:r>
                        <a:rPr sz="1200" dirty="0">
                          <a:solidFill>
                            <a:srgbClr val="444B52"/>
                          </a:solidFill>
                          <a:latin typeface="Arial"/>
                        </a:rPr>
                        <a:t> </a:t>
                      </a:r>
                      <a:r>
                        <a:rPr sz="1200" dirty="0" err="1">
                          <a:solidFill>
                            <a:srgbClr val="444B52"/>
                          </a:solidFill>
                          <a:latin typeface="Arial"/>
                        </a:rPr>
                        <a:t>góp</a:t>
                      </a:r>
                      <a:r>
                        <a:rPr sz="1200" dirty="0">
                          <a:solidFill>
                            <a:srgbClr val="444B52"/>
                          </a:solidFill>
                          <a:latin typeface="Arial"/>
                        </a:rPr>
                        <a:t> </a:t>
                      </a:r>
                      <a:r>
                        <a:rPr sz="1200" dirty="0" err="1">
                          <a:solidFill>
                            <a:srgbClr val="444B52"/>
                          </a:solidFill>
                          <a:latin typeface="Arial"/>
                        </a:rPr>
                        <a:t>từng</a:t>
                      </a:r>
                      <a:r>
                        <a:rPr sz="1200" dirty="0">
                          <a:solidFill>
                            <a:srgbClr val="444B52"/>
                          </a:solidFill>
                          <a:latin typeface="Arial"/>
                        </a:rPr>
                        <a:t> </a:t>
                      </a:r>
                      <a:r>
                        <a:rPr sz="1200" dirty="0" err="1">
                          <a:solidFill>
                            <a:srgbClr val="444B52"/>
                          </a:solidFill>
                          <a:latin typeface="Arial"/>
                        </a:rPr>
                        <a:t>đặc</a:t>
                      </a:r>
                      <a:r>
                        <a:rPr sz="1200" dirty="0">
                          <a:solidFill>
                            <a:srgbClr val="444B52"/>
                          </a:solidFill>
                          <a:latin typeface="Arial"/>
                        </a:rPr>
                        <a:t> </a:t>
                      </a:r>
                      <a:r>
                        <a:rPr sz="1200" dirty="0" err="1">
                          <a:solidFill>
                            <a:srgbClr val="444B52"/>
                          </a:solidFill>
                          <a:latin typeface="Arial"/>
                        </a:rPr>
                        <a:t>trưng</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2"/>
                  </a:ext>
                </a:extLst>
              </a:tr>
              <a:tr h="320039">
                <a:tc>
                  <a:txBody>
                    <a:bodyPr/>
                    <a:lstStyle/>
                    <a:p>
                      <a:r>
                        <a:rPr sz="1200" dirty="0">
                          <a:solidFill>
                            <a:srgbClr val="444B52"/>
                          </a:solidFill>
                          <a:latin typeface="Arial"/>
                        </a:rPr>
                        <a:t>Nhiễu </a:t>
                      </a:r>
                      <a:r>
                        <a:rPr sz="1200" dirty="0" err="1">
                          <a:solidFill>
                            <a:srgbClr val="444B52"/>
                          </a:solidFill>
                          <a:latin typeface="Arial"/>
                        </a:rPr>
                        <a:t>đầu</a:t>
                      </a:r>
                      <a:r>
                        <a:rPr sz="1200" dirty="0">
                          <a:solidFill>
                            <a:srgbClr val="444B52"/>
                          </a:solidFill>
                          <a:latin typeface="Arial"/>
                        </a:rPr>
                        <a:t> </a:t>
                      </a:r>
                      <a:r>
                        <a:rPr sz="1200" dirty="0" err="1">
                          <a:solidFill>
                            <a:srgbClr val="444B52"/>
                          </a:solidFill>
                          <a:latin typeface="Arial"/>
                        </a:rPr>
                        <a:t>vào</a:t>
                      </a:r>
                      <a:endParaRPr sz="1200" dirty="0">
                        <a:solidFill>
                          <a:srgbClr val="444B52"/>
                        </a:solidFill>
                        <a:latin typeface="Arial"/>
                      </a:endParaRPr>
                    </a:p>
                  </a:txBody>
                  <a:tcPr marL="73152" marR="73152" marT="27432" marB="27432" anchor="ctr">
                    <a:solidFill>
                      <a:srgbClr val="FFFFFF"/>
                    </a:solidFill>
                  </a:tcPr>
                </a:tc>
                <a:tc>
                  <a:txBody>
                    <a:bodyPr/>
                    <a:lstStyle/>
                    <a:p>
                      <a:r>
                        <a:rPr sz="1200" dirty="0">
                          <a:solidFill>
                            <a:srgbClr val="444B52"/>
                          </a:solidFill>
                          <a:latin typeface="Arial"/>
                        </a:rPr>
                        <a:t>Validate input + </a:t>
                      </a:r>
                      <a:r>
                        <a:rPr sz="1200" dirty="0" err="1">
                          <a:solidFill>
                            <a:srgbClr val="444B52"/>
                          </a:solidFill>
                          <a:latin typeface="Arial"/>
                        </a:rPr>
                        <a:t>kiểm</a:t>
                      </a:r>
                      <a:r>
                        <a:rPr sz="1200" dirty="0">
                          <a:solidFill>
                            <a:srgbClr val="444B52"/>
                          </a:solidFill>
                          <a:latin typeface="Arial"/>
                        </a:rPr>
                        <a:t> </a:t>
                      </a:r>
                      <a:r>
                        <a:rPr sz="1200" dirty="0" err="1">
                          <a:solidFill>
                            <a:srgbClr val="444B52"/>
                          </a:solidFill>
                          <a:latin typeface="Arial"/>
                        </a:rPr>
                        <a:t>thử</a:t>
                      </a:r>
                      <a:r>
                        <a:rPr sz="1200" dirty="0">
                          <a:solidFill>
                            <a:srgbClr val="444B52"/>
                          </a:solidFill>
                          <a:latin typeface="Arial"/>
                        </a:rPr>
                        <a:t> robustness</a:t>
                      </a:r>
                    </a:p>
                  </a:txBody>
                  <a:tcPr marL="73152" marR="73152" marT="27432" marB="27432" anchor="ctr">
                    <a:solidFill>
                      <a:srgbClr val="FFFFFF"/>
                    </a:solidFill>
                  </a:tcPr>
                </a:tc>
                <a:extLst>
                  <a:ext uri="{0D108BD9-81ED-4DB2-BD59-A6C34878D82A}">
                    <a16:rowId xmlns:a16="http://schemas.microsoft.com/office/drawing/2014/main" val="10003"/>
                  </a:ext>
                </a:extLst>
              </a:tr>
              <a:tr h="320039">
                <a:tc>
                  <a:txBody>
                    <a:bodyPr/>
                    <a:lstStyle/>
                    <a:p>
                      <a:r>
                        <a:rPr sz="1200">
                          <a:solidFill>
                            <a:srgbClr val="444B52"/>
                          </a:solidFill>
                          <a:latin typeface="Arial"/>
                        </a:rPr>
                        <a:t>Riêng tư</a:t>
                      </a:r>
                    </a:p>
                  </a:txBody>
                  <a:tcPr marL="73152" marR="73152" marT="27432" marB="27432" anchor="ctr">
                    <a:solidFill>
                      <a:srgbClr val="EAF2F6"/>
                    </a:solidFill>
                  </a:tcPr>
                </a:tc>
                <a:tc>
                  <a:txBody>
                    <a:bodyPr/>
                    <a:lstStyle/>
                    <a:p>
                      <a:r>
                        <a:rPr sz="1200" dirty="0" err="1">
                          <a:solidFill>
                            <a:srgbClr val="444B52"/>
                          </a:solidFill>
                          <a:latin typeface="Arial"/>
                        </a:rPr>
                        <a:t>Chạy</a:t>
                      </a:r>
                      <a:r>
                        <a:rPr sz="1200" dirty="0">
                          <a:solidFill>
                            <a:srgbClr val="444B52"/>
                          </a:solidFill>
                          <a:latin typeface="Arial"/>
                        </a:rPr>
                        <a:t> local, offline, </a:t>
                      </a:r>
                      <a:r>
                        <a:rPr sz="1200" dirty="0" err="1">
                          <a:solidFill>
                            <a:srgbClr val="444B52"/>
                          </a:solidFill>
                          <a:latin typeface="Arial"/>
                        </a:rPr>
                        <a:t>không</a:t>
                      </a:r>
                      <a:r>
                        <a:rPr sz="1200" dirty="0">
                          <a:solidFill>
                            <a:srgbClr val="444B52"/>
                          </a:solidFill>
                          <a:latin typeface="Arial"/>
                        </a:rPr>
                        <a:t> </a:t>
                      </a:r>
                      <a:r>
                        <a:rPr sz="1200" dirty="0" err="1">
                          <a:solidFill>
                            <a:srgbClr val="444B52"/>
                          </a:solidFill>
                          <a:latin typeface="Arial"/>
                        </a:rPr>
                        <a:t>gọi</a:t>
                      </a:r>
                      <a:r>
                        <a:rPr sz="1200" dirty="0">
                          <a:solidFill>
                            <a:srgbClr val="444B52"/>
                          </a:solidFill>
                          <a:latin typeface="Arial"/>
                        </a:rPr>
                        <a:t> API </a:t>
                      </a:r>
                      <a:r>
                        <a:rPr sz="1200" dirty="0" err="1">
                          <a:solidFill>
                            <a:srgbClr val="444B52"/>
                          </a:solidFill>
                          <a:latin typeface="Arial"/>
                        </a:rPr>
                        <a:t>ngoài</a:t>
                      </a:r>
                      <a:endParaRPr sz="1200" dirty="0">
                        <a:solidFill>
                          <a:srgbClr val="444B52"/>
                        </a:solidFill>
                        <a:latin typeface="Arial"/>
                      </a:endParaRPr>
                    </a:p>
                  </a:txBody>
                  <a:tcPr marL="73152" marR="73152" marT="27432" marB="27432" anchor="ctr">
                    <a:solidFill>
                      <a:srgbClr val="EAF2F6"/>
                    </a:solidFill>
                  </a:tcPr>
                </a:tc>
                <a:extLst>
                  <a:ext uri="{0D108BD9-81ED-4DB2-BD59-A6C34878D82A}">
                    <a16:rowId xmlns:a16="http://schemas.microsoft.com/office/drawing/2014/main" val="10004"/>
                  </a:ext>
                </a:extLst>
              </a:tr>
              <a:tr h="320044">
                <a:tc>
                  <a:txBody>
                    <a:bodyPr/>
                    <a:lstStyle/>
                    <a:p>
                      <a:r>
                        <a:rPr sz="1200" dirty="0" err="1">
                          <a:solidFill>
                            <a:srgbClr val="444B52"/>
                          </a:solidFill>
                          <a:latin typeface="Arial"/>
                        </a:rPr>
                        <a:t>Trách</a:t>
                      </a:r>
                      <a:r>
                        <a:rPr sz="1200" dirty="0">
                          <a:solidFill>
                            <a:srgbClr val="444B52"/>
                          </a:solidFill>
                          <a:latin typeface="Arial"/>
                        </a:rPr>
                        <a:t> </a:t>
                      </a:r>
                      <a:r>
                        <a:rPr sz="1200" dirty="0" err="1">
                          <a:solidFill>
                            <a:srgbClr val="444B52"/>
                          </a:solidFill>
                          <a:latin typeface="Arial"/>
                        </a:rPr>
                        <a:t>nhiệm</a:t>
                      </a:r>
                      <a:endParaRPr sz="1200" dirty="0">
                        <a:solidFill>
                          <a:srgbClr val="444B52"/>
                        </a:solidFill>
                        <a:latin typeface="Arial"/>
                      </a:endParaRPr>
                    </a:p>
                  </a:txBody>
                  <a:tcPr marL="73152" marR="73152" marT="27432" marB="27432" anchor="ctr">
                    <a:solidFill>
                      <a:srgbClr val="FFFFFF"/>
                    </a:solidFill>
                  </a:tcPr>
                </a:tc>
                <a:tc>
                  <a:txBody>
                    <a:bodyPr/>
                    <a:lstStyle/>
                    <a:p>
                      <a:r>
                        <a:rPr sz="1200" dirty="0" err="1">
                          <a:solidFill>
                            <a:srgbClr val="444B52"/>
                          </a:solidFill>
                          <a:latin typeface="Arial"/>
                        </a:rPr>
                        <a:t>Không</a:t>
                      </a:r>
                      <a:r>
                        <a:rPr sz="1200" dirty="0">
                          <a:solidFill>
                            <a:srgbClr val="444B52"/>
                          </a:solidFill>
                          <a:latin typeface="Arial"/>
                        </a:rPr>
                        <a:t> </a:t>
                      </a:r>
                      <a:r>
                        <a:rPr sz="1200" dirty="0" err="1">
                          <a:solidFill>
                            <a:srgbClr val="444B52"/>
                          </a:solidFill>
                          <a:latin typeface="Arial"/>
                        </a:rPr>
                        <a:t>chẩn</a:t>
                      </a:r>
                      <a:r>
                        <a:rPr sz="1200" dirty="0">
                          <a:solidFill>
                            <a:srgbClr val="444B52"/>
                          </a:solidFill>
                          <a:latin typeface="Arial"/>
                        </a:rPr>
                        <a:t> </a:t>
                      </a:r>
                      <a:r>
                        <a:rPr sz="1200" dirty="0" err="1">
                          <a:solidFill>
                            <a:srgbClr val="444B52"/>
                          </a:solidFill>
                          <a:latin typeface="Arial"/>
                        </a:rPr>
                        <a:t>đoán</a:t>
                      </a:r>
                      <a:r>
                        <a:rPr sz="1200" dirty="0">
                          <a:solidFill>
                            <a:srgbClr val="444B52"/>
                          </a:solidFill>
                          <a:latin typeface="Arial"/>
                        </a:rPr>
                        <a:t>/</a:t>
                      </a:r>
                      <a:r>
                        <a:rPr sz="1200" dirty="0" err="1">
                          <a:solidFill>
                            <a:srgbClr val="444B52"/>
                          </a:solidFill>
                          <a:latin typeface="Arial"/>
                        </a:rPr>
                        <a:t>kê</a:t>
                      </a:r>
                      <a:r>
                        <a:rPr sz="1200" dirty="0">
                          <a:solidFill>
                            <a:srgbClr val="444B52"/>
                          </a:solidFill>
                          <a:latin typeface="Arial"/>
                        </a:rPr>
                        <a:t> </a:t>
                      </a:r>
                      <a:r>
                        <a:rPr sz="1200" dirty="0" err="1">
                          <a:solidFill>
                            <a:srgbClr val="444B52"/>
                          </a:solidFill>
                          <a:latin typeface="Arial"/>
                        </a:rPr>
                        <a:t>đơn</a:t>
                      </a:r>
                      <a:r>
                        <a:rPr sz="1200" dirty="0">
                          <a:solidFill>
                            <a:srgbClr val="444B52"/>
                          </a:solidFill>
                          <a:latin typeface="Arial"/>
                        </a:rPr>
                        <a:t> + disclaimer</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4" name="TextBox 3"/>
          <p:cNvSpPr txBox="1"/>
          <p:nvPr/>
        </p:nvSpPr>
        <p:spPr>
          <a:xfrm>
            <a:off x="503072" y="126904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Train model:</a:t>
            </a:r>
            <a:endParaRPr lang="vi-VN" sz="1500" b="1" dirty="0">
              <a:solidFill>
                <a:srgbClr val="444B52"/>
              </a:solidFill>
              <a:latin typeface="Arial"/>
            </a:endParaRPr>
          </a:p>
        </p:txBody>
      </p:sp>
      <p:pic>
        <p:nvPicPr>
          <p:cNvPr id="5" name="Picture 4">
            <a:extLst>
              <a:ext uri="{FF2B5EF4-FFF2-40B4-BE49-F238E27FC236}">
                <a16:creationId xmlns:a16="http://schemas.microsoft.com/office/drawing/2014/main" id="{5FF91F1E-71BE-8A83-9973-9680D05967EF}"/>
              </a:ext>
            </a:extLst>
          </p:cNvPr>
          <p:cNvPicPr>
            <a:picLocks noChangeAspect="1"/>
          </p:cNvPicPr>
          <p:nvPr/>
        </p:nvPicPr>
        <p:blipFill>
          <a:blip r:embed="rId3"/>
          <a:stretch>
            <a:fillRect/>
          </a:stretch>
        </p:blipFill>
        <p:spPr>
          <a:xfrm>
            <a:off x="1528054" y="1702276"/>
            <a:ext cx="9135585" cy="38183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pic>
        <p:nvPicPr>
          <p:cNvPr id="8" name="Picture 7">
            <a:extLst>
              <a:ext uri="{FF2B5EF4-FFF2-40B4-BE49-F238E27FC236}">
                <a16:creationId xmlns:a16="http://schemas.microsoft.com/office/drawing/2014/main" id="{328D1180-5E79-E22E-3A27-DDABD3975723}"/>
              </a:ext>
            </a:extLst>
          </p:cNvPr>
          <p:cNvPicPr>
            <a:picLocks noChangeAspect="1"/>
          </p:cNvPicPr>
          <p:nvPr/>
        </p:nvPicPr>
        <p:blipFill>
          <a:blip r:embed="rId3"/>
          <a:stretch>
            <a:fillRect/>
          </a:stretch>
        </p:blipFill>
        <p:spPr>
          <a:xfrm>
            <a:off x="1992994" y="1538009"/>
            <a:ext cx="8205705" cy="4261128"/>
          </a:xfrm>
          <a:prstGeom prst="rect">
            <a:avLst/>
          </a:prstGeom>
        </p:spPr>
      </p:pic>
      <p:sp>
        <p:nvSpPr>
          <p:cNvPr id="3" name="TextBox 2">
            <a:extLst>
              <a:ext uri="{FF2B5EF4-FFF2-40B4-BE49-F238E27FC236}">
                <a16:creationId xmlns:a16="http://schemas.microsoft.com/office/drawing/2014/main" id="{02B2369E-F6DD-3374-483C-ED25CBC11465}"/>
              </a:ext>
            </a:extLst>
          </p:cNvPr>
          <p:cNvSpPr txBox="1"/>
          <p:nvPr/>
        </p:nvSpPr>
        <p:spPr>
          <a:xfrm>
            <a:off x="119006" y="5876049"/>
            <a:ext cx="9871028" cy="1123384"/>
          </a:xfrm>
          <a:prstGeom prst="rect">
            <a:avLst/>
          </a:prstGeom>
          <a:noFill/>
        </p:spPr>
        <p:txBody>
          <a:bodyPr wrap="square" rtlCol="0">
            <a:spAutoFit/>
          </a:bodyPr>
          <a:lstStyle/>
          <a:p>
            <a:pPr lvl="1">
              <a:spcAft>
                <a:spcPts val="400"/>
              </a:spcAft>
            </a:pPr>
            <a:r>
              <a:rPr lang="vi-VN" sz="1300" dirty="0">
                <a:solidFill>
                  <a:srgbClr val="444B52"/>
                </a:solidFill>
                <a:latin typeface="Arial"/>
              </a:rPr>
              <a:t>–  Khuyến nghị dựa trên RULE (bảng tra cứu tĩnh), không dùng ML</a:t>
            </a:r>
          </a:p>
          <a:p>
            <a:pPr lvl="1">
              <a:spcAft>
                <a:spcPts val="400"/>
              </a:spcAft>
            </a:pPr>
            <a:r>
              <a:rPr lang="vi-VN" sz="1300" dirty="0">
                <a:solidFill>
                  <a:srgbClr val="444B52"/>
                </a:solidFill>
                <a:latin typeface="Arial"/>
              </a:rPr>
              <a:t>–  Ánh xạ theo mức rủi ro (LOW/MODERATE/HIGH) từng bệnh + tổng thể</a:t>
            </a:r>
          </a:p>
          <a:p>
            <a:pPr lvl="1">
              <a:spcAft>
                <a:spcPts val="400"/>
              </a:spcAft>
            </a:pPr>
            <a:r>
              <a:rPr lang="vi-VN" sz="1300" dirty="0">
                <a:solidFill>
                  <a:srgbClr val="444B52"/>
                </a:solidFill>
                <a:latin typeface="Arial"/>
              </a:rPr>
              <a:t>–  Ưu điểm: minh bạch, kiểm soát được, an toàn — phù hợp y tế; luôn kèm disclaimer</a:t>
            </a:r>
          </a:p>
          <a:p>
            <a:endParaRPr lang="en-VN" dirty="0"/>
          </a:p>
        </p:txBody>
      </p:sp>
      <p:sp>
        <p:nvSpPr>
          <p:cNvPr id="7" name="TextBox 6">
            <a:extLst>
              <a:ext uri="{FF2B5EF4-FFF2-40B4-BE49-F238E27FC236}">
                <a16:creationId xmlns:a16="http://schemas.microsoft.com/office/drawing/2014/main" id="{973E3CCD-78EE-3A12-358D-46F18ECD2845}"/>
              </a:ext>
            </a:extLst>
          </p:cNvPr>
          <p:cNvSpPr txBox="1"/>
          <p:nvPr/>
        </p:nvSpPr>
        <p:spPr>
          <a:xfrm>
            <a:off x="502918" y="123023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App</a:t>
            </a:r>
            <a:r>
              <a:rPr lang="vi-VN" sz="1400" b="1" dirty="0">
                <a:solidFill>
                  <a:srgbClr val="1B8A7A"/>
                </a:solidFill>
                <a:latin typeface="Arial"/>
              </a:rPr>
              <a:t>:</a:t>
            </a:r>
          </a:p>
        </p:txBody>
      </p:sp>
    </p:spTree>
    <p:extLst>
      <p:ext uri="{BB962C8B-B14F-4D97-AF65-F5344CB8AC3E}">
        <p14:creationId xmlns:p14="http://schemas.microsoft.com/office/powerpoint/2010/main" val="1877805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a:t>
            </a:r>
            <a:r>
              <a:rPr sz="2600" b="1" dirty="0">
                <a:solidFill>
                  <a:srgbClr val="FFFFFF"/>
                </a:solidFill>
                <a:latin typeface="Arial"/>
              </a:rPr>
              <a:t>. </a:t>
            </a:r>
            <a:r>
              <a:rPr sz="2600" b="1" dirty="0" err="1">
                <a:solidFill>
                  <a:srgbClr val="FFFFFF"/>
                </a:solidFill>
                <a:latin typeface="Arial"/>
              </a:rPr>
              <a:t>Dữ</a:t>
            </a:r>
            <a:r>
              <a:rPr sz="2600" b="1" dirty="0">
                <a:solidFill>
                  <a:srgbClr val="FFFFFF"/>
                </a:solidFill>
                <a:latin typeface="Arial"/>
              </a:rPr>
              <a:t> </a:t>
            </a:r>
            <a:r>
              <a:rPr sz="2600" b="1" dirty="0" err="1">
                <a:solidFill>
                  <a:srgbClr val="FFFFFF"/>
                </a:solidFill>
                <a:latin typeface="Arial"/>
              </a:rPr>
              <a:t>liệ</a:t>
            </a:r>
            <a:r>
              <a:rPr lang="en-US" sz="2600" b="1" dirty="0" err="1">
                <a:solidFill>
                  <a:srgbClr val="FFFFFF"/>
                </a:solidFill>
                <a:latin typeface="Arial"/>
              </a:rPr>
              <a:t>u</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3" name="TextBox 2"/>
          <p:cNvSpPr txBox="1"/>
          <p:nvPr/>
        </p:nvSpPr>
        <p:spPr>
          <a:xfrm>
            <a:off x="502920" y="1289780"/>
            <a:ext cx="3647152" cy="323165"/>
          </a:xfrm>
          <a:prstGeom prst="rect">
            <a:avLst/>
          </a:prstGeom>
          <a:noFill/>
        </p:spPr>
        <p:txBody>
          <a:bodyPr wrap="none">
            <a:spAutoFit/>
          </a:bodyPr>
          <a:lstStyle/>
          <a:p>
            <a:r>
              <a:rPr sz="1500" b="1" dirty="0" err="1">
                <a:solidFill>
                  <a:srgbClr val="1B8A7A"/>
                </a:solidFill>
                <a:latin typeface="Arial"/>
              </a:rPr>
              <a:t>Dữ</a:t>
            </a:r>
            <a:r>
              <a:rPr sz="1500" b="1" dirty="0">
                <a:solidFill>
                  <a:srgbClr val="1B8A7A"/>
                </a:solidFill>
                <a:latin typeface="Arial"/>
              </a:rPr>
              <a:t> </a:t>
            </a:r>
            <a:r>
              <a:rPr sz="1500" b="1" dirty="0" err="1">
                <a:solidFill>
                  <a:srgbClr val="1B8A7A"/>
                </a:solidFill>
                <a:latin typeface="Arial"/>
              </a:rPr>
              <a:t>liệu</a:t>
            </a:r>
            <a:r>
              <a:rPr sz="1500" b="1" dirty="0">
                <a:solidFill>
                  <a:srgbClr val="1B8A7A"/>
                </a:solidFill>
                <a:latin typeface="Arial"/>
              </a:rPr>
              <a:t> &amp;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chất</a:t>
            </a:r>
            <a:r>
              <a:rPr sz="1500" b="1" dirty="0">
                <a:solidFill>
                  <a:srgbClr val="1B8A7A"/>
                </a:solidFill>
                <a:latin typeface="Arial"/>
              </a:rPr>
              <a:t> </a:t>
            </a:r>
            <a:r>
              <a:rPr sz="1500" b="1" dirty="0" err="1">
                <a:solidFill>
                  <a:srgbClr val="1B8A7A"/>
                </a:solidFill>
                <a:latin typeface="Arial"/>
              </a:rPr>
              <a:t>lượng</a:t>
            </a:r>
            <a:r>
              <a:rPr sz="1500" b="1" dirty="0">
                <a:solidFill>
                  <a:srgbClr val="1B8A7A"/>
                </a:solidFill>
                <a:latin typeface="Arial"/>
              </a:rPr>
              <a:t> </a:t>
            </a:r>
            <a:r>
              <a:rPr sz="1500" b="1" dirty="0" err="1">
                <a:solidFill>
                  <a:srgbClr val="1B8A7A"/>
                </a:solidFill>
                <a:latin typeface="Arial"/>
              </a:rPr>
              <a:t>nguồn</a:t>
            </a:r>
            <a:r>
              <a:rPr lang="vi-VN" sz="1500" b="1" dirty="0">
                <a:solidFill>
                  <a:srgbClr val="1B8A7A"/>
                </a:solidFill>
                <a:latin typeface="Arial"/>
              </a:rPr>
              <a:t>:</a:t>
            </a:r>
            <a:endParaRPr sz="1500" b="1" dirty="0">
              <a:solidFill>
                <a:srgbClr val="1B8A7A"/>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116995682"/>
              </p:ext>
            </p:extLst>
          </p:nvPr>
        </p:nvGraphicFramePr>
        <p:xfrm>
          <a:off x="518007" y="2234995"/>
          <a:ext cx="11155680" cy="12801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20040">
                <a:tc>
                  <a:txBody>
                    <a:bodyPr/>
                    <a:lstStyle/>
                    <a:p>
                      <a:r>
                        <a:rPr sz="1200" b="1">
                          <a:solidFill>
                            <a:srgbClr val="FFFFFF"/>
                          </a:solidFill>
                          <a:latin typeface="Arial"/>
                        </a:rPr>
                        <a:t>Bệnh</a:t>
                      </a:r>
                    </a:p>
                  </a:txBody>
                  <a:tcPr marL="73152" marR="73152" marT="27432" marB="27432" anchor="ctr">
                    <a:solidFill>
                      <a:srgbClr val="0F3D5E"/>
                    </a:solidFill>
                  </a:tcPr>
                </a:tc>
                <a:tc>
                  <a:txBody>
                    <a:bodyPr/>
                    <a:lstStyle/>
                    <a:p>
                      <a:r>
                        <a:rPr sz="1200" b="1" dirty="0" err="1">
                          <a:solidFill>
                            <a:srgbClr val="FFFFFF"/>
                          </a:solidFill>
                          <a:latin typeface="Arial"/>
                        </a:rPr>
                        <a:t>Bộ</a:t>
                      </a:r>
                      <a:r>
                        <a:rPr sz="1200" b="1" dirty="0">
                          <a:solidFill>
                            <a:srgbClr val="FFFFFF"/>
                          </a:solidFill>
                          <a:latin typeface="Arial"/>
                        </a:rPr>
                        <a:t> </a:t>
                      </a:r>
                      <a:r>
                        <a:rPr sz="1200" b="1" dirty="0" err="1">
                          <a:solidFill>
                            <a:srgbClr val="FFFFFF"/>
                          </a:solidFill>
                          <a:latin typeface="Arial"/>
                        </a:rPr>
                        <a:t>dữ</a:t>
                      </a:r>
                      <a:r>
                        <a:rPr sz="1200" b="1" dirty="0">
                          <a:solidFill>
                            <a:srgbClr val="FFFFFF"/>
                          </a:solidFill>
                          <a:latin typeface="Arial"/>
                        </a:rPr>
                        <a:t> </a:t>
                      </a:r>
                      <a:r>
                        <a:rPr sz="1200" b="1" dirty="0" err="1">
                          <a:solidFill>
                            <a:srgbClr val="FFFFFF"/>
                          </a:solidFill>
                          <a:latin typeface="Arial"/>
                        </a:rPr>
                        <a:t>liệu</a:t>
                      </a:r>
                      <a:endParaRPr sz="1200" b="1" dirty="0">
                        <a:solidFill>
                          <a:srgbClr val="FFFFFF"/>
                        </a:solidFill>
                        <a:latin typeface="Arial"/>
                      </a:endParaRPr>
                    </a:p>
                  </a:txBody>
                  <a:tcPr marL="73152" marR="73152" marT="27432" marB="27432" anchor="ctr">
                    <a:solidFill>
                      <a:srgbClr val="0F3D5E"/>
                    </a:solidFill>
                  </a:tcPr>
                </a:tc>
                <a:tc>
                  <a:txBody>
                    <a:bodyPr/>
                    <a:lstStyle/>
                    <a:p>
                      <a:r>
                        <a:rPr sz="1200" b="1">
                          <a:solidFill>
                            <a:srgbClr val="FFFFFF"/>
                          </a:solidFill>
                          <a:latin typeface="Arial"/>
                        </a:rPr>
                        <a:t>Số dòng</a:t>
                      </a:r>
                    </a:p>
                  </a:txBody>
                  <a:tcPr marL="73152" marR="73152" marT="27432" marB="27432" anchor="ctr">
                    <a:solidFill>
                      <a:srgbClr val="0F3D5E"/>
                    </a:solidFill>
                  </a:tcPr>
                </a:tc>
                <a:tc>
                  <a:txBody>
                    <a:bodyPr/>
                    <a:lstStyle/>
                    <a:p>
                      <a:r>
                        <a:rPr sz="1200" b="1">
                          <a:solidFill>
                            <a:srgbClr val="FFFFFF"/>
                          </a:solidFill>
                          <a:latin typeface="Arial"/>
                        </a:rPr>
                        <a:t>Đặc trưng</a:t>
                      </a:r>
                    </a:p>
                  </a:txBody>
                  <a:tcPr marL="73152" marR="73152" marT="27432" marB="27432" anchor="ctr">
                    <a:solidFill>
                      <a:srgbClr val="0F3D5E"/>
                    </a:solidFill>
                  </a:tcPr>
                </a:tc>
                <a:tc>
                  <a:txBody>
                    <a:bodyPr/>
                    <a:lstStyle/>
                    <a:p>
                      <a:r>
                        <a:rPr sz="1200" b="1">
                          <a:solidFill>
                            <a:srgbClr val="FFFFFF"/>
                          </a:solidFill>
                          <a:latin typeface="Arial"/>
                        </a:rPr>
                        <a:t>Nhãn</a:t>
                      </a:r>
                    </a:p>
                  </a:txBody>
                  <a:tcPr marL="73152" marR="73152" marT="27432" marB="27432" anchor="ctr">
                    <a:solidFill>
                      <a:srgbClr val="0F3D5E"/>
                    </a:solidFill>
                  </a:tcPr>
                </a:tc>
                <a:extLst>
                  <a:ext uri="{0D108BD9-81ED-4DB2-BD59-A6C34878D82A}">
                    <a16:rowId xmlns:a16="http://schemas.microsoft.com/office/drawing/2014/main" val="10000"/>
                  </a:ext>
                </a:extLst>
              </a:tr>
              <a:tr h="320040">
                <a:tc>
                  <a:txBody>
                    <a:bodyPr/>
                    <a:lstStyle/>
                    <a:p>
                      <a:r>
                        <a:rPr sz="1200">
                          <a:solidFill>
                            <a:srgbClr val="444B52"/>
                          </a:solidFill>
                          <a:latin typeface="Arial"/>
                        </a:rPr>
                        <a:t>Tim mạch</a:t>
                      </a:r>
                    </a:p>
                  </a:txBody>
                  <a:tcPr marL="73152" marR="73152" marT="27432" marB="27432" anchor="ctr">
                    <a:solidFill>
                      <a:srgbClr val="FFFFFF"/>
                    </a:solidFill>
                  </a:tcPr>
                </a:tc>
                <a:tc>
                  <a:txBody>
                    <a:bodyPr/>
                    <a:lstStyle/>
                    <a:p>
                      <a:r>
                        <a:rPr sz="1200" dirty="0">
                          <a:solidFill>
                            <a:srgbClr val="444B52"/>
                          </a:solidFill>
                          <a:latin typeface="Arial"/>
                        </a:rPr>
                        <a:t>Cardiovascular Disease (Kaggle)</a:t>
                      </a:r>
                    </a:p>
                  </a:txBody>
                  <a:tcPr marL="73152" marR="73152" marT="27432" marB="27432" anchor="ctr">
                    <a:solidFill>
                      <a:srgbClr val="FFFFFF"/>
                    </a:solidFill>
                  </a:tcPr>
                </a:tc>
                <a:tc>
                  <a:txBody>
                    <a:bodyPr/>
                    <a:lstStyle/>
                    <a:p>
                      <a:r>
                        <a:rPr sz="1200">
                          <a:solidFill>
                            <a:srgbClr val="444B52"/>
                          </a:solidFill>
                          <a:latin typeface="Arial"/>
                        </a:rPr>
                        <a:t>70.000</a:t>
                      </a:r>
                    </a:p>
                  </a:txBody>
                  <a:tcPr marL="73152" marR="73152" marT="27432" marB="27432" anchor="ctr">
                    <a:solidFill>
                      <a:srgbClr val="FFFFFF"/>
                    </a:solidFill>
                  </a:tcPr>
                </a:tc>
                <a:tc>
                  <a:txBody>
                    <a:bodyPr/>
                    <a:lstStyle/>
                    <a:p>
                      <a:r>
                        <a:rPr sz="1200">
                          <a:solidFill>
                            <a:srgbClr val="444B52"/>
                          </a:solidFill>
                          <a:latin typeface="Arial"/>
                        </a:rPr>
                        <a:t>11</a:t>
                      </a:r>
                    </a:p>
                  </a:txBody>
                  <a:tcPr marL="73152" marR="73152" marT="27432" marB="27432" anchor="ctr">
                    <a:solidFill>
                      <a:srgbClr val="FFFFFF"/>
                    </a:solidFill>
                  </a:tcPr>
                </a:tc>
                <a:tc>
                  <a:txBody>
                    <a:bodyPr/>
                    <a:lstStyle/>
                    <a:p>
                      <a:r>
                        <a:rPr sz="1200">
                          <a:solidFill>
                            <a:srgbClr val="444B52"/>
                          </a:solidFill>
                          <a:latin typeface="Arial"/>
                        </a:rPr>
                        <a:t>cardio</a:t>
                      </a:r>
                    </a:p>
                  </a:txBody>
                  <a:tcPr marL="73152" marR="73152" marT="27432" marB="27432" anchor="ctr">
                    <a:solidFill>
                      <a:srgbClr val="FFFFFF"/>
                    </a:solidFill>
                  </a:tcPr>
                </a:tc>
                <a:extLst>
                  <a:ext uri="{0D108BD9-81ED-4DB2-BD59-A6C34878D82A}">
                    <a16:rowId xmlns:a16="http://schemas.microsoft.com/office/drawing/2014/main" val="10001"/>
                  </a:ext>
                </a:extLst>
              </a:tr>
              <a:tr h="320040">
                <a:tc>
                  <a:txBody>
                    <a:bodyPr/>
                    <a:lstStyle/>
                    <a:p>
                      <a:r>
                        <a:rPr sz="1200">
                          <a:solidFill>
                            <a:srgbClr val="444B52"/>
                          </a:solidFill>
                          <a:latin typeface="Arial"/>
                        </a:rPr>
                        <a:t>Tiểu đường</a:t>
                      </a:r>
                    </a:p>
                  </a:txBody>
                  <a:tcPr marL="73152" marR="73152" marT="27432" marB="27432" anchor="ctr">
                    <a:solidFill>
                      <a:srgbClr val="EAF2F6"/>
                    </a:solidFill>
                  </a:tcPr>
                </a:tc>
                <a:tc>
                  <a:txBody>
                    <a:bodyPr/>
                    <a:lstStyle/>
                    <a:p>
                      <a:r>
                        <a:rPr sz="1200" dirty="0">
                          <a:solidFill>
                            <a:srgbClr val="444B52"/>
                          </a:solidFill>
                          <a:latin typeface="Arial"/>
                        </a:rPr>
                        <a:t>Pima Indians Diabetes</a:t>
                      </a:r>
                    </a:p>
                  </a:txBody>
                  <a:tcPr marL="73152" marR="73152" marT="27432" marB="27432" anchor="ctr">
                    <a:solidFill>
                      <a:srgbClr val="EAF2F6"/>
                    </a:solidFill>
                  </a:tcPr>
                </a:tc>
                <a:tc>
                  <a:txBody>
                    <a:bodyPr/>
                    <a:lstStyle/>
                    <a:p>
                      <a:r>
                        <a:rPr sz="1200">
                          <a:solidFill>
                            <a:srgbClr val="444B52"/>
                          </a:solidFill>
                          <a:latin typeface="Arial"/>
                        </a:rPr>
                        <a:t>768</a:t>
                      </a:r>
                    </a:p>
                  </a:txBody>
                  <a:tcPr marL="73152" marR="73152" marT="27432" marB="27432" anchor="ctr">
                    <a:solidFill>
                      <a:srgbClr val="EAF2F6"/>
                    </a:solidFill>
                  </a:tcPr>
                </a:tc>
                <a:tc>
                  <a:txBody>
                    <a:bodyPr/>
                    <a:lstStyle/>
                    <a:p>
                      <a:r>
                        <a:rPr sz="1200">
                          <a:solidFill>
                            <a:srgbClr val="444B52"/>
                          </a:solidFill>
                          <a:latin typeface="Arial"/>
                        </a:rPr>
                        <a:t>8</a:t>
                      </a:r>
                    </a:p>
                  </a:txBody>
                  <a:tcPr marL="73152" marR="73152" marT="27432" marB="27432" anchor="ctr">
                    <a:solidFill>
                      <a:srgbClr val="EAF2F6"/>
                    </a:solidFill>
                  </a:tcPr>
                </a:tc>
                <a:tc>
                  <a:txBody>
                    <a:bodyPr/>
                    <a:lstStyle/>
                    <a:p>
                      <a:r>
                        <a:rPr sz="1200" dirty="0">
                          <a:solidFill>
                            <a:srgbClr val="444B52"/>
                          </a:solidFill>
                          <a:latin typeface="Arial"/>
                        </a:rPr>
                        <a:t>Outcome</a:t>
                      </a:r>
                    </a:p>
                  </a:txBody>
                  <a:tcPr marL="73152" marR="73152" marT="27432" marB="27432" anchor="ctr">
                    <a:solidFill>
                      <a:srgbClr val="EAF2F6"/>
                    </a:solidFill>
                  </a:tcPr>
                </a:tc>
                <a:extLst>
                  <a:ext uri="{0D108BD9-81ED-4DB2-BD59-A6C34878D82A}">
                    <a16:rowId xmlns:a16="http://schemas.microsoft.com/office/drawing/2014/main" val="10002"/>
                  </a:ext>
                </a:extLst>
              </a:tr>
              <a:tr h="320040">
                <a:tc>
                  <a:txBody>
                    <a:bodyPr/>
                    <a:lstStyle/>
                    <a:p>
                      <a:r>
                        <a:rPr sz="1200">
                          <a:solidFill>
                            <a:srgbClr val="444B52"/>
                          </a:solidFill>
                          <a:latin typeface="Arial"/>
                        </a:rPr>
                        <a:t>Tăng huyết áp</a:t>
                      </a:r>
                    </a:p>
                  </a:txBody>
                  <a:tcPr marL="73152" marR="73152" marT="27432" marB="27432" anchor="ctr">
                    <a:solidFill>
                      <a:srgbClr val="FFFFFF"/>
                    </a:solidFill>
                  </a:tcPr>
                </a:tc>
                <a:tc>
                  <a:txBody>
                    <a:bodyPr/>
                    <a:lstStyle/>
                    <a:p>
                      <a:r>
                        <a:rPr sz="1200" dirty="0">
                          <a:solidFill>
                            <a:srgbClr val="444B52"/>
                          </a:solidFill>
                          <a:latin typeface="Arial"/>
                        </a:rPr>
                        <a:t>Framingham Heart Study</a:t>
                      </a:r>
                    </a:p>
                  </a:txBody>
                  <a:tcPr marL="73152" marR="73152" marT="27432" marB="27432" anchor="ctr">
                    <a:solidFill>
                      <a:srgbClr val="FFFFFF"/>
                    </a:solidFill>
                  </a:tcPr>
                </a:tc>
                <a:tc>
                  <a:txBody>
                    <a:bodyPr/>
                    <a:lstStyle/>
                    <a:p>
                      <a:r>
                        <a:rPr sz="1200">
                          <a:solidFill>
                            <a:srgbClr val="444B52"/>
                          </a:solidFill>
                          <a:latin typeface="Arial"/>
                        </a:rPr>
                        <a:t>4.240</a:t>
                      </a:r>
                    </a:p>
                  </a:txBody>
                  <a:tcPr marL="73152" marR="73152" marT="27432" marB="27432" anchor="ctr">
                    <a:solidFill>
                      <a:srgbClr val="FFFFFF"/>
                    </a:solidFill>
                  </a:tcPr>
                </a:tc>
                <a:tc>
                  <a:txBody>
                    <a:bodyPr/>
                    <a:lstStyle/>
                    <a:p>
                      <a:r>
                        <a:rPr sz="1200">
                          <a:solidFill>
                            <a:srgbClr val="444B52"/>
                          </a:solidFill>
                          <a:latin typeface="Arial"/>
                        </a:rPr>
                        <a:t>12</a:t>
                      </a:r>
                    </a:p>
                  </a:txBody>
                  <a:tcPr marL="73152" marR="73152" marT="27432" marB="27432" anchor="ctr">
                    <a:solidFill>
                      <a:srgbClr val="FFFFFF"/>
                    </a:solidFill>
                  </a:tcPr>
                </a:tc>
                <a:tc>
                  <a:txBody>
                    <a:bodyPr/>
                    <a:lstStyle/>
                    <a:p>
                      <a:r>
                        <a:rPr sz="1200" dirty="0">
                          <a:solidFill>
                            <a:srgbClr val="444B52"/>
                          </a:solidFill>
                          <a:latin typeface="Arial"/>
                        </a:rPr>
                        <a:t>Risk</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02920" y="3976208"/>
            <a:ext cx="11185855" cy="1690206"/>
          </a:xfrm>
          <a:prstGeom prst="rect">
            <a:avLst/>
          </a:prstGeom>
          <a:noFill/>
        </p:spPr>
        <p:txBody>
          <a:bodyPr wrap="square">
            <a:spAutoFit/>
          </a:bodyPr>
          <a:lstStyle/>
          <a:p>
            <a:pPr>
              <a:spcAft>
                <a:spcPts val="400"/>
              </a:spcAft>
            </a:pPr>
            <a:r>
              <a:rPr lang="en-VN" sz="1400" dirty="0"/>
              <a:t>Nguồn dữ liệu là các dataset công khai trên Kaggle. Nhóm thực hiện kiểm tra chất lượng, tính phù hợp và đặc điểm của từng bộ dữ liệu trước khi sử dụng cho huấn luyện mô hình</a:t>
            </a:r>
            <a:br>
              <a:rPr lang="en-VN" sz="1400" dirty="0"/>
            </a:br>
            <a:endParaRPr lang="vi-VN" sz="1250" dirty="0">
              <a:solidFill>
                <a:srgbClr val="444B52"/>
              </a:solidFill>
              <a:latin typeface="Arial"/>
            </a:endParaRPr>
          </a:p>
          <a:p>
            <a:pPr>
              <a:spcAft>
                <a:spcPts val="400"/>
              </a:spcAft>
            </a:pPr>
            <a:r>
              <a:rPr lang="vi-VN" sz="1250" dirty="0">
                <a:solidFill>
                  <a:srgbClr val="444B52"/>
                </a:solidFill>
                <a:latin typeface="Arial"/>
              </a:rPr>
              <a:t>Nguồn:</a:t>
            </a:r>
          </a:p>
          <a:p>
            <a:pPr>
              <a:spcAft>
                <a:spcPts val="400"/>
              </a:spcAft>
            </a:pPr>
            <a:r>
              <a:rPr lang="vi-VN" sz="1250" dirty="0">
                <a:solidFill>
                  <a:srgbClr val="444B52"/>
                </a:solidFill>
                <a:latin typeface="Arial"/>
                <a:hlinkClick r:id="rId3"/>
              </a:rPr>
              <a:t>http://kaggle.com/datasets/jamaltariqcheema/pima-indians-diabetes-dataset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4"/>
              </a:rPr>
              <a:t>https://www.kaggle.com/datasets/sulianova/cardiovascular-disease-dataset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5"/>
              </a:rPr>
              <a:t>https://www.kaggle.com/datasets/khan1803115/hypertension-risk-model-main</a:t>
            </a:r>
            <a:endParaRPr lang="vi-VN" sz="1250" dirty="0">
              <a:solidFill>
                <a:srgbClr val="444B52"/>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5</a:t>
            </a:r>
            <a:r>
              <a:rPr sz="2600" b="1" dirty="0">
                <a:solidFill>
                  <a:srgbClr val="FFFFFF"/>
                </a:solidFill>
                <a:latin typeface="Arial"/>
              </a:rPr>
              <a:t>. Dem</a:t>
            </a:r>
            <a:r>
              <a:rPr lang="vi-VN" sz="2600" b="1" dirty="0">
                <a:solidFill>
                  <a:srgbClr val="FFFFFF"/>
                </a:solidFill>
                <a:latin typeface="Arial"/>
              </a:rPr>
              <a:t>o</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20" y="1325880"/>
            <a:ext cx="11185855" cy="1192634"/>
          </a:xfrm>
          <a:prstGeom prst="rect">
            <a:avLst/>
          </a:prstGeom>
          <a:noFill/>
        </p:spPr>
        <p:txBody>
          <a:bodyPr wrap="square">
            <a:spAutoFit/>
          </a:bodyPr>
          <a:lstStyle/>
          <a:p>
            <a:pPr>
              <a:spcAft>
                <a:spcPts val="500"/>
              </a:spcAft>
            </a:pPr>
            <a:r>
              <a:rPr lang="vi-VN" sz="1500" b="1" dirty="0">
                <a:solidFill>
                  <a:srgbClr val="1B8A7A"/>
                </a:solidFill>
                <a:latin typeface="Arial"/>
              </a:rPr>
              <a:t>1 -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3 </a:t>
            </a:r>
            <a:r>
              <a:rPr sz="1500" b="1" dirty="0" err="1">
                <a:solidFill>
                  <a:srgbClr val="1B8A7A"/>
                </a:solidFill>
                <a:latin typeface="Arial"/>
              </a:rPr>
              <a:t>bệnh</a:t>
            </a:r>
            <a:r>
              <a:rPr sz="1500" b="1" dirty="0">
                <a:solidFill>
                  <a:srgbClr val="1B8A7A"/>
                </a:solidFill>
                <a:latin typeface="Arial"/>
              </a:rPr>
              <a:t> </a:t>
            </a:r>
            <a:r>
              <a:rPr sz="1500" b="1" dirty="0" err="1">
                <a:solidFill>
                  <a:srgbClr val="1B8A7A"/>
                </a:solidFill>
                <a:latin typeface="Arial"/>
              </a:rPr>
              <a:t>mãn</a:t>
            </a:r>
            <a:r>
              <a:rPr sz="1500" b="1" dirty="0">
                <a:solidFill>
                  <a:srgbClr val="1B8A7A"/>
                </a:solidFill>
                <a:latin typeface="Arial"/>
              </a:rPr>
              <a:t> </a:t>
            </a:r>
            <a:r>
              <a:rPr sz="1500" b="1" dirty="0" err="1">
                <a:solidFill>
                  <a:srgbClr val="1B8A7A"/>
                </a:solidFill>
                <a:latin typeface="Arial"/>
              </a:rPr>
              <a:t>tính</a:t>
            </a:r>
            <a:endParaRPr lang="en-US" sz="1500" b="1" dirty="0">
              <a:solidFill>
                <a:srgbClr val="1B8A7A"/>
              </a:solidFill>
              <a:latin typeface="Arial"/>
            </a:endParaRPr>
          </a:p>
          <a:p>
            <a:pPr>
              <a:spcAft>
                <a:spcPts val="500"/>
              </a:spcAft>
            </a:pPr>
            <a:r>
              <a:rPr lang="en-US" sz="1500" b="1" dirty="0">
                <a:solidFill>
                  <a:srgbClr val="1B8A7A"/>
                </a:solidFill>
                <a:latin typeface="Arial"/>
              </a:rPr>
              <a:t>2 - </a:t>
            </a:r>
            <a:r>
              <a:rPr lang="en-US" sz="1500" b="1" dirty="0" err="1">
                <a:solidFill>
                  <a:srgbClr val="1B8A7A"/>
                </a:solidFill>
                <a:latin typeface="Arial"/>
              </a:rPr>
              <a:t>Khuyến</a:t>
            </a:r>
            <a:r>
              <a:rPr lang="en-US" sz="1500" b="1" dirty="0">
                <a:solidFill>
                  <a:srgbClr val="1B8A7A"/>
                </a:solidFill>
                <a:latin typeface="Arial"/>
              </a:rPr>
              <a:t> </a:t>
            </a:r>
            <a:r>
              <a:rPr lang="en-US" sz="1500" b="1" dirty="0" err="1">
                <a:solidFill>
                  <a:srgbClr val="1B8A7A"/>
                </a:solidFill>
                <a:latin typeface="Arial"/>
              </a:rPr>
              <a:t>nghị</a:t>
            </a:r>
            <a:endParaRPr lang="en-US" sz="1500" b="1" dirty="0">
              <a:solidFill>
                <a:srgbClr val="1B8A7A"/>
              </a:solidFill>
              <a:latin typeface="Arial"/>
            </a:endParaRPr>
          </a:p>
          <a:p>
            <a:pPr>
              <a:spcAft>
                <a:spcPts val="500"/>
              </a:spcAft>
            </a:pPr>
            <a:r>
              <a:rPr lang="en-US" sz="1500" b="1" dirty="0">
                <a:solidFill>
                  <a:srgbClr val="1B8A7A"/>
                </a:solidFill>
                <a:latin typeface="Arial"/>
              </a:rPr>
              <a:t>3 - CRUD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bệnh</a:t>
            </a:r>
            <a:r>
              <a:rPr lang="en-US" sz="1500" b="1" dirty="0">
                <a:solidFill>
                  <a:srgbClr val="1B8A7A"/>
                </a:solidFill>
                <a:latin typeface="Arial"/>
              </a:rPr>
              <a:t> </a:t>
            </a:r>
            <a:r>
              <a:rPr lang="en-US" sz="1500" b="1" dirty="0" err="1">
                <a:solidFill>
                  <a:srgbClr val="1B8A7A"/>
                </a:solidFill>
                <a:latin typeface="Arial"/>
              </a:rPr>
              <a:t>nhân</a:t>
            </a:r>
            <a:r>
              <a:rPr lang="en-US" sz="1500" b="1" dirty="0">
                <a:solidFill>
                  <a:srgbClr val="1B8A7A"/>
                </a:solidFill>
                <a:latin typeface="Arial"/>
              </a:rPr>
              <a:t> </a:t>
            </a:r>
            <a:r>
              <a:rPr lang="en-US" sz="1500" b="1" dirty="0" err="1">
                <a:solidFill>
                  <a:srgbClr val="1B8A7A"/>
                </a:solidFill>
                <a:latin typeface="Arial"/>
              </a:rPr>
              <a:t>và</a:t>
            </a:r>
            <a:r>
              <a:rPr lang="en-US" sz="1500" b="1" dirty="0">
                <a:solidFill>
                  <a:srgbClr val="1B8A7A"/>
                </a:solidFill>
                <a:latin typeface="Arial"/>
              </a:rPr>
              <a:t>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đo</a:t>
            </a:r>
            <a:r>
              <a:rPr lang="en-US" sz="1500" b="1" dirty="0">
                <a:solidFill>
                  <a:srgbClr val="1B8A7A"/>
                </a:solidFill>
                <a:latin typeface="Arial"/>
              </a:rPr>
              <a:t> </a:t>
            </a:r>
            <a:r>
              <a:rPr lang="en-US" sz="1500" b="1" dirty="0" err="1">
                <a:solidFill>
                  <a:srgbClr val="1B8A7A"/>
                </a:solidFill>
                <a:latin typeface="Arial"/>
              </a:rPr>
              <a:t>sức</a:t>
            </a:r>
            <a:r>
              <a:rPr lang="en-US" sz="1500" b="1" dirty="0">
                <a:solidFill>
                  <a:srgbClr val="1B8A7A"/>
                </a:solidFill>
                <a:latin typeface="Arial"/>
              </a:rPr>
              <a:t> </a:t>
            </a:r>
            <a:r>
              <a:rPr lang="en-US" sz="1500" b="1" dirty="0" err="1">
                <a:solidFill>
                  <a:srgbClr val="1B8A7A"/>
                </a:solidFill>
                <a:latin typeface="Arial"/>
              </a:rPr>
              <a:t>khoẻ</a:t>
            </a:r>
            <a:endParaRPr lang="en-US" sz="1500" b="1" dirty="0">
              <a:solidFill>
                <a:srgbClr val="1B8A7A"/>
              </a:solidFill>
              <a:latin typeface="Arial"/>
            </a:endParaRPr>
          </a:p>
          <a:p>
            <a:pPr lvl="1">
              <a:spcAft>
                <a:spcPts val="500"/>
              </a:spcAft>
            </a:pPr>
            <a:endParaRPr lang="vi-VN" sz="1400" dirty="0">
              <a:solidFill>
                <a:srgbClr val="444B52"/>
              </a:solidFill>
              <a:latin typeface="Arial"/>
            </a:endParaRPr>
          </a:p>
        </p:txBody>
      </p:sp>
      <p:pic>
        <p:nvPicPr>
          <p:cNvPr id="5" name="Picture 4">
            <a:extLst>
              <a:ext uri="{FF2B5EF4-FFF2-40B4-BE49-F238E27FC236}">
                <a16:creationId xmlns:a16="http://schemas.microsoft.com/office/drawing/2014/main" id="{03E4DB9C-CCBF-6763-FF37-4C651DDB31E8}"/>
              </a:ext>
            </a:extLst>
          </p:cNvPr>
          <p:cNvPicPr>
            <a:picLocks noChangeAspect="1"/>
          </p:cNvPicPr>
          <p:nvPr/>
        </p:nvPicPr>
        <p:blipFill>
          <a:blip r:embed="rId3"/>
          <a:stretch>
            <a:fillRect/>
          </a:stretch>
        </p:blipFill>
        <p:spPr>
          <a:xfrm>
            <a:off x="2467880" y="2438271"/>
            <a:ext cx="7255934" cy="421163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6</a:t>
            </a:r>
            <a:r>
              <a:rPr sz="2600" b="1" dirty="0">
                <a:solidFill>
                  <a:srgbClr val="FFFFFF"/>
                </a:solidFill>
                <a:latin typeface="Arial"/>
              </a:rPr>
              <a:t>. </a:t>
            </a:r>
            <a:r>
              <a:rPr sz="2600" b="1" dirty="0" err="1">
                <a:solidFill>
                  <a:srgbClr val="FFFFFF"/>
                </a:solidFill>
                <a:latin typeface="Arial"/>
              </a:rPr>
              <a:t>Hạn</a:t>
            </a:r>
            <a:r>
              <a:rPr sz="2600" b="1" dirty="0">
                <a:solidFill>
                  <a:srgbClr val="FFFFFF"/>
                </a:solidFill>
                <a:latin typeface="Arial"/>
              </a:rPr>
              <a:t> </a:t>
            </a:r>
            <a:r>
              <a:rPr sz="2600" b="1" dirty="0" err="1">
                <a:solidFill>
                  <a:srgbClr val="FFFFFF"/>
                </a:solidFill>
                <a:latin typeface="Arial"/>
              </a:rPr>
              <a:t>chế</a:t>
            </a:r>
            <a:r>
              <a:rPr sz="2600" b="1" dirty="0">
                <a:solidFill>
                  <a:srgbClr val="FFFFFF"/>
                </a:solidFill>
                <a:latin typeface="Arial"/>
              </a:rPr>
              <a:t> &amp; </a:t>
            </a:r>
            <a:r>
              <a:rPr sz="2600" b="1" dirty="0" err="1">
                <a:solidFill>
                  <a:srgbClr val="FFFFFF"/>
                </a:solidFill>
                <a:latin typeface="Arial"/>
              </a:rPr>
              <a:t>Hướng</a:t>
            </a:r>
            <a:r>
              <a:rPr sz="2600" b="1" dirty="0">
                <a:solidFill>
                  <a:srgbClr val="FFFFFF"/>
                </a:solidFill>
                <a:latin typeface="Arial"/>
              </a:rPr>
              <a:t> </a:t>
            </a:r>
            <a:r>
              <a:rPr sz="2600" b="1" dirty="0" err="1">
                <a:solidFill>
                  <a:srgbClr val="FFFFFF"/>
                </a:solidFill>
                <a:latin typeface="Arial"/>
              </a:rPr>
              <a:t>cải</a:t>
            </a:r>
            <a:r>
              <a:rPr sz="2600" b="1" dirty="0">
                <a:solidFill>
                  <a:srgbClr val="FFFFFF"/>
                </a:solidFill>
                <a:latin typeface="Arial"/>
              </a:rPr>
              <a:t> </a:t>
            </a:r>
            <a:r>
              <a:rPr sz="2600" b="1" dirty="0" err="1">
                <a:solidFill>
                  <a:srgbClr val="FFFFFF"/>
                </a:solidFill>
                <a:latin typeface="Arial"/>
              </a:rPr>
              <a:t>thiện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19" y="1656080"/>
            <a:ext cx="11185855" cy="2662267"/>
          </a:xfrm>
          <a:prstGeom prst="rect">
            <a:avLst/>
          </a:prstGeom>
          <a:noFill/>
        </p:spPr>
        <p:txBody>
          <a:bodyPr wrap="square">
            <a:spAutoFit/>
          </a:bodyPr>
          <a:lstStyle/>
          <a:p>
            <a:pPr>
              <a:spcAft>
                <a:spcPts val="500"/>
              </a:spcAft>
            </a:pPr>
            <a:r>
              <a:rPr sz="1500" b="1" dirty="0">
                <a:solidFill>
                  <a:srgbClr val="1B8A7A"/>
                </a:solidFill>
                <a:latin typeface="Arial"/>
              </a:rPr>
              <a:t>•  </a:t>
            </a:r>
            <a:r>
              <a:rPr sz="1500" b="1" dirty="0" err="1">
                <a:solidFill>
                  <a:srgbClr val="1B8A7A"/>
                </a:solidFill>
                <a:latin typeface="Arial"/>
              </a:rPr>
              <a:t>Hạn</a:t>
            </a:r>
            <a:r>
              <a:rPr sz="1500" b="1" dirty="0">
                <a:solidFill>
                  <a:srgbClr val="1B8A7A"/>
                </a:solidFill>
                <a:latin typeface="Arial"/>
              </a:rPr>
              <a:t> </a:t>
            </a:r>
            <a:r>
              <a:rPr sz="1500" b="1" dirty="0" err="1">
                <a:solidFill>
                  <a:srgbClr val="1B8A7A"/>
                </a:solidFill>
                <a:latin typeface="Arial"/>
              </a:rPr>
              <a:t>chế</a:t>
            </a:r>
            <a:r>
              <a:rPr sz="1500" b="1" dirty="0">
                <a:solidFill>
                  <a:srgbClr val="1B8A7A"/>
                </a:solidFill>
                <a:latin typeface="Arial"/>
              </a:rPr>
              <a:t> </a:t>
            </a:r>
            <a:r>
              <a:rPr sz="1500" b="1" dirty="0" err="1">
                <a:solidFill>
                  <a:srgbClr val="1B8A7A"/>
                </a:solidFill>
                <a:latin typeface="Arial"/>
              </a:rPr>
              <a:t>hiện</a:t>
            </a:r>
            <a:r>
              <a:rPr sz="1500" b="1" dirty="0">
                <a:solidFill>
                  <a:srgbClr val="1B8A7A"/>
                </a:solidFill>
                <a:latin typeface="Arial"/>
              </a:rPr>
              <a:t> </a:t>
            </a:r>
            <a:r>
              <a:rPr sz="1500" b="1" dirty="0" err="1">
                <a:solidFill>
                  <a:srgbClr val="1B8A7A"/>
                </a:solidFill>
                <a:latin typeface="Arial"/>
              </a:rPr>
              <a:t>tại</a:t>
            </a:r>
            <a:r>
              <a:rPr sz="1500" b="1" dirty="0">
                <a:solidFill>
                  <a:srgbClr val="1B8A7A"/>
                </a:solidFill>
                <a:latin typeface="Arial"/>
              </a:rPr>
              <a:t>:</a:t>
            </a:r>
          </a:p>
          <a:p>
            <a:pPr lvl="1">
              <a:spcAft>
                <a:spcPts val="500"/>
              </a:spcAft>
            </a:pPr>
            <a:r>
              <a:rPr sz="1400" dirty="0">
                <a:solidFill>
                  <a:srgbClr val="444B52"/>
                </a:solidFill>
                <a:latin typeface="Arial"/>
              </a:rPr>
              <a:t>–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là</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 </a:t>
            </a:r>
            <a:r>
              <a:rPr sz="1400" dirty="0" err="1">
                <a:solidFill>
                  <a:srgbClr val="444B52"/>
                </a:solidFill>
                <a:latin typeface="Arial"/>
              </a:rPr>
              <a:t>ngoại</a:t>
            </a:r>
            <a:r>
              <a:rPr sz="1400" dirty="0">
                <a:solidFill>
                  <a:srgbClr val="444B52"/>
                </a:solidFill>
                <a:latin typeface="Arial"/>
              </a:rPr>
              <a:t>, </a:t>
            </a:r>
            <a:r>
              <a:rPr sz="1400" dirty="0" err="1">
                <a:solidFill>
                  <a:srgbClr val="444B52"/>
                </a:solidFill>
                <a:latin typeface="Arial"/>
              </a:rPr>
              <a:t>nguy</a:t>
            </a:r>
            <a:r>
              <a:rPr sz="1400" dirty="0">
                <a:solidFill>
                  <a:srgbClr val="444B52"/>
                </a:solidFill>
                <a:latin typeface="Arial"/>
              </a:rPr>
              <a:t> </a:t>
            </a:r>
            <a:r>
              <a:rPr sz="1400" dirty="0" err="1">
                <a:solidFill>
                  <a:srgbClr val="444B52"/>
                </a:solidFill>
                <a:latin typeface="Arial"/>
              </a:rPr>
              <a:t>cơ</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phân</a:t>
            </a:r>
            <a:r>
              <a:rPr sz="1400" dirty="0">
                <a:solidFill>
                  <a:srgbClr val="444B52"/>
                </a:solidFill>
                <a:latin typeface="Arial"/>
              </a:rPr>
              <a:t> </a:t>
            </a:r>
            <a:r>
              <a:rPr sz="1400" dirty="0" err="1">
                <a:solidFill>
                  <a:srgbClr val="444B52"/>
                </a:solidFill>
                <a:latin typeface="Arial"/>
              </a:rPr>
              <a:t>phối</a:t>
            </a:r>
            <a:r>
              <a:rPr sz="1400" dirty="0">
                <a:solidFill>
                  <a:srgbClr val="444B52"/>
                </a:solidFill>
                <a:latin typeface="Arial"/>
              </a:rPr>
              <a:t> </a:t>
            </a:r>
            <a:r>
              <a:rPr sz="1400" dirty="0" err="1">
                <a:solidFill>
                  <a:srgbClr val="444B52"/>
                </a:solidFill>
                <a:latin typeface="Arial"/>
              </a:rPr>
              <a:t>với</a:t>
            </a:r>
            <a:r>
              <a:rPr sz="1400" dirty="0">
                <a:solidFill>
                  <a:srgbClr val="444B52"/>
                </a:solidFill>
                <a:latin typeface="Arial"/>
              </a:rPr>
              <a:t> </a:t>
            </a:r>
            <a:r>
              <a:rPr sz="1400" dirty="0" err="1">
                <a:solidFill>
                  <a:srgbClr val="444B52"/>
                </a:solidFill>
                <a:latin typeface="Arial"/>
              </a:rPr>
              <a:t>dân</a:t>
            </a:r>
            <a:r>
              <a:rPr sz="1400" dirty="0">
                <a:solidFill>
                  <a:srgbClr val="444B52"/>
                </a:solidFill>
                <a:latin typeface="Arial"/>
              </a:rPr>
              <a:t> </a:t>
            </a:r>
            <a:r>
              <a:rPr sz="1400" dirty="0" err="1">
                <a:solidFill>
                  <a:srgbClr val="444B52"/>
                </a:solidFill>
                <a:latin typeface="Arial"/>
              </a:rPr>
              <a:t>số</a:t>
            </a:r>
            <a:r>
              <a:rPr sz="1400" dirty="0">
                <a:solidFill>
                  <a:srgbClr val="444B52"/>
                </a:solidFill>
                <a:latin typeface="Arial"/>
              </a:rPr>
              <a:t> VN</a:t>
            </a:r>
            <a:endParaRPr lang="vi-VN" sz="1400" dirty="0">
              <a:solidFill>
                <a:srgbClr val="444B52"/>
              </a:solidFill>
              <a:latin typeface="Arial"/>
            </a:endParaRPr>
          </a:p>
          <a:p>
            <a:pPr lvl="1">
              <a:spcAft>
                <a:spcPts val="500"/>
              </a:spcAft>
            </a:pPr>
            <a:r>
              <a:rPr lang="vi-VN" sz="1400" dirty="0">
                <a:solidFill>
                  <a:srgbClr val="444B52"/>
                </a:solidFill>
                <a:latin typeface="Arial"/>
              </a:rPr>
              <a:t>–  Chưa có chatbox</a:t>
            </a:r>
          </a:p>
          <a:p>
            <a:pPr lvl="1">
              <a:spcAft>
                <a:spcPts val="500"/>
              </a:spcAft>
            </a:pPr>
            <a:endParaRPr lang="vi-VN" sz="1400" dirty="0">
              <a:solidFill>
                <a:srgbClr val="444B52"/>
              </a:solidFill>
              <a:latin typeface="Arial"/>
            </a:endParaRPr>
          </a:p>
          <a:p>
            <a:pPr>
              <a:spcAft>
                <a:spcPts val="500"/>
              </a:spcAft>
            </a:pPr>
            <a:r>
              <a:rPr lang="vi-VN" sz="1500" b="1" dirty="0">
                <a:solidFill>
                  <a:srgbClr val="1B8A7A"/>
                </a:solidFill>
                <a:latin typeface="Arial"/>
              </a:rPr>
              <a:t>•  Hướng cải thiện:</a:t>
            </a:r>
          </a:p>
          <a:p>
            <a:pPr lvl="1">
              <a:spcAft>
                <a:spcPts val="500"/>
              </a:spcAft>
            </a:pPr>
            <a:r>
              <a:rPr sz="1400" dirty="0">
                <a:solidFill>
                  <a:srgbClr val="444B52"/>
                </a:solidFill>
                <a:latin typeface="Arial"/>
              </a:rPr>
              <a:t>–  </a:t>
            </a:r>
            <a:r>
              <a:rPr lang="vi-VN" sz="1400" dirty="0">
                <a:solidFill>
                  <a:srgbClr val="444B52"/>
                </a:solidFill>
                <a:latin typeface="Arial"/>
              </a:rPr>
              <a:t>Tích hợp chatbox </a:t>
            </a:r>
            <a:r>
              <a:rPr sz="1400" dirty="0">
                <a:solidFill>
                  <a:srgbClr val="444B52"/>
                </a:solidFill>
                <a:latin typeface="Arial"/>
              </a:rPr>
              <a:t>agent </a:t>
            </a:r>
            <a:r>
              <a:rPr lang="vi-VN" sz="1400" dirty="0">
                <a:solidFill>
                  <a:srgbClr val="444B52"/>
                </a:solidFill>
                <a:latin typeface="Arial"/>
              </a:rPr>
              <a:t>theo mô hình </a:t>
            </a:r>
            <a:r>
              <a:rPr sz="1400" dirty="0">
                <a:solidFill>
                  <a:srgbClr val="444B52"/>
                </a:solidFill>
                <a:latin typeface="Arial"/>
              </a:rPr>
              <a:t>RAG + LLM (</a:t>
            </a:r>
            <a:r>
              <a:rPr sz="1400" dirty="0" err="1">
                <a:solidFill>
                  <a:srgbClr val="444B52"/>
                </a:solidFill>
                <a:latin typeface="Arial"/>
              </a:rPr>
              <a:t>đọc</a:t>
            </a:r>
            <a:r>
              <a:rPr sz="1400" dirty="0">
                <a:solidFill>
                  <a:srgbClr val="444B52"/>
                </a:solidFill>
                <a:latin typeface="Arial"/>
              </a:rPr>
              <a:t> </a:t>
            </a:r>
            <a:r>
              <a:rPr sz="1400" dirty="0" err="1">
                <a:solidFill>
                  <a:srgbClr val="444B52"/>
                </a:solidFill>
                <a:latin typeface="Arial"/>
              </a:rPr>
              <a:t>tài</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y khoa tin </a:t>
            </a:r>
            <a:r>
              <a:rPr sz="1400" dirty="0" err="1">
                <a:solidFill>
                  <a:srgbClr val="444B52"/>
                </a:solidFill>
                <a:latin typeface="Arial"/>
              </a:rPr>
              <a:t>cậy</a:t>
            </a:r>
            <a:r>
              <a:rPr sz="1400" dirty="0">
                <a:solidFill>
                  <a:srgbClr val="444B52"/>
                </a:solidFill>
                <a:latin typeface="Arial"/>
              </a:rPr>
              <a:t>, </a:t>
            </a:r>
            <a:r>
              <a:rPr sz="1400" dirty="0" err="1">
                <a:solidFill>
                  <a:srgbClr val="444B52"/>
                </a:solidFill>
                <a:latin typeface="Arial"/>
              </a:rPr>
              <a:t>có</a:t>
            </a:r>
            <a:r>
              <a:rPr sz="1400" dirty="0">
                <a:solidFill>
                  <a:srgbClr val="444B52"/>
                </a:solidFill>
                <a:latin typeface="Arial"/>
              </a:rPr>
              <a:t> </a:t>
            </a:r>
            <a:r>
              <a:rPr sz="1400" dirty="0" err="1">
                <a:solidFill>
                  <a:srgbClr val="444B52"/>
                </a:solidFill>
                <a:latin typeface="Arial"/>
              </a:rPr>
              <a:t>trích</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a:t>
            </a:r>
            <a:br>
              <a:rPr lang="vi-VN" sz="1400" dirty="0">
                <a:solidFill>
                  <a:srgbClr val="444B52"/>
                </a:solidFill>
                <a:latin typeface="Arial"/>
              </a:rPr>
            </a:br>
            <a:r>
              <a:rPr sz="1400" dirty="0">
                <a:solidFill>
                  <a:srgbClr val="444B52"/>
                </a:solidFill>
                <a:latin typeface="Arial"/>
              </a:rPr>
              <a:t>–  </a:t>
            </a:r>
            <a:r>
              <a:rPr sz="1400" dirty="0" err="1">
                <a:solidFill>
                  <a:srgbClr val="444B52"/>
                </a:solidFill>
                <a:latin typeface="Arial"/>
              </a:rPr>
              <a:t>Bổ</a:t>
            </a:r>
            <a:r>
              <a:rPr sz="1400" dirty="0">
                <a:solidFill>
                  <a:srgbClr val="444B52"/>
                </a:solidFill>
                <a:latin typeface="Arial"/>
              </a:rPr>
              <a:t> sung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bản</a:t>
            </a:r>
            <a:r>
              <a:rPr sz="1400" dirty="0">
                <a:solidFill>
                  <a:srgbClr val="444B52"/>
                </a:solidFill>
                <a:latin typeface="Arial"/>
              </a:rPr>
              <a:t> </a:t>
            </a:r>
            <a:r>
              <a:rPr sz="1400" dirty="0" err="1">
                <a:solidFill>
                  <a:srgbClr val="444B52"/>
                </a:solidFill>
                <a:latin typeface="Arial"/>
              </a:rPr>
              <a:t>địa</a:t>
            </a:r>
            <a:r>
              <a:rPr sz="1400" dirty="0">
                <a:solidFill>
                  <a:srgbClr val="444B52"/>
                </a:solidFill>
                <a:latin typeface="Arial"/>
              </a:rPr>
              <a:t> </a:t>
            </a:r>
            <a:r>
              <a:rPr sz="1400" dirty="0" err="1">
                <a:solidFill>
                  <a:srgbClr val="444B52"/>
                </a:solidFill>
                <a:latin typeface="Arial"/>
              </a:rPr>
              <a:t>hóa</a:t>
            </a:r>
            <a:r>
              <a:rPr sz="1400" dirty="0">
                <a:solidFill>
                  <a:srgbClr val="444B52"/>
                </a:solidFill>
                <a:latin typeface="Arial"/>
              </a:rPr>
              <a:t> </a:t>
            </a:r>
            <a:r>
              <a:rPr sz="1400" dirty="0" err="1">
                <a:solidFill>
                  <a:srgbClr val="444B52"/>
                </a:solidFill>
                <a:latin typeface="Arial"/>
              </a:rPr>
              <a:t>để</a:t>
            </a:r>
            <a:r>
              <a:rPr sz="1400" dirty="0">
                <a:solidFill>
                  <a:srgbClr val="444B52"/>
                </a:solidFill>
                <a:latin typeface="Arial"/>
              </a:rPr>
              <a:t> </a:t>
            </a:r>
            <a:r>
              <a:rPr sz="1400" dirty="0" err="1">
                <a:solidFill>
                  <a:srgbClr val="444B52"/>
                </a:solidFill>
                <a:latin typeface="Arial"/>
              </a:rPr>
              <a:t>giảm</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hoàn</a:t>
            </a:r>
            <a:r>
              <a:rPr sz="1400" dirty="0">
                <a:solidFill>
                  <a:srgbClr val="444B52"/>
                </a:solidFill>
                <a:latin typeface="Arial"/>
              </a:rPr>
              <a:t> </a:t>
            </a:r>
            <a:r>
              <a:rPr sz="1400" dirty="0" err="1">
                <a:solidFill>
                  <a:srgbClr val="444B52"/>
                </a:solidFill>
                <a:latin typeface="Arial"/>
              </a:rPr>
              <a:t>thiện</a:t>
            </a:r>
            <a:r>
              <a:rPr sz="1400" dirty="0">
                <a:solidFill>
                  <a:srgbClr val="444B52"/>
                </a:solidFill>
                <a:latin typeface="Arial"/>
              </a:rPr>
              <a:t> </a:t>
            </a:r>
            <a:r>
              <a:rPr sz="1400" dirty="0" err="1">
                <a:solidFill>
                  <a:srgbClr val="444B52"/>
                </a:solidFill>
                <a:latin typeface="Arial"/>
              </a:rPr>
              <a:t>requirements.txt</a:t>
            </a:r>
            <a:r>
              <a:rPr sz="1400" dirty="0">
                <a:solidFill>
                  <a:srgbClr val="444B52"/>
                </a:solidFill>
                <a:latin typeface="Arial"/>
              </a:rPr>
              <a:t> &amp; </a:t>
            </a:r>
            <a:r>
              <a:rPr sz="1400" dirty="0" err="1">
                <a:solidFill>
                  <a:srgbClr val="444B52"/>
                </a:solidFill>
                <a:latin typeface="Arial"/>
              </a:rPr>
              <a:t>đóng</a:t>
            </a:r>
            <a:r>
              <a:rPr sz="1400" dirty="0">
                <a:solidFill>
                  <a:srgbClr val="444B52"/>
                </a:solidFill>
                <a:latin typeface="Arial"/>
              </a:rPr>
              <a:t> </a:t>
            </a:r>
            <a:r>
              <a:rPr sz="1400" dirty="0" err="1">
                <a:solidFill>
                  <a:srgbClr val="444B52"/>
                </a:solidFill>
                <a:latin typeface="Arial"/>
              </a:rPr>
              <a:t>gói</a:t>
            </a:r>
            <a:r>
              <a:rPr sz="1400" dirty="0">
                <a:solidFill>
                  <a:srgbClr val="444B52"/>
                </a:solidFill>
                <a:latin typeface="Arial"/>
              </a:rPr>
              <a:t> </a:t>
            </a:r>
            <a:r>
              <a:rPr sz="1400" dirty="0" err="1">
                <a:solidFill>
                  <a:srgbClr val="444B52"/>
                </a:solidFill>
                <a:latin typeface="Arial"/>
              </a:rPr>
              <a:t>triển</a:t>
            </a:r>
            <a:r>
              <a:rPr sz="1400" dirty="0">
                <a:solidFill>
                  <a:srgbClr val="444B52"/>
                </a:solidFill>
                <a:latin typeface="Arial"/>
              </a:rPr>
              <a:t> </a:t>
            </a:r>
            <a:r>
              <a:rPr sz="1400" dirty="0" err="1">
                <a:solidFill>
                  <a:srgbClr val="444B52"/>
                </a:solidFill>
                <a:latin typeface="Arial"/>
              </a:rPr>
              <a:t>khai</a:t>
            </a:r>
            <a:br>
              <a:rPr lang="vi-VN"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Triển</a:t>
            </a:r>
            <a:r>
              <a:rPr lang="en-US" sz="1400" dirty="0">
                <a:solidFill>
                  <a:srgbClr val="444B52"/>
                </a:solidFill>
                <a:latin typeface="Arial"/>
              </a:rPr>
              <a:t> </a:t>
            </a:r>
            <a:r>
              <a:rPr lang="en-US" sz="1400" dirty="0" err="1">
                <a:solidFill>
                  <a:srgbClr val="444B52"/>
                </a:solidFill>
                <a:latin typeface="Arial"/>
              </a:rPr>
              <a:t>khai</a:t>
            </a:r>
            <a:r>
              <a:rPr lang="en-US" sz="1400" dirty="0">
                <a:solidFill>
                  <a:srgbClr val="444B52"/>
                </a:solidFill>
                <a:latin typeface="Arial"/>
              </a:rPr>
              <a:t> </a:t>
            </a:r>
            <a:r>
              <a:rPr lang="en-US" sz="1400" dirty="0" err="1">
                <a:solidFill>
                  <a:srgbClr val="444B52"/>
                </a:solidFill>
                <a:latin typeface="Arial"/>
              </a:rPr>
              <a:t>quy</a:t>
            </a:r>
            <a:r>
              <a:rPr lang="en-US" sz="1400" dirty="0">
                <a:solidFill>
                  <a:srgbClr val="444B52"/>
                </a:solidFill>
                <a:latin typeface="Arial"/>
              </a:rPr>
              <a:t> </a:t>
            </a:r>
            <a:r>
              <a:rPr lang="en-US" sz="1400" dirty="0" err="1">
                <a:solidFill>
                  <a:srgbClr val="444B52"/>
                </a:solidFill>
                <a:latin typeface="Arial"/>
              </a:rPr>
              <a:t>trình</a:t>
            </a:r>
            <a:r>
              <a:rPr lang="en-US" sz="1400" dirty="0">
                <a:solidFill>
                  <a:srgbClr val="444B52"/>
                </a:solidFill>
                <a:latin typeface="Arial"/>
              </a:rPr>
              <a:t> </a:t>
            </a:r>
            <a:r>
              <a:rPr lang="en-US" sz="1400" dirty="0" err="1">
                <a:solidFill>
                  <a:srgbClr val="444B52"/>
                </a:solidFill>
                <a:latin typeface="Arial"/>
              </a:rPr>
              <a:t>MLOps</a:t>
            </a:r>
            <a:r>
              <a:rPr lang="en-US" sz="1400" dirty="0">
                <a:solidFill>
                  <a:srgbClr val="444B52"/>
                </a:solidFill>
                <a:latin typeface="Arial"/>
              </a:rPr>
              <a:t> </a:t>
            </a:r>
            <a:r>
              <a:rPr lang="en-US" sz="1400" dirty="0" err="1">
                <a:solidFill>
                  <a:srgbClr val="444B52"/>
                </a:solidFill>
                <a:latin typeface="Arial"/>
              </a:rPr>
              <a:t>dùng</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a:t>
            </a:r>
            <a:r>
              <a:rPr lang="en-US" sz="1400" dirty="0" err="1">
                <a:solidFill>
                  <a:srgbClr val="444B52"/>
                </a:solidFill>
                <a:latin typeface="Arial"/>
              </a:rPr>
              <a:t>thực</a:t>
            </a:r>
            <a:r>
              <a:rPr lang="en-US" sz="1400" dirty="0">
                <a:solidFill>
                  <a:srgbClr val="444B52"/>
                </a:solidFill>
                <a:latin typeface="Arial"/>
              </a:rPr>
              <a:t> </a:t>
            </a:r>
            <a:r>
              <a:rPr lang="en-US" sz="1400" dirty="0" err="1">
                <a:solidFill>
                  <a:srgbClr val="444B52"/>
                </a:solidFill>
                <a:latin typeface="Arial"/>
              </a:rPr>
              <a:t>tế</a:t>
            </a:r>
            <a:r>
              <a:rPr lang="en-US" sz="1400" dirty="0">
                <a:solidFill>
                  <a:srgbClr val="444B52"/>
                </a:solidFill>
                <a:latin typeface="Arial"/>
              </a:rPr>
              <a:t> </a:t>
            </a:r>
            <a:r>
              <a:rPr lang="en-US" sz="1400" dirty="0" err="1">
                <a:solidFill>
                  <a:srgbClr val="444B52"/>
                </a:solidFill>
                <a:latin typeface="Arial"/>
              </a:rPr>
              <a:t>ở</a:t>
            </a:r>
            <a:r>
              <a:rPr lang="en-US" sz="1400" dirty="0">
                <a:solidFill>
                  <a:srgbClr val="444B52"/>
                </a:solidFill>
                <a:latin typeface="Arial"/>
              </a:rPr>
              <a:t> tram </a:t>
            </a:r>
            <a:r>
              <a:rPr lang="en-US" sz="1400" dirty="0" err="1">
                <a:solidFill>
                  <a:srgbClr val="444B52"/>
                </a:solidFill>
                <a:latin typeface="Arial"/>
              </a:rPr>
              <a:t>xá</a:t>
            </a:r>
            <a:r>
              <a:rPr lang="en-US" sz="1400" dirty="0">
                <a:solidFill>
                  <a:srgbClr val="444B52"/>
                </a:solidFill>
                <a:latin typeface="Arial"/>
              </a:rPr>
              <a:t> </a:t>
            </a:r>
            <a:r>
              <a:rPr lang="en-US" sz="1400" dirty="0" err="1">
                <a:solidFill>
                  <a:srgbClr val="444B52"/>
                </a:solidFill>
                <a:latin typeface="Arial"/>
              </a:rPr>
              <a:t>để</a:t>
            </a:r>
            <a:r>
              <a:rPr lang="en-US" sz="1400" dirty="0">
                <a:solidFill>
                  <a:srgbClr val="444B52"/>
                </a:solidFill>
                <a:latin typeface="Arial"/>
              </a:rPr>
              <a:t> train </a:t>
            </a:r>
            <a:r>
              <a:rPr lang="en-US" sz="1400" dirty="0" err="1">
                <a:solidFill>
                  <a:srgbClr val="444B52"/>
                </a:solidFill>
                <a:latin typeface="Arial"/>
              </a:rPr>
              <a:t>và</a:t>
            </a:r>
            <a:r>
              <a:rPr lang="en-US" sz="1400" dirty="0">
                <a:solidFill>
                  <a:srgbClr val="444B52"/>
                </a:solidFill>
                <a:latin typeface="Arial"/>
              </a:rPr>
              <a:t> </a:t>
            </a:r>
            <a:r>
              <a:rPr lang="en-US" sz="1400" dirty="0" err="1">
                <a:solidFill>
                  <a:srgbClr val="444B52"/>
                </a:solidFill>
                <a:latin typeface="Arial"/>
              </a:rPr>
              <a:t>nâng</a:t>
            </a:r>
            <a:r>
              <a:rPr lang="en-US" sz="1400" dirty="0">
                <a:solidFill>
                  <a:srgbClr val="444B52"/>
                </a:solidFill>
                <a:latin typeface="Arial"/>
              </a:rPr>
              <a:t> </a:t>
            </a:r>
            <a:r>
              <a:rPr lang="en-US" sz="1400" dirty="0" err="1">
                <a:solidFill>
                  <a:srgbClr val="444B52"/>
                </a:solidFill>
                <a:latin typeface="Arial"/>
              </a:rPr>
              <a:t>cấp</a:t>
            </a:r>
            <a:r>
              <a:rPr lang="en-US" sz="1400" dirty="0">
                <a:solidFill>
                  <a:srgbClr val="444B52"/>
                </a:solidFill>
                <a:latin typeface="Arial"/>
              </a:rPr>
              <a:t> model</a:t>
            </a:r>
            <a:br>
              <a:rPr lang="en-US"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Tích</a:t>
            </a:r>
            <a:r>
              <a:rPr lang="en-US" sz="1400" dirty="0">
                <a:solidFill>
                  <a:srgbClr val="444B52"/>
                </a:solidFill>
                <a:latin typeface="Arial"/>
              </a:rPr>
              <a:t> </a:t>
            </a:r>
            <a:r>
              <a:rPr lang="en-US" sz="1400" dirty="0" err="1">
                <a:solidFill>
                  <a:srgbClr val="444B52"/>
                </a:solidFill>
                <a:latin typeface="Arial"/>
              </a:rPr>
              <a:t>hợp</a:t>
            </a:r>
            <a:r>
              <a:rPr lang="en-US" sz="1400" dirty="0">
                <a:solidFill>
                  <a:srgbClr val="444B52"/>
                </a:solidFill>
                <a:latin typeface="Arial"/>
              </a:rPr>
              <a:t> </a:t>
            </a:r>
            <a:r>
              <a:rPr lang="en-US" sz="1400" dirty="0" err="1">
                <a:solidFill>
                  <a:srgbClr val="444B52"/>
                </a:solidFill>
                <a:latin typeface="Arial"/>
              </a:rPr>
              <a:t>với</a:t>
            </a:r>
            <a:r>
              <a:rPr lang="en-US" sz="1400" dirty="0">
                <a:solidFill>
                  <a:srgbClr val="444B52"/>
                </a:solidFill>
                <a:latin typeface="Arial"/>
              </a:rPr>
              <a:t> </a:t>
            </a:r>
            <a:r>
              <a:rPr lang="en-US" sz="1400" dirty="0" err="1">
                <a:solidFill>
                  <a:srgbClr val="444B52"/>
                </a:solidFill>
                <a:latin typeface="Arial"/>
              </a:rPr>
              <a:t>các</a:t>
            </a:r>
            <a:r>
              <a:rPr lang="en-US" sz="1400" dirty="0">
                <a:solidFill>
                  <a:srgbClr val="444B52"/>
                </a:solidFill>
                <a:latin typeface="Arial"/>
              </a:rPr>
              <a:t> </a:t>
            </a:r>
            <a:r>
              <a:rPr lang="en-US" sz="1400" dirty="0" err="1">
                <a:solidFill>
                  <a:srgbClr val="444B52"/>
                </a:solidFill>
                <a:latin typeface="Arial"/>
              </a:rPr>
              <a:t>thiết</a:t>
            </a:r>
            <a:r>
              <a:rPr lang="en-US" sz="1400" dirty="0">
                <a:solidFill>
                  <a:srgbClr val="444B52"/>
                </a:solidFill>
                <a:latin typeface="Arial"/>
              </a:rPr>
              <a:t> </a:t>
            </a:r>
            <a:r>
              <a:rPr lang="en-US" sz="1400" dirty="0" err="1">
                <a:solidFill>
                  <a:srgbClr val="444B52"/>
                </a:solidFill>
                <a:latin typeface="Arial"/>
              </a:rPr>
              <a:t>bị</a:t>
            </a:r>
            <a:r>
              <a:rPr lang="en-US" sz="1400" dirty="0">
                <a:solidFill>
                  <a:srgbClr val="444B52"/>
                </a:solidFill>
                <a:latin typeface="Arial"/>
              </a:rPr>
              <a:t> y khoa </a:t>
            </a:r>
            <a:r>
              <a:rPr lang="en-US" sz="1400" dirty="0" err="1">
                <a:solidFill>
                  <a:srgbClr val="444B52"/>
                </a:solidFill>
                <a:latin typeface="Arial"/>
              </a:rPr>
              <a:t>để</a:t>
            </a:r>
            <a:r>
              <a:rPr lang="en-US" sz="1400" dirty="0">
                <a:solidFill>
                  <a:srgbClr val="444B52"/>
                </a:solidFill>
                <a:latin typeface="Arial"/>
              </a:rPr>
              <a:t> </a:t>
            </a:r>
            <a:r>
              <a:rPr lang="en-US" sz="1400" dirty="0" err="1">
                <a:solidFill>
                  <a:srgbClr val="444B52"/>
                </a:solidFill>
                <a:latin typeface="Arial"/>
              </a:rPr>
              <a:t>thu</a:t>
            </a:r>
            <a:r>
              <a:rPr lang="en-US" sz="1400" dirty="0">
                <a:solidFill>
                  <a:srgbClr val="444B52"/>
                </a:solidFill>
                <a:latin typeface="Arial"/>
              </a:rPr>
              <a:t> </a:t>
            </a:r>
            <a:r>
              <a:rPr lang="en-US" sz="1400" dirty="0" err="1">
                <a:solidFill>
                  <a:srgbClr val="444B52"/>
                </a:solidFill>
                <a:latin typeface="Arial"/>
              </a:rPr>
              <a:t>thập</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live </a:t>
            </a:r>
            <a:r>
              <a:rPr lang="en-US" sz="1400" dirty="0" err="1">
                <a:solidFill>
                  <a:srgbClr val="444B52"/>
                </a:solidFill>
                <a:latin typeface="Arial"/>
              </a:rPr>
              <a:t>như</a:t>
            </a:r>
            <a:r>
              <a:rPr lang="en-US" sz="1400" dirty="0">
                <a:solidFill>
                  <a:srgbClr val="444B52"/>
                </a:solidFill>
                <a:latin typeface="Arial"/>
              </a:rPr>
              <a:t> </a:t>
            </a:r>
            <a:r>
              <a:rPr lang="en-US" sz="1400" dirty="0" err="1">
                <a:solidFill>
                  <a:srgbClr val="444B52"/>
                </a:solidFill>
                <a:latin typeface="Arial"/>
              </a:rPr>
              <a:t>đồng</a:t>
            </a:r>
            <a:r>
              <a:rPr lang="en-US" sz="1400" dirty="0">
                <a:solidFill>
                  <a:srgbClr val="444B52"/>
                </a:solidFill>
                <a:latin typeface="Arial"/>
              </a:rPr>
              <a:t> </a:t>
            </a:r>
            <a:r>
              <a:rPr lang="en-US" sz="1400" dirty="0" err="1">
                <a:solidFill>
                  <a:srgbClr val="444B52"/>
                </a:solidFill>
                <a:latin typeface="Arial"/>
              </a:rPr>
              <a:t>hồ</a:t>
            </a:r>
            <a:r>
              <a:rPr lang="en-US" sz="1400" dirty="0">
                <a:solidFill>
                  <a:srgbClr val="444B52"/>
                </a:solidFill>
                <a:latin typeface="Arial"/>
              </a:rPr>
              <a:t> </a:t>
            </a:r>
            <a:r>
              <a:rPr lang="en-US" sz="1400" dirty="0" err="1">
                <a:solidFill>
                  <a:srgbClr val="444B52"/>
                </a:solidFill>
                <a:latin typeface="Arial"/>
              </a:rPr>
              <a:t>thông</a:t>
            </a:r>
            <a:r>
              <a:rPr lang="en-US" sz="1400" dirty="0">
                <a:solidFill>
                  <a:srgbClr val="444B52"/>
                </a:solidFill>
                <a:latin typeface="Arial"/>
              </a:rPr>
              <a:t> </a:t>
            </a:r>
            <a:r>
              <a:rPr lang="en-US" sz="1400" dirty="0" err="1">
                <a:solidFill>
                  <a:srgbClr val="444B52"/>
                </a:solidFill>
                <a:latin typeface="Arial"/>
              </a:rPr>
              <a:t>minh</a:t>
            </a:r>
            <a:r>
              <a:rPr lang="en-US" sz="1400" dirty="0">
                <a:solidFill>
                  <a:srgbClr val="444B52"/>
                </a:solidFill>
                <a:latin typeface="Arial"/>
              </a:rPr>
              <a:t> </a:t>
            </a:r>
            <a:r>
              <a:rPr lang="en-US" sz="1400" dirty="0" err="1">
                <a:solidFill>
                  <a:srgbClr val="444B52"/>
                </a:solidFill>
                <a:latin typeface="Arial"/>
              </a:rPr>
              <a:t>đeo</a:t>
            </a:r>
            <a:r>
              <a:rPr lang="en-US" sz="1400" dirty="0">
                <a:solidFill>
                  <a:srgbClr val="444B52"/>
                </a:solidFill>
                <a:latin typeface="Arial"/>
              </a:rPr>
              <a:t> </a:t>
            </a:r>
            <a:r>
              <a:rPr lang="en-US" sz="1400" dirty="0" err="1">
                <a:solidFill>
                  <a:srgbClr val="444B52"/>
                </a:solidFill>
                <a:latin typeface="Arial"/>
              </a:rPr>
              <a:t>tay</a:t>
            </a:r>
            <a:endParaRPr lang="en-US" sz="1400" dirty="0">
              <a:solidFill>
                <a:srgbClr val="444B52"/>
              </a:solidFill>
              <a:latin typeface="Arial"/>
            </a:endParaRPr>
          </a:p>
          <a:p>
            <a:pPr lvl="1">
              <a:spcAft>
                <a:spcPts val="500"/>
              </a:spcAft>
            </a:pPr>
            <a:endParaRPr sz="1400" dirty="0">
              <a:solidFill>
                <a:srgbClr val="444B5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sz="1800" b="1" dirty="0">
                <a:solidFill>
                  <a:srgbClr val="FFFFFF"/>
                </a:solidFill>
                <a:latin typeface="Arial"/>
              </a:rPr>
              <a:t> </a:t>
            </a:r>
            <a:r>
              <a:rPr lang="vi-VN" sz="1800" b="1" dirty="0">
                <a:solidFill>
                  <a:srgbClr val="FFFFFF"/>
                </a:solidFill>
                <a:latin typeface="Arial"/>
              </a:rPr>
              <a:t>thầy và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1355</TotalTime>
  <Words>1270</Words>
  <Application>Microsoft Macintosh PowerPoint</Application>
  <PresentationFormat>Widescreen</PresentationFormat>
  <Paragraphs>128</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32</cp:revision>
  <dcterms:created xsi:type="dcterms:W3CDTF">2013-01-27T09:14:16Z</dcterms:created>
  <dcterms:modified xsi:type="dcterms:W3CDTF">2026-09-12T11:14:26Z</dcterms:modified>
  <cp:category/>
</cp:coreProperties>
</file>