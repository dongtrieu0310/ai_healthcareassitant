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microsoft.com/office/2020/02/relationships/classificationlabels" Target="docMetadata/LabelInfo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64" r:id="rId4"/>
    <p:sldId id="267" r:id="rId5"/>
    <p:sldId id="260" r:id="rId6"/>
    <p:sldId id="270" r:id="rId7"/>
    <p:sldId id="259" r:id="rId8"/>
    <p:sldId id="266" r:id="rId9"/>
    <p:sldId id="268" r:id="rId10"/>
    <p:sldId id="269" r:id="rId11"/>
    <p:sldId id="265" r:id="rId12"/>
    <p:sldId id="261" r:id="rId13"/>
    <p:sldId id="263" r:id="rId1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0567"/>
    <p:restoredTop sz="94598"/>
  </p:normalViewPr>
  <p:slideViewPr>
    <p:cSldViewPr snapToGrid="0" snapToObjects="1">
      <p:cViewPr varScale="1">
        <p:scale>
          <a:sx n="151" d="100"/>
          <a:sy n="151" d="100"/>
        </p:scale>
        <p:origin x="440" y="19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843621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CD1198F-3080-83F6-A15E-AF08A8AD2F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94B9447-10FE-9609-762A-8B054CD94B9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E313767-219A-3043-0049-9DC2F4C037C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EA763FE-23B3-E185-B875-D3C5EC24C422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400228165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AE9796-55ED-43FA-32E6-B14D64E636B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7966814-12DE-C61C-4140-662FE9E0BD4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A8270F38-A355-A5B0-F4C8-ED794044752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A2DB3E6-623E-0119-8A2A-817476AAF22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58745901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543263-1B2F-CBEA-5EAB-86F928D96C0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DE2C0CB5-1751-5E1D-8078-6F5F761EF8D0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9C5CEF49-8D2E-C74D-3D0E-8ABCDD98C3C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DE1D6A9-C0AF-B17F-9C74-5D8D735F192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31409503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6C2837-E603-C43A-EF8E-21AC78A515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25F02726-D7B7-8FE2-92FD-9787B04809F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FD26EB0-C798-BB29-7D7A-6668AA47AC28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7BBD4D5F-BD2D-49D4-20F2-372E0EC7792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396025093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29FAC63-E2CD-40A5-FA7A-F47C8EF8FB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EE7A3892-1B2F-BED0-B13D-AAFDD2F27E3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AD97F23-6FDD-E440-861B-D51CE5D369B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A4B4ED7-22B0-C2D5-C29B-8CEE0AE8C5E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892493696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96802A-6939-AD2E-06B8-C994A9BFAB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EF87F21-FEFD-C791-A144-FC84B9B48B7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41C0D0A2-C50F-985C-433D-F2DD2F478AF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13AEB30-2E2B-29E1-AFCF-F5A86132CA4D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197817036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CFF225F-C976-576D-0EE6-1176D53D52A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F19D221-FD29-3B1A-87CE-D743152BFA26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CA18D41-857A-0BBD-DB7F-B24BD2132C3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F3671A58-3B46-A160-4410-BD16CA00937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</p:sp>
    </p:spTree>
    <p:extLst>
      <p:ext uri="{BB962C8B-B14F-4D97-AF65-F5344CB8AC3E}">
        <p14:creationId xmlns:p14="http://schemas.microsoft.com/office/powerpoint/2010/main" val="249938563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9/27/26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kaggle.com/datasets/sulianova/cardiovascular-disease-dataset" TargetMode="External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hyperlink" Target="https://www.kaggle.com/datasets/khan1803115/hypertension-risk-model-main" TargetMode="Externa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4206240"/>
            <a:ext cx="12191695" cy="109728"/>
          </a:xfrm>
          <a:prstGeom prst="rect">
            <a:avLst/>
          </a:prstGeom>
          <a:solidFill>
            <a:srgbClr val="1B8A7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822960" y="1371600"/>
            <a:ext cx="10545775" cy="193899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4000" b="1" dirty="0">
                <a:solidFill>
                  <a:srgbClr val="CFE3EC"/>
                </a:solidFill>
                <a:latin typeface="Arial"/>
              </a:rPr>
              <a:t>Mô hình hỗ trợ đánh giá bệnh mãn tính</a:t>
            </a:r>
            <a:br>
              <a:rPr lang="vi-VN" sz="4000" b="1" dirty="0">
                <a:solidFill>
                  <a:srgbClr val="CFE3EC"/>
                </a:solidFill>
                <a:latin typeface="Arial"/>
              </a:rPr>
            </a:br>
            <a:r>
              <a:rPr lang="vi-VN" sz="4000" b="1" dirty="0">
                <a:solidFill>
                  <a:srgbClr val="CFE3EC"/>
                </a:solidFill>
                <a:latin typeface="Arial"/>
              </a:rPr>
              <a:t>dựa vào</a:t>
            </a:r>
          </a:p>
          <a:p>
            <a:r>
              <a:rPr lang="vi-VN" sz="4000" b="1" dirty="0">
                <a:solidFill>
                  <a:srgbClr val="CFE3EC"/>
                </a:solidFill>
                <a:latin typeface="Arial"/>
              </a:rPr>
              <a:t>dữ liệu chỉ số sức khoẻ có cấu trúc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59" y="4702126"/>
            <a:ext cx="10545775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Môn học: Lập trình Python cho Máy học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(</a:t>
            </a:r>
            <a:r>
              <a:rPr lang="en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CS116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)</a:t>
            </a:r>
          </a:p>
          <a:p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Giảng viên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: T</a:t>
            </a:r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hầy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</a:t>
            </a:r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Nguyễn Hữu Quyền</a:t>
            </a:r>
            <a:endParaRPr sz="1400" b="1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  <a:p>
            <a:endParaRPr sz="1400" b="1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  <a:p>
            <a:r>
              <a:rPr sz="1400" b="1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Nhóm</a:t>
            </a:r>
            <a:r>
              <a:rPr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</a:t>
            </a:r>
            <a: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04:</a:t>
            </a:r>
            <a:br>
              <a:rPr lang="vi-VN" sz="1400" b="1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</a:br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Đinh Đạt Thông — 26410294</a:t>
            </a:r>
          </a:p>
          <a:p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Nguyễn Đông Triều — 26410309</a:t>
            </a:r>
          </a:p>
          <a:p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Phạm Thái </a:t>
            </a:r>
            <a:r>
              <a:rPr sz="1300" b="0" dirty="0" err="1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Thuận</a:t>
            </a:r>
            <a:r>
              <a:rPr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 — 26410297</a:t>
            </a:r>
            <a:endParaRPr lang="vi-VN" sz="1300" b="0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  <a:p>
            <a:r>
              <a:rPr lang="vi-VN" sz="1300" b="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Trần Ngọc Khánh </a:t>
            </a:r>
            <a:r>
              <a:rPr lang="en-VN" sz="130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— </a:t>
            </a:r>
            <a:r>
              <a:rPr lang="en-US" sz="1300" dirty="0">
                <a:solidFill>
                  <a:schemeClr val="accent1">
                    <a:lumMod val="20000"/>
                    <a:lumOff val="80000"/>
                  </a:schemeClr>
                </a:solidFill>
                <a:latin typeface="Arial"/>
              </a:rPr>
              <a:t>26410222</a:t>
            </a:r>
            <a:endParaRPr sz="1300" b="0" dirty="0">
              <a:solidFill>
                <a:schemeClr val="accent1">
                  <a:lumMod val="20000"/>
                  <a:lumOff val="80000"/>
                </a:schemeClr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Nội dung</a:t>
            </a:r>
            <a:endParaRPr sz="1300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3072" y="1713145"/>
            <a:ext cx="11185855" cy="216982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1 – Vấn đề</a:t>
            </a:r>
          </a:p>
          <a:p>
            <a:pPr>
              <a:spcAft>
                <a:spcPts val="600"/>
              </a:spcAft>
            </a:pPr>
            <a:endParaRPr lang="vi-VN" sz="24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2 – Giải pháp</a:t>
            </a:r>
            <a:br>
              <a:rPr lang="vi-VN" sz="2400" b="1" dirty="0">
                <a:solidFill>
                  <a:srgbClr val="1B8A7A"/>
                </a:solidFill>
                <a:latin typeface="Arial"/>
              </a:rPr>
            </a:br>
            <a:r>
              <a:rPr lang="vi-VN" sz="2400" b="1" dirty="0">
                <a:solidFill>
                  <a:srgbClr val="1B8A7A"/>
                </a:solidFill>
                <a:latin typeface="Arial"/>
              </a:rPr>
              <a:t>	</a:t>
            </a:r>
          </a:p>
          <a:p>
            <a:pPr>
              <a:spcAft>
                <a:spcPts val="600"/>
              </a:spcAft>
            </a:pPr>
            <a:r>
              <a:rPr lang="vi-VN" sz="2400" b="1" dirty="0">
                <a:solidFill>
                  <a:srgbClr val="1B8A7A"/>
                </a:solidFill>
                <a:latin typeface="Arial"/>
              </a:rPr>
              <a:t>3 – Demo </a:t>
            </a:r>
            <a:endParaRPr sz="2000" dirty="0">
              <a:solidFill>
                <a:srgbClr val="444B5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962986E-2709-2B50-821D-B87068F11F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EC946530-300E-DBDD-7C6B-304B0B933D36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1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Vấn</a:t>
            </a:r>
            <a:r>
              <a:rPr lang="en-US"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en-US" sz="2600" b="1" dirty="0" err="1">
                <a:solidFill>
                  <a:srgbClr val="FFFFFF"/>
                </a:solidFill>
                <a:latin typeface="Arial"/>
              </a:rPr>
              <a:t>đề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3870ED03-DFCB-5AF3-DCB1-9F857B814DF3}"/>
              </a:ext>
            </a:extLst>
          </p:cNvPr>
          <p:cNvSpPr txBox="1"/>
          <p:nvPr/>
        </p:nvSpPr>
        <p:spPr>
          <a:xfrm>
            <a:off x="502920" y="1325880"/>
            <a:ext cx="11185855" cy="25237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</a:pPr>
            <a:r>
              <a:rPr lang="en-US" sz="1500" b="1" dirty="0">
                <a:solidFill>
                  <a:srgbClr val="1B8A7A"/>
                </a:solidFill>
                <a:latin typeface="Arial"/>
              </a:rPr>
              <a:t>• 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Vấn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đề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:</a:t>
            </a:r>
          </a:p>
          <a:p>
            <a:pPr>
              <a:spcAft>
                <a:spcPts val="600"/>
              </a:spcAft>
            </a:pPr>
            <a:r>
              <a:rPr lang="vi-VN" sz="1600" dirty="0">
                <a:solidFill>
                  <a:srgbClr val="444B52"/>
                </a:solidFill>
                <a:latin typeface="Arial"/>
              </a:rPr>
              <a:t>	– Đánh giá bệnh mãn tính ban đầu tốn thời gian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444B52"/>
                </a:solidFill>
                <a:latin typeface="Arial"/>
              </a:rPr>
              <a:t>	</a:t>
            </a:r>
            <a:r>
              <a:rPr lang="vi-VN" sz="1600" dirty="0">
                <a:solidFill>
                  <a:srgbClr val="444B52"/>
                </a:solidFill>
                <a:latin typeface="Arial"/>
              </a:rPr>
              <a:t>– Bác sĩ nhận hỗ trợ tăng tốc độ đánh giá lâm sàng các hồ sơ chỉ số sức khoẻ</a:t>
            </a:r>
          </a:p>
          <a:p>
            <a:pPr>
              <a:spcAft>
                <a:spcPts val="600"/>
              </a:spcAft>
            </a:pPr>
            <a:r>
              <a:rPr lang="vi-VN" sz="1600" b="1" dirty="0">
                <a:solidFill>
                  <a:srgbClr val="444B52"/>
                </a:solidFill>
                <a:latin typeface="Arial"/>
              </a:rPr>
              <a:t>	</a:t>
            </a:r>
            <a:r>
              <a:rPr lang="vi-VN" sz="1600" dirty="0">
                <a:solidFill>
                  <a:srgbClr val="444B52"/>
                </a:solidFill>
                <a:latin typeface="Arial"/>
              </a:rPr>
              <a:t>– Bài toán dự đoán nhãn phân loại và xác suất nhãn</a:t>
            </a:r>
            <a:endParaRPr lang="en-VN" sz="16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600"/>
              </a:spcAft>
            </a:pPr>
            <a:r>
              <a:rPr sz="1500" b="1" dirty="0">
                <a:solidFill>
                  <a:srgbClr val="1B8A7A"/>
                </a:solidFill>
                <a:latin typeface="Arial"/>
              </a:rPr>
              <a:t>•  </a:t>
            </a:r>
            <a:r>
              <a:rPr lang="vi-VN" sz="1500" b="1" dirty="0">
                <a:solidFill>
                  <a:srgbClr val="1B8A7A"/>
                </a:solidFill>
                <a:latin typeface="Arial"/>
              </a:rPr>
              <a:t>Tính năng giải quyết vấn đề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:</a:t>
            </a:r>
          </a:p>
          <a:p>
            <a:pPr lvl="1">
              <a:spcAft>
                <a:spcPts val="600"/>
              </a:spcAft>
            </a:pPr>
            <a:r>
              <a:rPr sz="1500" dirty="0">
                <a:solidFill>
                  <a:srgbClr val="444B52"/>
                </a:solidFill>
                <a:latin typeface="Arial"/>
              </a:rPr>
              <a:t>– </a:t>
            </a:r>
            <a:r>
              <a:rPr lang="vi-VN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Sàng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lọc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,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đánh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giá</a:t>
            </a:r>
            <a:r>
              <a:rPr lang="en-US"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>
                <a:solidFill>
                  <a:srgbClr val="444B52"/>
                </a:solidFill>
                <a:latin typeface="Arial"/>
              </a:rPr>
              <a:t>RỦI RO 3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bệnh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mãn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tính</a:t>
            </a:r>
            <a:r>
              <a:rPr sz="1500" dirty="0">
                <a:solidFill>
                  <a:srgbClr val="444B52"/>
                </a:solidFill>
                <a:latin typeface="Arial"/>
              </a:rPr>
              <a:t>: Tim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mạch</a:t>
            </a:r>
            <a:r>
              <a:rPr sz="1500" dirty="0">
                <a:solidFill>
                  <a:srgbClr val="444B52"/>
                </a:solidFill>
                <a:latin typeface="Arial"/>
              </a:rPr>
              <a:t>,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Tiểu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đường</a:t>
            </a:r>
            <a:r>
              <a:rPr sz="1500" dirty="0">
                <a:solidFill>
                  <a:srgbClr val="444B52"/>
                </a:solidFill>
                <a:latin typeface="Arial"/>
              </a:rPr>
              <a:t>,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Tăng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huyết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áp</a:t>
            </a:r>
            <a:endParaRPr sz="1500" dirty="0">
              <a:solidFill>
                <a:srgbClr val="444B52"/>
              </a:solidFill>
              <a:latin typeface="Arial"/>
            </a:endParaRPr>
          </a:p>
          <a:p>
            <a:pPr lvl="1">
              <a:spcAft>
                <a:spcPts val="600"/>
              </a:spcAft>
            </a:pPr>
            <a:r>
              <a:rPr sz="1500" dirty="0">
                <a:solidFill>
                  <a:srgbClr val="444B52"/>
                </a:solidFill>
                <a:latin typeface="Arial"/>
              </a:rPr>
              <a:t>– 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Đầu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vào</a:t>
            </a:r>
            <a:r>
              <a:rPr sz="1500" dirty="0">
                <a:solidFill>
                  <a:srgbClr val="444B52"/>
                </a:solidFill>
                <a:latin typeface="Arial"/>
              </a:rPr>
              <a:t>: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chỉ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số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sức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khỏe</a:t>
            </a:r>
            <a:r>
              <a:rPr sz="1500" dirty="0">
                <a:solidFill>
                  <a:srgbClr val="444B52"/>
                </a:solidFill>
                <a:latin typeface="Arial"/>
              </a:rPr>
              <a:t> (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tuổi</a:t>
            </a:r>
            <a:r>
              <a:rPr sz="1500" dirty="0">
                <a:solidFill>
                  <a:srgbClr val="444B52"/>
                </a:solidFill>
                <a:latin typeface="Arial"/>
              </a:rPr>
              <a:t>,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huyết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áp</a:t>
            </a:r>
            <a:r>
              <a:rPr sz="1500" dirty="0">
                <a:solidFill>
                  <a:srgbClr val="444B52"/>
                </a:solidFill>
                <a:latin typeface="Arial"/>
              </a:rPr>
              <a:t>, BMI,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đường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huyết</a:t>
            </a:r>
            <a:r>
              <a:rPr sz="1500" dirty="0">
                <a:solidFill>
                  <a:srgbClr val="444B52"/>
                </a:solidFill>
                <a:latin typeface="Arial"/>
              </a:rPr>
              <a:t>, cholesterol,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lối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sống</a:t>
            </a:r>
            <a:r>
              <a:rPr sz="1500" dirty="0">
                <a:solidFill>
                  <a:srgbClr val="444B52"/>
                </a:solidFill>
                <a:latin typeface="Arial"/>
              </a:rPr>
              <a:t>…)</a:t>
            </a:r>
          </a:p>
          <a:p>
            <a:pPr lvl="1">
              <a:spcAft>
                <a:spcPts val="600"/>
              </a:spcAft>
            </a:pPr>
            <a:r>
              <a:rPr sz="1500" dirty="0">
                <a:solidFill>
                  <a:srgbClr val="444B52"/>
                </a:solidFill>
                <a:latin typeface="Arial"/>
              </a:rPr>
              <a:t>– 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Đầu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ra</a:t>
            </a:r>
            <a:r>
              <a:rPr sz="1500" dirty="0">
                <a:solidFill>
                  <a:srgbClr val="444B52"/>
                </a:solidFill>
                <a:latin typeface="Arial"/>
              </a:rPr>
              <a:t>: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xác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suất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rủi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ro</a:t>
            </a:r>
            <a:r>
              <a:rPr lang="vi-VN" sz="1500" dirty="0">
                <a:solidFill>
                  <a:srgbClr val="444B52"/>
                </a:solidFill>
                <a:latin typeface="Arial"/>
              </a:rPr>
              <a:t> cho mỗi bệnh trong 3 loại bệnh trên,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mức</a:t>
            </a:r>
            <a:r>
              <a:rPr lang="vi-VN" sz="1500" dirty="0">
                <a:solidFill>
                  <a:srgbClr val="444B52"/>
                </a:solidFill>
                <a:latin typeface="Arial"/>
              </a:rPr>
              <a:t> độ rủi ro</a:t>
            </a:r>
            <a:r>
              <a:rPr sz="1500" dirty="0">
                <a:solidFill>
                  <a:srgbClr val="444B52"/>
                </a:solidFill>
                <a:latin typeface="Arial"/>
              </a:rPr>
              <a:t> (THẤP/TRUNG BÌNH/CAO)</a:t>
            </a:r>
            <a:r>
              <a:rPr lang="vi-VN" sz="1500" dirty="0">
                <a:solidFill>
                  <a:srgbClr val="444B52"/>
                </a:solidFill>
                <a:latin typeface="Arial"/>
              </a:rPr>
              <a:t>,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khuyến</a:t>
            </a:r>
            <a:r>
              <a:rPr sz="1500" dirty="0">
                <a:solidFill>
                  <a:srgbClr val="444B52"/>
                </a:solidFill>
                <a:latin typeface="Arial"/>
              </a:rPr>
              <a:t> </a:t>
            </a:r>
            <a:r>
              <a:rPr sz="1500" dirty="0" err="1">
                <a:solidFill>
                  <a:srgbClr val="444B52"/>
                </a:solidFill>
                <a:latin typeface="Arial"/>
              </a:rPr>
              <a:t>ngh</a:t>
            </a:r>
            <a:r>
              <a:rPr lang="en-US" sz="1500" dirty="0" err="1">
                <a:solidFill>
                  <a:srgbClr val="444B52"/>
                </a:solidFill>
                <a:latin typeface="Arial"/>
              </a:rPr>
              <a:t>ị</a:t>
            </a:r>
            <a:endParaRPr lang="en-US" sz="1500" dirty="0">
              <a:solidFill>
                <a:srgbClr val="444B5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85685938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DA12C6-5626-2B91-5488-0BFA66720A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75FE787-3626-CB45-0701-6A61F7775C70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VN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C8D29716-1F64-851A-8BFF-9E3640C9AB52}"/>
              </a:ext>
            </a:extLst>
          </p:cNvPr>
          <p:cNvSpPr txBox="1"/>
          <p:nvPr/>
        </p:nvSpPr>
        <p:spPr>
          <a:xfrm>
            <a:off x="503073" y="2279967"/>
            <a:ext cx="4305995" cy="22980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2.1. Thu thập và tiền xử lý dữ liệu</a:t>
            </a:r>
          </a:p>
          <a:p>
            <a:pPr>
              <a:spcAft>
                <a:spcPts val="400"/>
              </a:spcAft>
            </a:pPr>
            <a:endParaRPr lang="vi-VN" sz="15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2.2. Train model</a:t>
            </a:r>
          </a:p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	2.2.1. Train và chọn loại model tốt nhất</a:t>
            </a:r>
          </a:p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	2.2.2. Tune model</a:t>
            </a:r>
          </a:p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	2.2.3. Đánh giá final model</a:t>
            </a:r>
          </a:p>
          <a:p>
            <a:pPr>
              <a:spcAft>
                <a:spcPts val="400"/>
              </a:spcAft>
            </a:pPr>
            <a:endParaRPr lang="vi-VN" sz="15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2.3. Dựng app</a:t>
            </a:r>
            <a:endParaRPr lang="vi-VN" sz="1500" b="1" dirty="0">
              <a:solidFill>
                <a:srgbClr val="444B52"/>
              </a:solidFill>
              <a:latin typeface="Arial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F4112074-3F68-25C8-6E34-896D7D3CEEE4}"/>
              </a:ext>
            </a:extLst>
          </p:cNvPr>
          <p:cNvSpPr txBox="1"/>
          <p:nvPr/>
        </p:nvSpPr>
        <p:spPr>
          <a:xfrm>
            <a:off x="0" y="6488668"/>
            <a:ext cx="2473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cardio_preprocessing.py</a:t>
            </a:r>
            <a:endParaRPr lang="en-VN" dirty="0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AD9F5A01-6092-9D72-943C-A745393F948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36546" y="1574499"/>
            <a:ext cx="7465807" cy="444096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952322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2. Giải 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graphicFrame>
        <p:nvGraphicFramePr>
          <p:cNvPr id="4" name="Table 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16995682"/>
              </p:ext>
            </p:extLst>
          </p:nvPr>
        </p:nvGraphicFramePr>
        <p:xfrm>
          <a:off x="518007" y="2234995"/>
          <a:ext cx="1115568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5544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80160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Bệnh</a:t>
                      </a:r>
                    </a:p>
                  </a:txBody>
                  <a:tcPr marL="73152" marR="73152" marT="27432" marB="27432" anchor="ctr">
                    <a:solidFill>
                      <a:srgbClr val="0F3D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Bộ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Arial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dữ</a:t>
                      </a:r>
                      <a:r>
                        <a:rPr sz="1200" b="1" dirty="0">
                          <a:solidFill>
                            <a:srgbClr val="FFFFFF"/>
                          </a:solidFill>
                          <a:latin typeface="Arial"/>
                        </a:rPr>
                        <a:t> </a:t>
                      </a:r>
                      <a:r>
                        <a:rPr sz="1200" b="1" dirty="0" err="1">
                          <a:solidFill>
                            <a:srgbClr val="FFFFFF"/>
                          </a:solidFill>
                          <a:latin typeface="Arial"/>
                        </a:rPr>
                        <a:t>liệu</a:t>
                      </a:r>
                      <a:endParaRPr sz="1200" b="1" dirty="0">
                        <a:solidFill>
                          <a:srgbClr val="FFFFFF"/>
                        </a:solidFill>
                        <a:latin typeface="Arial"/>
                      </a:endParaRPr>
                    </a:p>
                  </a:txBody>
                  <a:tcPr marL="73152" marR="73152" marT="27432" marB="27432" anchor="ctr">
                    <a:solidFill>
                      <a:srgbClr val="0F3D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Số dòng</a:t>
                      </a:r>
                    </a:p>
                  </a:txBody>
                  <a:tcPr marL="73152" marR="73152" marT="27432" marB="27432" anchor="ctr">
                    <a:solidFill>
                      <a:srgbClr val="0F3D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Đặc trưng</a:t>
                      </a:r>
                    </a:p>
                  </a:txBody>
                  <a:tcPr marL="73152" marR="73152" marT="27432" marB="27432" anchor="ctr">
                    <a:solidFill>
                      <a:srgbClr val="0F3D5E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>
                          <a:solidFill>
                            <a:srgbClr val="FFFFFF"/>
                          </a:solidFill>
                          <a:latin typeface="Arial"/>
                        </a:rPr>
                        <a:t>Nhãn</a:t>
                      </a:r>
                    </a:p>
                  </a:txBody>
                  <a:tcPr marL="73152" marR="73152" marT="27432" marB="27432" anchor="ctr">
                    <a:solidFill>
                      <a:srgbClr val="0F3D5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Tim mạch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Cardiovascular Disease (Kaggle)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70.000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cardio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Tiểu đường</a:t>
                      </a: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Pima Indians Diabetes</a:t>
                      </a: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768</a:t>
                      </a: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Outcome</a:t>
                      </a:r>
                    </a:p>
                  </a:txBody>
                  <a:tcPr marL="73152" marR="73152" marT="27432" marB="27432" anchor="ctr">
                    <a:solidFill>
                      <a:srgbClr val="EAF2F6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Tăng huyết áp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Framingham Heart Study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4.240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>
                          <a:solidFill>
                            <a:srgbClr val="444B52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dirty="0">
                          <a:solidFill>
                            <a:srgbClr val="444B52"/>
                          </a:solidFill>
                          <a:latin typeface="Arial"/>
                        </a:rPr>
                        <a:t>Risk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3976208"/>
            <a:ext cx="11185855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250" dirty="0">
                <a:solidFill>
                  <a:srgbClr val="444B52"/>
                </a:solidFill>
                <a:latin typeface="Arial"/>
              </a:rPr>
              <a:t>Nguồn </a:t>
            </a:r>
            <a:r>
              <a:rPr lang="vi-VN" sz="1250" b="1" dirty="0">
                <a:solidFill>
                  <a:srgbClr val="444B52"/>
                </a:solidFill>
                <a:latin typeface="Arial"/>
              </a:rPr>
              <a:t>Kaggle</a:t>
            </a:r>
            <a:r>
              <a:rPr lang="vi-VN" sz="1250" dirty="0">
                <a:solidFill>
                  <a:srgbClr val="444B52"/>
                </a:solidFill>
                <a:latin typeface="Arial"/>
              </a:rPr>
              <a:t>:</a:t>
            </a:r>
          </a:p>
          <a:p>
            <a:pPr>
              <a:spcAft>
                <a:spcPts val="400"/>
              </a:spcAft>
            </a:pPr>
            <a:r>
              <a:rPr lang="vi-VN" sz="1250" dirty="0">
                <a:solidFill>
                  <a:srgbClr val="444B52"/>
                </a:solidFill>
                <a:latin typeface="Arial"/>
                <a:hlinkClick r:id="rId3"/>
              </a:rPr>
              <a:t>https://www.kaggle.com/datasets/jamaltariqcheema/pima-indians-diabetes-dataset</a:t>
            </a:r>
          </a:p>
          <a:p>
            <a:pPr>
              <a:spcAft>
                <a:spcPts val="400"/>
              </a:spcAft>
            </a:pPr>
            <a:r>
              <a:rPr lang="vi-VN" sz="1250" dirty="0">
                <a:solidFill>
                  <a:srgbClr val="444B52"/>
                </a:solidFill>
                <a:latin typeface="Arial"/>
                <a:hlinkClick r:id="rId3"/>
              </a:rPr>
              <a:t>https://www.kaggle.com/datasets/sulianova/cardiovascular-disease-dataset</a:t>
            </a:r>
            <a:endParaRPr lang="vi-VN" sz="1250" dirty="0">
              <a:solidFill>
                <a:srgbClr val="444B52"/>
              </a:solidFill>
              <a:latin typeface="Arial"/>
            </a:endParaRPr>
          </a:p>
          <a:p>
            <a:pPr>
              <a:spcAft>
                <a:spcPts val="400"/>
              </a:spcAft>
            </a:pPr>
            <a:r>
              <a:rPr lang="vi-VN" sz="1250" dirty="0">
                <a:solidFill>
                  <a:srgbClr val="444B52"/>
                </a:solidFill>
                <a:latin typeface="Arial"/>
                <a:hlinkClick r:id="rId4"/>
              </a:rPr>
              <a:t>https://www.kaggle.com/datasets/khan1803115/hypertension-risk-model-main</a:t>
            </a:r>
            <a:endParaRPr lang="vi-VN" sz="1250" dirty="0">
              <a:solidFill>
                <a:srgbClr val="444B52"/>
              </a:solidFill>
              <a:latin typeface="Arial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B68EC98-9C55-C4EB-AD10-A384497E555C}"/>
              </a:ext>
            </a:extLst>
          </p:cNvPr>
          <p:cNvSpPr txBox="1"/>
          <p:nvPr/>
        </p:nvSpPr>
        <p:spPr>
          <a:xfrm>
            <a:off x="503072" y="1269042"/>
            <a:ext cx="1118585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2.1. Thu thập và tiền xử lý dữ liệu (20% test, 80% train)</a:t>
            </a:r>
            <a:endParaRPr lang="vi-VN" sz="1500" b="1" dirty="0">
              <a:solidFill>
                <a:srgbClr val="444B52"/>
              </a:solidFill>
              <a:latin typeface="Arial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5BBBB87-083E-E1D2-9330-88AF5B828D7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963016B-0092-D3E1-9EA4-94599E449351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VN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052C029F-CDDC-453B-5A64-8E2D80478B5C}"/>
              </a:ext>
            </a:extLst>
          </p:cNvPr>
          <p:cNvSpPr txBox="1"/>
          <p:nvPr/>
        </p:nvSpPr>
        <p:spPr>
          <a:xfrm>
            <a:off x="503072" y="1269042"/>
            <a:ext cx="1118585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2.1. Thu thập và tiền xử lý dữ liệu (20% test, 80% train)</a:t>
            </a:r>
            <a:endParaRPr lang="vi-VN" sz="1500" b="1" dirty="0">
              <a:solidFill>
                <a:srgbClr val="444B52"/>
              </a:solidFill>
              <a:latin typeface="Arial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BFD3C4FE-8818-BF0F-9430-DF9870AB4DF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12847" y="1943100"/>
            <a:ext cx="7366000" cy="34290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C92E374B-B890-2DB9-847D-5B1876A9DAF0}"/>
              </a:ext>
            </a:extLst>
          </p:cNvPr>
          <p:cNvSpPr txBox="1"/>
          <p:nvPr/>
        </p:nvSpPr>
        <p:spPr>
          <a:xfrm>
            <a:off x="0" y="6488668"/>
            <a:ext cx="247362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 err="1"/>
              <a:t>cardio_preprocessing.py</a:t>
            </a:r>
            <a:endParaRPr lang="en-VN" dirty="0"/>
          </a:p>
        </p:txBody>
      </p:sp>
    </p:spTree>
    <p:extLst>
      <p:ext uri="{BB962C8B-B14F-4D97-AF65-F5344CB8AC3E}">
        <p14:creationId xmlns:p14="http://schemas.microsoft.com/office/powerpoint/2010/main" val="120443723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4" name="TextBox 3"/>
          <p:cNvSpPr txBox="1"/>
          <p:nvPr/>
        </p:nvSpPr>
        <p:spPr>
          <a:xfrm>
            <a:off x="503072" y="1269042"/>
            <a:ext cx="1118585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2.2. Train model</a:t>
            </a:r>
            <a:br>
              <a:rPr lang="vi-VN" sz="1500" b="1" dirty="0">
                <a:solidFill>
                  <a:srgbClr val="1B8A7A"/>
                </a:solidFill>
                <a:latin typeface="Arial"/>
              </a:rPr>
            </a:br>
            <a:r>
              <a:rPr lang="vi-VN" sz="1500" b="1" dirty="0">
                <a:solidFill>
                  <a:srgbClr val="1B8A7A"/>
                </a:solidFill>
                <a:latin typeface="Arial"/>
              </a:rPr>
              <a:t>	2.2.1. Train và chọn loại model tốt nhất</a:t>
            </a:r>
            <a:endParaRPr lang="vi-VN" sz="1500" b="1" dirty="0">
              <a:solidFill>
                <a:srgbClr val="444B52"/>
              </a:solidFill>
              <a:latin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C04E6FF-28A5-E54F-E22B-392D02EAAFD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09647" y="1809689"/>
            <a:ext cx="7772400" cy="433959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79482DE-B4E3-DEC2-D5FA-563070729AF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1DF00CB-2EFC-F7B9-632B-A6B484C17075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7DC8FCCE-AD1A-B4FD-3FBA-1466748862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3566" y="1974990"/>
            <a:ext cx="11844562" cy="3613968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9D55EAAF-B7ED-CD20-E70A-E51865014E1E}"/>
              </a:ext>
            </a:extLst>
          </p:cNvPr>
          <p:cNvSpPr txBox="1"/>
          <p:nvPr/>
        </p:nvSpPr>
        <p:spPr>
          <a:xfrm>
            <a:off x="503072" y="1269042"/>
            <a:ext cx="1118585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2.2. Train model</a:t>
            </a:r>
            <a:br>
              <a:rPr lang="vi-VN" sz="1500" b="1" dirty="0">
                <a:solidFill>
                  <a:srgbClr val="1B8A7A"/>
                </a:solidFill>
                <a:latin typeface="Arial"/>
              </a:rPr>
            </a:br>
            <a:r>
              <a:rPr lang="vi-VN" sz="1500" b="1" dirty="0">
                <a:solidFill>
                  <a:srgbClr val="1B8A7A"/>
                </a:solidFill>
                <a:latin typeface="Arial"/>
              </a:rPr>
              <a:t>	2.2.1. Train và chọn loại model tốt nhất</a:t>
            </a:r>
            <a:endParaRPr lang="vi-VN" sz="1500" b="1" dirty="0">
              <a:solidFill>
                <a:srgbClr val="444B5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2227905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F28A3B4-DEEE-AD69-93D4-D2E6166B15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2D2F39D-10DE-BDC6-0600-326D7FDA7D79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9F1B9E17-D07A-FE8B-ED2A-AC10CCF55BE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61170" y="3047315"/>
            <a:ext cx="7469659" cy="1771650"/>
          </a:xfrm>
          <a:prstGeom prst="rect">
            <a:avLst/>
          </a:prstGeom>
        </p:spPr>
      </p:pic>
      <p:sp>
        <p:nvSpPr>
          <p:cNvPr id="7" name="TextBox 6">
            <a:extLst>
              <a:ext uri="{FF2B5EF4-FFF2-40B4-BE49-F238E27FC236}">
                <a16:creationId xmlns:a16="http://schemas.microsoft.com/office/drawing/2014/main" id="{435EDBAE-8AF2-7073-9CBE-0DC33ABAB030}"/>
              </a:ext>
            </a:extLst>
          </p:cNvPr>
          <p:cNvSpPr txBox="1"/>
          <p:nvPr/>
        </p:nvSpPr>
        <p:spPr>
          <a:xfrm>
            <a:off x="503072" y="1269042"/>
            <a:ext cx="1118585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2.2. Train model</a:t>
            </a:r>
            <a:br>
              <a:rPr lang="vi-VN" sz="1500" b="1" dirty="0">
                <a:solidFill>
                  <a:srgbClr val="1B8A7A"/>
                </a:solidFill>
                <a:latin typeface="Arial"/>
              </a:rPr>
            </a:br>
            <a:r>
              <a:rPr lang="vi-VN" sz="1500" b="1" dirty="0">
                <a:solidFill>
                  <a:srgbClr val="1B8A7A"/>
                </a:solidFill>
                <a:latin typeface="Arial"/>
              </a:rPr>
              <a:t>	2.2.2. Tune model</a:t>
            </a:r>
            <a:endParaRPr lang="vi-VN" sz="1500" b="1" dirty="0">
              <a:solidFill>
                <a:srgbClr val="444B52"/>
              </a:solidFill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25196794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4178A-7D52-76B6-0964-51C2F99892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4590FEB-5C72-FF64-9BF9-5E4B7DFA93A5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7154E404-15A0-25D9-0286-92104EBEA54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14076" y="2229313"/>
            <a:ext cx="11963542" cy="1503922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7BB32D1C-DBA4-A325-80A7-CFAD97AE7263}"/>
              </a:ext>
            </a:extLst>
          </p:cNvPr>
          <p:cNvSpPr txBox="1"/>
          <p:nvPr/>
        </p:nvSpPr>
        <p:spPr>
          <a:xfrm>
            <a:off x="503072" y="1269042"/>
            <a:ext cx="11185855" cy="55399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2.2. Train model</a:t>
            </a:r>
            <a:br>
              <a:rPr lang="vi-VN" sz="1500" b="1" dirty="0">
                <a:solidFill>
                  <a:srgbClr val="1B8A7A"/>
                </a:solidFill>
                <a:latin typeface="Arial"/>
              </a:rPr>
            </a:br>
            <a:r>
              <a:rPr lang="vi-VN" sz="1500" b="1" dirty="0">
                <a:solidFill>
                  <a:srgbClr val="1B8A7A"/>
                </a:solidFill>
                <a:latin typeface="Arial"/>
              </a:rPr>
              <a:t>	2.2.3. Đánh giá final model</a:t>
            </a:r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0E935882-F1C6-7624-DC88-6A02F36E731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436230018"/>
              </p:ext>
            </p:extLst>
          </p:nvPr>
        </p:nvGraphicFramePr>
        <p:xfrm>
          <a:off x="2023380" y="4139509"/>
          <a:ext cx="8144934" cy="2479142"/>
        </p:xfrm>
        <a:graphic>
          <a:graphicData uri="http://schemas.openxmlformats.org/drawingml/2006/table">
            <a:tbl>
              <a:tblPr firstRow="1" firstCol="1" bandRow="1">
                <a:tableStyleId>{5C22544A-7EE6-4342-B048-85BDC9FD1C3A}</a:tableStyleId>
              </a:tblPr>
              <a:tblGrid>
                <a:gridCol w="2714978">
                  <a:extLst>
                    <a:ext uri="{9D8B030D-6E8A-4147-A177-3AD203B41FA5}">
                      <a16:colId xmlns:a16="http://schemas.microsoft.com/office/drawing/2014/main" val="2812000451"/>
                    </a:ext>
                  </a:extLst>
                </a:gridCol>
                <a:gridCol w="2714978">
                  <a:extLst>
                    <a:ext uri="{9D8B030D-6E8A-4147-A177-3AD203B41FA5}">
                      <a16:colId xmlns:a16="http://schemas.microsoft.com/office/drawing/2014/main" val="1365840392"/>
                    </a:ext>
                  </a:extLst>
                </a:gridCol>
                <a:gridCol w="2714978">
                  <a:extLst>
                    <a:ext uri="{9D8B030D-6E8A-4147-A177-3AD203B41FA5}">
                      <a16:colId xmlns:a16="http://schemas.microsoft.com/office/drawing/2014/main" val="2450123132"/>
                    </a:ext>
                  </a:extLst>
                </a:gridCol>
              </a:tblGrid>
              <a:tr h="40410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600" dirty="0" err="1">
                          <a:effectLst/>
                        </a:rPr>
                        <a:t>Mô</a:t>
                      </a:r>
                      <a:r>
                        <a:rPr lang="en-US" sz="1600" dirty="0">
                          <a:effectLst/>
                        </a:rPr>
                        <a:t> </a:t>
                      </a:r>
                      <a:r>
                        <a:rPr lang="en-US" sz="1600" dirty="0" err="1">
                          <a:effectLst/>
                        </a:rPr>
                        <a:t>hình</a:t>
                      </a:r>
                      <a:endParaRPr lang="en-VN" sz="2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600" dirty="0">
                          <a:effectLst/>
                        </a:rPr>
                        <a:t>Recall (%)</a:t>
                      </a:r>
                      <a:endParaRPr lang="en-VN" sz="2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vi-VN" sz="1600" dirty="0">
                          <a:effectLst/>
                        </a:rPr>
                        <a:t>Macro F</a:t>
                      </a:r>
                      <a:r>
                        <a:rPr lang="en-US" sz="1600" dirty="0">
                          <a:effectLst/>
                        </a:rPr>
                        <a:t>1 (%)</a:t>
                      </a:r>
                      <a:endParaRPr lang="en-VN" sz="2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92707987"/>
                  </a:ext>
                </a:extLst>
              </a:tr>
              <a:tr h="404102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600" dirty="0">
                          <a:effectLst/>
                        </a:rPr>
                        <a:t>Tim </a:t>
                      </a:r>
                      <a:r>
                        <a:rPr lang="en-US" sz="1600" dirty="0" err="1">
                          <a:effectLst/>
                        </a:rPr>
                        <a:t>mạch</a:t>
                      </a:r>
                      <a:endParaRPr lang="en-VN" sz="2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600" dirty="0">
                          <a:effectLst/>
                        </a:rPr>
                        <a:t>78,6%</a:t>
                      </a:r>
                      <a:endParaRPr lang="en-VN" sz="2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600" dirty="0">
                          <a:effectLst/>
                        </a:rPr>
                        <a:t>73,9%</a:t>
                      </a:r>
                      <a:endParaRPr lang="en-VN" sz="2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701987229"/>
                  </a:ext>
                </a:extLst>
              </a:tr>
              <a:tr h="83546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600" dirty="0" err="1">
                          <a:effectLst/>
                        </a:rPr>
                        <a:t>Đái</a:t>
                      </a:r>
                      <a:r>
                        <a:rPr lang="en-US" sz="1600" dirty="0">
                          <a:effectLst/>
                        </a:rPr>
                        <a:t> </a:t>
                      </a:r>
                      <a:r>
                        <a:rPr lang="en-US" sz="1600" dirty="0" err="1">
                          <a:effectLst/>
                        </a:rPr>
                        <a:t>tháo</a:t>
                      </a:r>
                      <a:r>
                        <a:rPr lang="en-US" sz="1600" dirty="0">
                          <a:effectLst/>
                        </a:rPr>
                        <a:t> </a:t>
                      </a:r>
                      <a:r>
                        <a:rPr lang="en-US" sz="1600" dirty="0" err="1">
                          <a:effectLst/>
                        </a:rPr>
                        <a:t>đường</a:t>
                      </a:r>
                      <a:endParaRPr lang="en-VN" sz="2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600" dirty="0">
                          <a:effectLst/>
                        </a:rPr>
                        <a:t>79,6%</a:t>
                      </a:r>
                      <a:endParaRPr lang="en-VN" sz="2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600" dirty="0">
                          <a:effectLst/>
                        </a:rPr>
                        <a:t>72,9%</a:t>
                      </a:r>
                      <a:endParaRPr lang="en-VN" sz="2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35218415"/>
                  </a:ext>
                </a:extLst>
              </a:tr>
              <a:tr h="835469"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600" dirty="0" err="1">
                          <a:effectLst/>
                        </a:rPr>
                        <a:t>Tăng</a:t>
                      </a:r>
                      <a:r>
                        <a:rPr lang="en-US" sz="1600" dirty="0">
                          <a:effectLst/>
                        </a:rPr>
                        <a:t> </a:t>
                      </a:r>
                      <a:r>
                        <a:rPr lang="en-US" sz="1600" dirty="0" err="1">
                          <a:effectLst/>
                        </a:rPr>
                        <a:t>huyết</a:t>
                      </a:r>
                      <a:r>
                        <a:rPr lang="en-US" sz="1600" dirty="0">
                          <a:effectLst/>
                        </a:rPr>
                        <a:t> </a:t>
                      </a:r>
                      <a:r>
                        <a:rPr lang="en-US" sz="1600" dirty="0" err="1">
                          <a:effectLst/>
                        </a:rPr>
                        <a:t>áp</a:t>
                      </a:r>
                      <a:endParaRPr lang="en-VN" sz="2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600" dirty="0">
                          <a:effectLst/>
                        </a:rPr>
                        <a:t>92,4%</a:t>
                      </a:r>
                      <a:endParaRPr lang="en-VN" sz="2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15000"/>
                        </a:lnSpc>
                        <a:spcAft>
                          <a:spcPts val="1000"/>
                        </a:spcAft>
                        <a:buNone/>
                      </a:pPr>
                      <a:r>
                        <a:rPr lang="en-US" sz="1600" dirty="0">
                          <a:effectLst/>
                        </a:rPr>
                        <a:t>85,1%</a:t>
                      </a:r>
                      <a:endParaRPr lang="en-VN" sz="2800" dirty="0">
                        <a:effectLst/>
                        <a:latin typeface="Times New Roman" panose="02020603050405020304" pitchFamily="18" charset="0"/>
                        <a:ea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40590719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3606772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01D081D-638C-0277-4805-7B7571F7D1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7262F65B-1F29-97CE-708B-DEDEFD475062}"/>
              </a:ext>
            </a:extLst>
          </p:cNvPr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2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Giải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2600" b="1" dirty="0" err="1">
                <a:solidFill>
                  <a:srgbClr val="FFFFFF"/>
                </a:solidFill>
                <a:latin typeface="Arial"/>
              </a:rPr>
              <a:t>pháp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02B2369E-F6DD-3374-483C-ED25CBC11465}"/>
              </a:ext>
            </a:extLst>
          </p:cNvPr>
          <p:cNvSpPr txBox="1"/>
          <p:nvPr/>
        </p:nvSpPr>
        <p:spPr>
          <a:xfrm>
            <a:off x="9525000" y="1746765"/>
            <a:ext cx="2447237" cy="234166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lvl="1">
              <a:spcAft>
                <a:spcPts val="400"/>
              </a:spcAft>
            </a:pPr>
            <a:r>
              <a:rPr lang="vi-VN" sz="1050" dirty="0">
                <a:solidFill>
                  <a:srgbClr val="444B52"/>
                </a:solidFill>
                <a:latin typeface="Arial"/>
              </a:rPr>
              <a:t>–  Khuyến nghị dựa trên RULE (bảng tra cứu tĩnh), không dùng ML</a:t>
            </a:r>
          </a:p>
          <a:p>
            <a:pPr lvl="1">
              <a:spcAft>
                <a:spcPts val="400"/>
              </a:spcAft>
            </a:pPr>
            <a:endParaRPr lang="vi-VN" sz="1050" dirty="0">
              <a:solidFill>
                <a:srgbClr val="444B52"/>
              </a:solidFill>
              <a:latin typeface="Arial"/>
            </a:endParaRPr>
          </a:p>
          <a:p>
            <a:pPr lvl="1">
              <a:spcAft>
                <a:spcPts val="400"/>
              </a:spcAft>
            </a:pPr>
            <a:r>
              <a:rPr lang="vi-VN" sz="1050" dirty="0">
                <a:solidFill>
                  <a:srgbClr val="444B52"/>
                </a:solidFill>
                <a:latin typeface="Arial"/>
              </a:rPr>
              <a:t>–  Ánh xạ theo mức rủi ro (LOW/MODERATE/HIGH) từng bệnh + tổng thể</a:t>
            </a:r>
          </a:p>
          <a:p>
            <a:pPr lvl="1">
              <a:spcAft>
                <a:spcPts val="400"/>
              </a:spcAft>
            </a:pPr>
            <a:endParaRPr lang="vi-VN" sz="1050" dirty="0">
              <a:solidFill>
                <a:srgbClr val="444B52"/>
              </a:solidFill>
              <a:latin typeface="Arial"/>
            </a:endParaRPr>
          </a:p>
          <a:p>
            <a:pPr lvl="1">
              <a:spcAft>
                <a:spcPts val="400"/>
              </a:spcAft>
            </a:pPr>
            <a:r>
              <a:rPr lang="vi-VN" sz="1050" dirty="0">
                <a:solidFill>
                  <a:srgbClr val="444B52"/>
                </a:solidFill>
                <a:latin typeface="Arial"/>
              </a:rPr>
              <a:t>–  Ưu điểm: minh bạch, kiểm soát được, an toàn — phù hợp y tế; luôn kèm disclaimer</a:t>
            </a:r>
          </a:p>
          <a:p>
            <a:endParaRPr lang="en-VN" sz="1400" dirty="0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9850A6DB-880A-2B79-0FE5-F8DA311D40EA}"/>
              </a:ext>
            </a:extLst>
          </p:cNvPr>
          <p:cNvSpPr txBox="1"/>
          <p:nvPr/>
        </p:nvSpPr>
        <p:spPr>
          <a:xfrm>
            <a:off x="503072" y="1269042"/>
            <a:ext cx="11185855" cy="3231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2.3. Dựng webapp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FAC68638-EFDF-DDB0-FB0D-5CC77CE680B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72534" y="1592207"/>
            <a:ext cx="9427680" cy="526579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7805864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365760" tIns="109728" rtlCol="0" anchor="ctr"/>
          <a:lstStyle/>
          <a:p>
            <a:pPr algn="ctr"/>
            <a:r>
              <a:rPr lang="vi-VN" sz="2600" b="1" dirty="0">
                <a:solidFill>
                  <a:srgbClr val="FFFFFF"/>
                </a:solidFill>
                <a:latin typeface="Arial"/>
              </a:rPr>
              <a:t>3</a:t>
            </a:r>
            <a:r>
              <a:rPr sz="2600" b="1" dirty="0">
                <a:solidFill>
                  <a:srgbClr val="FFFFFF"/>
                </a:solidFill>
                <a:latin typeface="Arial"/>
              </a:rPr>
              <a:t>. Dem</a:t>
            </a:r>
            <a:r>
              <a:rPr lang="vi-VN" sz="2600" b="1" dirty="0">
                <a:solidFill>
                  <a:srgbClr val="FFFFFF"/>
                </a:solidFill>
                <a:latin typeface="Arial"/>
              </a:rPr>
              <a:t>o</a:t>
            </a:r>
            <a:endParaRPr lang="en-US" sz="2600" b="1" dirty="0">
              <a:solidFill>
                <a:srgbClr val="FFFFFF"/>
              </a:solidFill>
              <a:latin typeface="Arial"/>
            </a:endParaRPr>
          </a:p>
          <a:p>
            <a:endParaRPr lang="en-US" sz="1300" i="1" dirty="0">
              <a:solidFill>
                <a:srgbClr val="CFE3EC"/>
              </a:solidFill>
              <a:latin typeface="Arial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502920" y="1325880"/>
            <a:ext cx="11185855" cy="119263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lang="vi-VN" sz="1500" b="1" dirty="0">
                <a:solidFill>
                  <a:srgbClr val="1B8A7A"/>
                </a:solidFill>
                <a:latin typeface="Arial"/>
              </a:rPr>
              <a:t>3.1 -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Đánh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giá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rủi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ro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3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bệnh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mãn</a:t>
            </a:r>
            <a:r>
              <a:rPr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sz="1500" b="1" dirty="0" err="1">
                <a:solidFill>
                  <a:srgbClr val="1B8A7A"/>
                </a:solidFill>
                <a:latin typeface="Arial"/>
              </a:rPr>
              <a:t>tính</a:t>
            </a:r>
            <a:endParaRPr lang="en-US" sz="15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r>
              <a:rPr lang="en-US" sz="1500" b="1" dirty="0">
                <a:solidFill>
                  <a:srgbClr val="1B8A7A"/>
                </a:solidFill>
                <a:latin typeface="Arial"/>
              </a:rPr>
              <a:t>3.2 -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Khuyến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nghị</a:t>
            </a:r>
            <a:endParaRPr lang="en-US" sz="1500" b="1" dirty="0">
              <a:solidFill>
                <a:srgbClr val="1B8A7A"/>
              </a:solidFill>
              <a:latin typeface="Arial"/>
            </a:endParaRPr>
          </a:p>
          <a:p>
            <a:pPr>
              <a:spcAft>
                <a:spcPts val="500"/>
              </a:spcAft>
            </a:pPr>
            <a:r>
              <a:rPr lang="en-US" sz="1500" b="1" dirty="0">
                <a:solidFill>
                  <a:srgbClr val="1B8A7A"/>
                </a:solidFill>
                <a:latin typeface="Arial"/>
              </a:rPr>
              <a:t>3.3 - CRUD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thông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tin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bệnh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nhân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và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thông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tin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đo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sức</a:t>
            </a:r>
            <a:r>
              <a:rPr lang="en-US" sz="1500" b="1" dirty="0">
                <a:solidFill>
                  <a:srgbClr val="1B8A7A"/>
                </a:solidFill>
                <a:latin typeface="Arial"/>
              </a:rPr>
              <a:t> </a:t>
            </a:r>
            <a:r>
              <a:rPr lang="en-US" sz="1500" b="1" dirty="0" err="1">
                <a:solidFill>
                  <a:srgbClr val="1B8A7A"/>
                </a:solidFill>
                <a:latin typeface="Arial"/>
              </a:rPr>
              <a:t>khoẻ</a:t>
            </a:r>
            <a:endParaRPr lang="en-US" sz="1500" b="1" dirty="0">
              <a:solidFill>
                <a:srgbClr val="1B8A7A"/>
              </a:solidFill>
              <a:latin typeface="Arial"/>
            </a:endParaRPr>
          </a:p>
          <a:p>
            <a:pPr lvl="1">
              <a:spcAft>
                <a:spcPts val="500"/>
              </a:spcAft>
            </a:pPr>
            <a:endParaRPr lang="vi-VN" sz="1400" dirty="0">
              <a:solidFill>
                <a:srgbClr val="444B52"/>
              </a:solidFill>
              <a:latin typeface="Arial"/>
            </a:endParaRP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03E4DB9C-CCBF-6763-FF37-4C651DDB31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19173" y="2336671"/>
            <a:ext cx="8953347" cy="4211633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3D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TextBox 2"/>
          <p:cNvSpPr txBox="1"/>
          <p:nvPr/>
        </p:nvSpPr>
        <p:spPr>
          <a:xfrm>
            <a:off x="822960" y="1280160"/>
            <a:ext cx="10545775" cy="113877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 dirty="0" err="1">
                <a:solidFill>
                  <a:srgbClr val="FFFFFF"/>
                </a:solidFill>
                <a:latin typeface="Arial"/>
              </a:rPr>
              <a:t>Kết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thúc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&amp;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Hỏi</a:t>
            </a:r>
            <a:r>
              <a:rPr sz="34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3400" b="1" dirty="0" err="1">
                <a:solidFill>
                  <a:srgbClr val="FFFFFF"/>
                </a:solidFill>
                <a:latin typeface="Arial"/>
              </a:rPr>
              <a:t>đáp</a:t>
            </a:r>
            <a:endParaRPr sz="3400" b="1" dirty="0">
              <a:solidFill>
                <a:srgbClr val="FFFFFF"/>
              </a:solidFill>
              <a:latin typeface="Arial"/>
            </a:endParaRPr>
          </a:p>
          <a:p>
            <a:endParaRPr sz="1600" b="0" dirty="0">
              <a:solidFill>
                <a:srgbClr val="CFE3EC"/>
              </a:solidFill>
              <a:latin typeface="Arial"/>
            </a:endParaRPr>
          </a:p>
          <a:p>
            <a:r>
              <a:rPr sz="1800" b="1" dirty="0" err="1">
                <a:solidFill>
                  <a:srgbClr val="FFFFFF"/>
                </a:solidFill>
                <a:latin typeface="Arial"/>
              </a:rPr>
              <a:t>Cảm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ơn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lang="vi-VN" sz="1800" b="1" dirty="0">
                <a:solidFill>
                  <a:srgbClr val="FFFFFF"/>
                </a:solidFill>
                <a:latin typeface="Arial"/>
              </a:rPr>
              <a:t>thầy và mọi người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đã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lắng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 </a:t>
            </a:r>
            <a:r>
              <a:rPr sz="1800" b="1" dirty="0" err="1">
                <a:solidFill>
                  <a:srgbClr val="FFFFFF"/>
                </a:solidFill>
                <a:latin typeface="Arial"/>
              </a:rPr>
              <a:t>nghe</a:t>
            </a:r>
            <a:r>
              <a:rPr sz="1800" b="1" dirty="0">
                <a:solidFill>
                  <a:srgbClr val="FFFFFF"/>
                </a:solidFill>
                <a:latin typeface="Arial"/>
              </a:rPr>
              <a:t>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0cf7ac0a-4681-4823-ab0b-04ef02c5f873}" enabled="1" method="Standard" siteId="{42f7676c-f455-423c-82f6-dc2d99791af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2972</TotalTime>
  <Words>605</Words>
  <Application>Microsoft Macintosh PowerPoint</Application>
  <PresentationFormat>Widescreen</PresentationFormat>
  <Paragraphs>96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Times New Roman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Dinh, Thong</cp:lastModifiedBy>
  <cp:revision>134</cp:revision>
  <dcterms:created xsi:type="dcterms:W3CDTF">2013-01-27T09:14:16Z</dcterms:created>
  <dcterms:modified xsi:type="dcterms:W3CDTF">2026-09-27T15:23:58Z</dcterms:modified>
  <cp:category/>
</cp:coreProperties>
</file>