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4" r:id="rId4"/>
    <p:sldId id="258" r:id="rId5"/>
    <p:sldId id="259" r:id="rId6"/>
    <p:sldId id="265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07"/>
    <p:restoredTop sz="94639"/>
  </p:normalViewPr>
  <p:slideViewPr>
    <p:cSldViewPr snapToGrid="0" snapToObjects="1">
      <p:cViewPr varScale="1">
        <p:scale>
          <a:sx n="151" d="100"/>
          <a:sy n="151" d="100"/>
        </p:scale>
        <p:origin x="208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3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Định vị 1 câu: Ứng dụng giúp sàng lọc sớm rủi ro 3 bệnh mãn tính từ chỉ số sức khỏe cơ bản, kèm khuyến nghị và giải thích minh bạch. Người trình bày: Thuận.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Nhấn</a:t>
            </a:r>
            <a:r>
              <a:rPr dirty="0"/>
              <a:t> </a:t>
            </a:r>
            <a:r>
              <a:rPr dirty="0" err="1"/>
              <a:t>mạnh</a:t>
            </a:r>
            <a:r>
              <a:rPr dirty="0"/>
              <a:t> </a:t>
            </a:r>
            <a:r>
              <a:rPr dirty="0" err="1"/>
              <a:t>ranh</a:t>
            </a:r>
            <a:r>
              <a:rPr dirty="0"/>
              <a:t> </a:t>
            </a: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trách</a:t>
            </a:r>
            <a:r>
              <a:rPr dirty="0"/>
              <a:t> </a:t>
            </a:r>
            <a:r>
              <a:rPr dirty="0" err="1"/>
              <a:t>nhiệm</a:t>
            </a:r>
            <a:r>
              <a:rPr dirty="0"/>
              <a:t> — </a:t>
            </a:r>
            <a:r>
              <a:rPr dirty="0" err="1"/>
              <a:t>điểm</a:t>
            </a:r>
            <a:r>
              <a:rPr dirty="0"/>
              <a:t> </a:t>
            </a:r>
            <a:r>
              <a:rPr dirty="0" err="1"/>
              <a:t>cộng</a:t>
            </a:r>
            <a:r>
              <a:rPr dirty="0"/>
              <a:t> </a:t>
            </a:r>
            <a:r>
              <a:rPr dirty="0" err="1"/>
              <a:t>về</a:t>
            </a:r>
            <a:r>
              <a:rPr dirty="0"/>
              <a:t> </a:t>
            </a:r>
            <a:r>
              <a:rPr dirty="0" err="1"/>
              <a:t>đạo</a:t>
            </a:r>
            <a:r>
              <a:rPr dirty="0"/>
              <a:t> </a:t>
            </a:r>
            <a:r>
              <a:rPr dirty="0" err="1"/>
              <a:t>đức</a:t>
            </a:r>
            <a:r>
              <a:rPr dirty="0"/>
              <a:t> AI, </a:t>
            </a:r>
            <a:r>
              <a:rPr dirty="0" err="1"/>
              <a:t>phòng</a:t>
            </a:r>
            <a:r>
              <a:rPr dirty="0"/>
              <a:t> </a:t>
            </a:r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'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bác</a:t>
            </a:r>
            <a:r>
              <a:rPr dirty="0"/>
              <a:t> </a:t>
            </a:r>
            <a:r>
              <a:rPr dirty="0" err="1"/>
              <a:t>sĩ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1198F-3080-83F6-A15E-AF08A8AD2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B9447-10FE-9609-762A-8B054CD94B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13767-219A-3043-0049-9DC2F4C03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Nhấn</a:t>
            </a:r>
            <a:r>
              <a:rPr dirty="0"/>
              <a:t> </a:t>
            </a:r>
            <a:r>
              <a:rPr dirty="0" err="1"/>
              <a:t>mạnh</a:t>
            </a:r>
            <a:r>
              <a:rPr dirty="0"/>
              <a:t> </a:t>
            </a:r>
            <a:r>
              <a:rPr dirty="0" err="1"/>
              <a:t>ranh</a:t>
            </a:r>
            <a:r>
              <a:rPr dirty="0"/>
              <a:t> </a:t>
            </a: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trách</a:t>
            </a:r>
            <a:r>
              <a:rPr dirty="0"/>
              <a:t> </a:t>
            </a:r>
            <a:r>
              <a:rPr dirty="0" err="1"/>
              <a:t>nhiệm</a:t>
            </a:r>
            <a:r>
              <a:rPr dirty="0"/>
              <a:t> — </a:t>
            </a:r>
            <a:r>
              <a:rPr dirty="0" err="1"/>
              <a:t>điểm</a:t>
            </a:r>
            <a:r>
              <a:rPr dirty="0"/>
              <a:t> </a:t>
            </a:r>
            <a:r>
              <a:rPr dirty="0" err="1"/>
              <a:t>cộng</a:t>
            </a:r>
            <a:r>
              <a:rPr dirty="0"/>
              <a:t> </a:t>
            </a:r>
            <a:r>
              <a:rPr dirty="0" err="1"/>
              <a:t>về</a:t>
            </a:r>
            <a:r>
              <a:rPr dirty="0"/>
              <a:t> </a:t>
            </a:r>
            <a:r>
              <a:rPr dirty="0" err="1"/>
              <a:t>đạo</a:t>
            </a:r>
            <a:r>
              <a:rPr dirty="0"/>
              <a:t> </a:t>
            </a:r>
            <a:r>
              <a:rPr dirty="0" err="1"/>
              <a:t>đức</a:t>
            </a:r>
            <a:r>
              <a:rPr dirty="0"/>
              <a:t> AI, </a:t>
            </a:r>
            <a:r>
              <a:rPr dirty="0" err="1"/>
              <a:t>phòng</a:t>
            </a:r>
            <a:r>
              <a:rPr dirty="0"/>
              <a:t> </a:t>
            </a:r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'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bác</a:t>
            </a:r>
            <a:r>
              <a:rPr dirty="0"/>
              <a:t> </a:t>
            </a:r>
            <a:r>
              <a:rPr dirty="0" err="1"/>
              <a:t>sĩ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'.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763FE-23B3-E185-B875-D3C5EC24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2281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Đây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xương</a:t>
            </a:r>
            <a:r>
              <a:rPr dirty="0"/>
              <a:t> </a:t>
            </a:r>
            <a:r>
              <a:rPr dirty="0" err="1"/>
              <a:t>sống</a:t>
            </a:r>
            <a:r>
              <a:rPr dirty="0"/>
              <a:t> </a:t>
            </a:r>
            <a:r>
              <a:rPr dirty="0" err="1"/>
              <a:t>gắn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thuyết</a:t>
            </a:r>
            <a:r>
              <a:rPr dirty="0"/>
              <a:t> Trustworthy AI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quyết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</a:t>
            </a:r>
            <a:r>
              <a:rPr dirty="0" err="1"/>
              <a:t>kỹ</a:t>
            </a:r>
            <a:r>
              <a:rPr dirty="0"/>
              <a:t> </a:t>
            </a:r>
            <a:r>
              <a:rPr dirty="0" err="1"/>
              <a:t>thuật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module 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trustworthy_ai</a:t>
            </a:r>
            <a:r>
              <a:rPr dirty="0"/>
              <a:t>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Giải</a:t>
            </a:r>
            <a:r>
              <a:rPr dirty="0"/>
              <a:t> </a:t>
            </a:r>
            <a:r>
              <a:rPr dirty="0" err="1"/>
              <a:t>thích</a:t>
            </a:r>
            <a:r>
              <a:rPr dirty="0"/>
              <a:t> </a:t>
            </a:r>
            <a:r>
              <a:rPr dirty="0" err="1"/>
              <a:t>vì</a:t>
            </a:r>
            <a:r>
              <a:rPr dirty="0"/>
              <a:t> </a:t>
            </a:r>
            <a:r>
              <a:rPr dirty="0" err="1"/>
              <a:t>sao</a:t>
            </a:r>
            <a:r>
              <a:rPr dirty="0"/>
              <a:t> </a:t>
            </a:r>
            <a:r>
              <a:rPr dirty="0" err="1"/>
              <a:t>khuyến</a:t>
            </a:r>
            <a:r>
              <a:rPr dirty="0"/>
              <a:t> </a:t>
            </a:r>
            <a:r>
              <a:rPr dirty="0" err="1"/>
              <a:t>nghị</a:t>
            </a:r>
            <a:r>
              <a:rPr dirty="0"/>
              <a:t> </a:t>
            </a:r>
            <a:r>
              <a:rPr dirty="0" err="1"/>
              <a:t>cố</a:t>
            </a:r>
            <a:r>
              <a:rPr dirty="0"/>
              <a:t> </a:t>
            </a:r>
            <a:r>
              <a:rPr dirty="0" err="1"/>
              <a:t>tình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rule </a:t>
            </a:r>
            <a:r>
              <a:rPr dirty="0" err="1"/>
              <a:t>chứ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ML — </a:t>
            </a:r>
            <a:r>
              <a:rPr dirty="0" err="1"/>
              <a:t>tránh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lời</a:t>
            </a:r>
            <a:r>
              <a:rPr dirty="0"/>
              <a:t> </a:t>
            </a:r>
            <a:r>
              <a:rPr dirty="0" err="1"/>
              <a:t>khuyên</a:t>
            </a:r>
            <a:r>
              <a:rPr dirty="0"/>
              <a:t> y </a:t>
            </a:r>
            <a:r>
              <a:rPr dirty="0" err="1"/>
              <a:t>tế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soát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225F-C976-576D-0EE6-1176D53D5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19D221-FD29-3B1A-87CE-D743152BF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A18D41-857A-0BBD-DB7F-B24BD2132C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Giải</a:t>
            </a:r>
            <a:r>
              <a:rPr dirty="0"/>
              <a:t> </a:t>
            </a:r>
            <a:r>
              <a:rPr dirty="0" err="1"/>
              <a:t>thích</a:t>
            </a:r>
            <a:r>
              <a:rPr dirty="0"/>
              <a:t> </a:t>
            </a:r>
            <a:r>
              <a:rPr dirty="0" err="1"/>
              <a:t>vì</a:t>
            </a:r>
            <a:r>
              <a:rPr dirty="0"/>
              <a:t> </a:t>
            </a:r>
            <a:r>
              <a:rPr dirty="0" err="1"/>
              <a:t>sao</a:t>
            </a:r>
            <a:r>
              <a:rPr dirty="0"/>
              <a:t> </a:t>
            </a:r>
            <a:r>
              <a:rPr dirty="0" err="1"/>
              <a:t>khuyến</a:t>
            </a:r>
            <a:r>
              <a:rPr dirty="0"/>
              <a:t> </a:t>
            </a:r>
            <a:r>
              <a:rPr dirty="0" err="1"/>
              <a:t>nghị</a:t>
            </a:r>
            <a:r>
              <a:rPr dirty="0"/>
              <a:t> </a:t>
            </a:r>
            <a:r>
              <a:rPr dirty="0" err="1"/>
              <a:t>cố</a:t>
            </a:r>
            <a:r>
              <a:rPr dirty="0"/>
              <a:t> </a:t>
            </a:r>
            <a:r>
              <a:rPr dirty="0" err="1"/>
              <a:t>tình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rule </a:t>
            </a:r>
            <a:r>
              <a:rPr dirty="0" err="1"/>
              <a:t>chứ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ML — </a:t>
            </a:r>
            <a:r>
              <a:rPr dirty="0" err="1"/>
              <a:t>tránh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lời</a:t>
            </a:r>
            <a:r>
              <a:rPr dirty="0"/>
              <a:t> </a:t>
            </a:r>
            <a:r>
              <a:rPr dirty="0" err="1"/>
              <a:t>khuyên</a:t>
            </a:r>
            <a:r>
              <a:rPr dirty="0"/>
              <a:t> y </a:t>
            </a:r>
            <a:r>
              <a:rPr dirty="0" err="1"/>
              <a:t>tế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soát</a:t>
            </a:r>
            <a:r>
              <a:rPr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71A58-3B46-A160-4410-BD16CA009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993856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Nêu</a:t>
            </a:r>
            <a:r>
              <a:rPr dirty="0"/>
              <a:t> </a:t>
            </a:r>
            <a:r>
              <a:rPr dirty="0" err="1"/>
              <a:t>rõ</a:t>
            </a:r>
            <a:r>
              <a:rPr dirty="0"/>
              <a:t> 4 </a:t>
            </a:r>
            <a:r>
              <a:rPr dirty="0" err="1"/>
              <a:t>tầng</a:t>
            </a:r>
            <a:r>
              <a:rPr dirty="0"/>
              <a:t>: Prediction → Decision → Recommendation → UI. </a:t>
            </a:r>
            <a:r>
              <a:rPr dirty="0" err="1"/>
              <a:t>src</a:t>
            </a:r>
            <a:r>
              <a:rPr dirty="0"/>
              <a:t>/application/</a:t>
            </a:r>
            <a:r>
              <a:rPr dirty="0" err="1"/>
              <a:t>healthcare_assistant.py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lớp</a:t>
            </a:r>
            <a:r>
              <a:rPr dirty="0"/>
              <a:t> </a:t>
            </a: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phối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Khi demo '</a:t>
            </a:r>
            <a:r>
              <a:rPr dirty="0" err="1"/>
              <a:t>Hỏi</a:t>
            </a:r>
            <a:r>
              <a:rPr dirty="0"/>
              <a:t> AI',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tả</a:t>
            </a:r>
            <a:r>
              <a:rPr dirty="0"/>
              <a:t> </a:t>
            </a:r>
            <a:r>
              <a:rPr dirty="0" err="1"/>
              <a:t>đúng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dựa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luật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ràng</a:t>
            </a:r>
            <a:r>
              <a:rPr dirty="0"/>
              <a:t> </a:t>
            </a:r>
            <a:r>
              <a:rPr dirty="0" err="1"/>
              <a:t>buộc</a:t>
            </a:r>
            <a:r>
              <a:rPr dirty="0"/>
              <a:t> an </a:t>
            </a:r>
            <a:r>
              <a:rPr dirty="0" err="1"/>
              <a:t>toàn</a:t>
            </a:r>
            <a:r>
              <a:rPr dirty="0"/>
              <a:t> — KHÔNG </a:t>
            </a:r>
            <a:r>
              <a:rPr dirty="0" err="1"/>
              <a:t>gọi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LLM. RAG+LLM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r>
              <a:rPr dirty="0"/>
              <a:t> (Slide 7).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chốt</a:t>
            </a:r>
            <a:r>
              <a:rPr dirty="0"/>
              <a:t>: </a:t>
            </a:r>
            <a:r>
              <a:rPr dirty="0" err="1"/>
              <a:t>ẩn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'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đáp</a:t>
            </a:r>
            <a:r>
              <a:rPr dirty="0"/>
              <a:t> Quốc </a:t>
            </a:r>
            <a:r>
              <a:rPr dirty="0" err="1"/>
              <a:t>phòng</a:t>
            </a:r>
            <a:r>
              <a:rPr dirty="0"/>
              <a:t>' </a:t>
            </a:r>
            <a:r>
              <a:rPr dirty="0" err="1"/>
              <a:t>trước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demo; GIỮ dashboard Trustworthy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khung</a:t>
            </a:r>
            <a:r>
              <a:rPr dirty="0"/>
              <a:t> '</a:t>
            </a:r>
            <a:r>
              <a:rPr dirty="0" err="1"/>
              <a:t>cái</a:t>
            </a:r>
            <a:r>
              <a:rPr dirty="0"/>
              <a:t>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' vs '</a:t>
            </a:r>
            <a:r>
              <a:rPr dirty="0" err="1"/>
              <a:t>cái</a:t>
            </a:r>
            <a:r>
              <a:rPr dirty="0"/>
              <a:t> </a:t>
            </a:r>
            <a:r>
              <a:rPr dirty="0" err="1"/>
              <a:t>sẽ</a:t>
            </a:r>
            <a:r>
              <a:rPr dirty="0"/>
              <a:t> </a:t>
            </a:r>
            <a:r>
              <a:rPr dirty="0" err="1"/>
              <a:t>làm</a:t>
            </a:r>
            <a:r>
              <a:rPr dirty="0"/>
              <a:t>' </a:t>
            </a:r>
            <a:r>
              <a:rPr dirty="0" err="1"/>
              <a:t>một</a:t>
            </a:r>
            <a:r>
              <a:rPr dirty="0"/>
              <a:t> </a:t>
            </a:r>
            <a:r>
              <a:rPr dirty="0" err="1"/>
              <a:t>cách</a:t>
            </a:r>
            <a:r>
              <a:rPr dirty="0"/>
              <a:t> </a:t>
            </a:r>
            <a:r>
              <a:rPr dirty="0" err="1"/>
              <a:t>trung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— </a:t>
            </a:r>
            <a:r>
              <a:rPr dirty="0" err="1"/>
              <a:t>điểm</a:t>
            </a:r>
            <a:r>
              <a:rPr dirty="0"/>
              <a:t> </a:t>
            </a:r>
            <a:r>
              <a:rPr dirty="0" err="1"/>
              <a:t>cộng</a:t>
            </a:r>
            <a:r>
              <a:rPr dirty="0"/>
              <a:t> </a:t>
            </a:r>
            <a:r>
              <a:rPr dirty="0" err="1"/>
              <a:t>về</a:t>
            </a:r>
            <a:r>
              <a:rPr dirty="0"/>
              <a:t> </a:t>
            </a:r>
            <a:r>
              <a:rPr dirty="0" err="1"/>
              <a:t>tư</a:t>
            </a:r>
            <a:r>
              <a:rPr dirty="0"/>
              <a:t> </a:t>
            </a:r>
            <a:r>
              <a:rPr dirty="0" err="1"/>
              <a:t>duy</a:t>
            </a:r>
            <a:r>
              <a:rPr dirty="0"/>
              <a:t> </a:t>
            </a:r>
            <a:r>
              <a:rPr dirty="0" err="1"/>
              <a:t>phản</a:t>
            </a:r>
            <a:r>
              <a:rPr dirty="0"/>
              <a:t> </a:t>
            </a:r>
            <a:r>
              <a:rPr dirty="0" err="1"/>
              <a:t>biện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thể</a:t>
            </a:r>
            <a:r>
              <a:rPr dirty="0"/>
              <a:t> </a:t>
            </a:r>
            <a:r>
              <a:rPr dirty="0" err="1"/>
              <a:t>gặp</a:t>
            </a:r>
            <a:r>
              <a:rPr dirty="0"/>
              <a:t>:</a:t>
            </a:r>
          </a:p>
          <a:p>
            <a:r>
              <a:rPr dirty="0"/>
              <a:t>- '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phải</a:t>
            </a:r>
            <a:r>
              <a:rPr dirty="0"/>
              <a:t> LLM </a:t>
            </a:r>
            <a:r>
              <a:rPr dirty="0" err="1"/>
              <a:t>không</a:t>
            </a:r>
            <a:r>
              <a:rPr dirty="0"/>
              <a:t>?' → </a:t>
            </a:r>
            <a:r>
              <a:rPr dirty="0" err="1"/>
              <a:t>Không</a:t>
            </a:r>
            <a:r>
              <a:rPr dirty="0"/>
              <a:t>;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đáp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rule-based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ràng</a:t>
            </a:r>
            <a:r>
              <a:rPr dirty="0"/>
              <a:t> </a:t>
            </a:r>
            <a:r>
              <a:rPr dirty="0" err="1"/>
              <a:t>buộc</a:t>
            </a:r>
            <a:r>
              <a:rPr dirty="0"/>
              <a:t> an </a:t>
            </a:r>
            <a:r>
              <a:rPr dirty="0" err="1"/>
              <a:t>toàn</a:t>
            </a:r>
            <a:r>
              <a:rPr dirty="0"/>
              <a:t>; LLM/RAG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r>
              <a:rPr dirty="0"/>
              <a:t>.</a:t>
            </a:r>
          </a:p>
          <a:p>
            <a:r>
              <a:rPr dirty="0"/>
              <a:t>- '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?' → </a:t>
            </a:r>
            <a:r>
              <a:rPr dirty="0" err="1"/>
              <a:t>nêu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src</a:t>
            </a:r>
            <a:r>
              <a:rPr dirty="0"/>
              <a:t>/models/*_</a:t>
            </a:r>
            <a:r>
              <a:rPr dirty="0" err="1"/>
              <a:t>evaluation.py</a:t>
            </a:r>
            <a:r>
              <a:rPr dirty="0"/>
              <a:t> (</a:t>
            </a:r>
            <a:r>
              <a:rPr dirty="0" err="1"/>
              <a:t>điền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trước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bày</a:t>
            </a:r>
            <a:r>
              <a:rPr dirty="0"/>
              <a:t>).</a:t>
            </a:r>
          </a:p>
          <a:p>
            <a:r>
              <a:rPr dirty="0"/>
              <a:t>- '</a:t>
            </a:r>
            <a:r>
              <a:rPr dirty="0" err="1"/>
              <a:t>Vì</a:t>
            </a:r>
            <a:r>
              <a:rPr dirty="0"/>
              <a:t> </a:t>
            </a:r>
            <a:r>
              <a:rPr dirty="0" err="1"/>
              <a:t>sao</a:t>
            </a:r>
            <a:r>
              <a:rPr dirty="0"/>
              <a:t> </a:t>
            </a:r>
            <a:r>
              <a:rPr dirty="0" err="1"/>
              <a:t>chọn</a:t>
            </a:r>
            <a:r>
              <a:rPr dirty="0"/>
              <a:t> </a:t>
            </a:r>
            <a:r>
              <a:rPr dirty="0" err="1"/>
              <a:t>RandomForest</a:t>
            </a:r>
            <a:r>
              <a:rPr dirty="0"/>
              <a:t>?' → </a:t>
            </a:r>
            <a:r>
              <a:rPr dirty="0" err="1"/>
              <a:t>mạnh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bảng</a:t>
            </a:r>
            <a:r>
              <a:rPr dirty="0"/>
              <a:t>, </a:t>
            </a:r>
            <a:r>
              <a:rPr dirty="0" err="1"/>
              <a:t>ít</a:t>
            </a:r>
            <a:r>
              <a:rPr dirty="0"/>
              <a:t> overfit </a:t>
            </a:r>
            <a:r>
              <a:rPr dirty="0" err="1"/>
              <a:t>hơn</a:t>
            </a:r>
            <a:r>
              <a:rPr dirty="0"/>
              <a:t> 1 </a:t>
            </a:r>
            <a:r>
              <a:rPr dirty="0" err="1"/>
              <a:t>cây</a:t>
            </a:r>
            <a:r>
              <a:rPr dirty="0"/>
              <a:t>, </a:t>
            </a:r>
            <a:r>
              <a:rPr dirty="0" err="1"/>
              <a:t>hỗ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feature importance/SHAP.</a:t>
            </a:r>
          </a:p>
          <a:p>
            <a:r>
              <a:rPr dirty="0"/>
              <a:t>- '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?' → </a:t>
            </a:r>
            <a:r>
              <a:rPr dirty="0" err="1"/>
              <a:t>tinh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 threshold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bệnh</a:t>
            </a:r>
            <a:r>
              <a:rPr dirty="0"/>
              <a:t> (0.40/0.35/0.35)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vì</a:t>
            </a:r>
            <a:r>
              <a:rPr dirty="0"/>
              <a:t> 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kaggle.com/datasets/jamaltariqcheema/pima-indians-diabetes-datase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kaggle.com/datasets/khan1803115/hypertension-risk-model-main" TargetMode="External"/><Relationship Id="rId4" Type="http://schemas.openxmlformats.org/officeDocument/2006/relationships/hyperlink" Target="https://www.kaggle.com/datasets/sulianova/cardiovascular-disease-dataset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109728"/>
          </a:xfrm>
          <a:prstGeom prst="rect">
            <a:avLst/>
          </a:prstGeom>
          <a:solidFill>
            <a:srgbClr val="1B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Trợ lý AI hỗ trợ chẩn đoán ban đầu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và theo dõi bệnh mãn tính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cho người cao tuổi ở nông thôn</a:t>
            </a:r>
          </a:p>
          <a:p>
            <a:endParaRPr lang="en-VN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59" y="4702126"/>
            <a:ext cx="10545775" cy="176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Tư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duy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rí </a:t>
            </a:r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tuệ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</a:t>
            </a:r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hân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tạo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(AI002)</a:t>
            </a:r>
          </a:p>
          <a:p>
            <a:endParaRPr lang="vi-VN"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Giảng viên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: TS. Phan </a:t>
            </a:r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Thế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Duy</a:t>
            </a:r>
          </a:p>
          <a:p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Nhóm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G02:</a:t>
            </a:r>
            <a:b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</a:b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Đinh Đạt Thông — 26410294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Đông Triều — 26410309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Phạm Thái </a:t>
            </a:r>
            <a:r>
              <a:rPr sz="1300" b="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Thuận</a:t>
            </a: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— 26410297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Nội dung</a:t>
            </a:r>
            <a:endParaRPr sz="1300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3072" y="1713145"/>
            <a:ext cx="11185855" cy="3431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3200" b="1" dirty="0">
                <a:solidFill>
                  <a:srgbClr val="1B8A7A"/>
                </a:solidFill>
                <a:latin typeface="Arial"/>
              </a:rPr>
              <a:t>1 – Phạm vi đồ án</a:t>
            </a:r>
          </a:p>
          <a:p>
            <a:pPr>
              <a:spcAft>
                <a:spcPts val="600"/>
              </a:spcAft>
            </a:pPr>
            <a:r>
              <a:rPr lang="vi-VN" sz="3200" b="1" dirty="0">
                <a:solidFill>
                  <a:srgbClr val="1B8A7A"/>
                </a:solidFill>
                <a:latin typeface="Arial"/>
              </a:rPr>
              <a:t>2 – Phân tích rủi ro theo 5 trục</a:t>
            </a:r>
          </a:p>
          <a:p>
            <a:pPr>
              <a:spcAft>
                <a:spcPts val="600"/>
              </a:spcAft>
            </a:pPr>
            <a:r>
              <a:rPr lang="vi-VN" sz="3200" b="1" dirty="0">
                <a:solidFill>
                  <a:srgbClr val="1B8A7A"/>
                </a:solidFill>
                <a:latin typeface="Arial"/>
              </a:rPr>
              <a:t>3 – Giải pháp hệ thống</a:t>
            </a:r>
          </a:p>
          <a:p>
            <a:pPr>
              <a:spcAft>
                <a:spcPts val="600"/>
              </a:spcAft>
            </a:pPr>
            <a:r>
              <a:rPr lang="vi-VN" sz="3200" b="1" dirty="0">
                <a:solidFill>
                  <a:srgbClr val="1B8A7A"/>
                </a:solidFill>
                <a:latin typeface="Arial"/>
              </a:rPr>
              <a:t>4 – Dữ liệu</a:t>
            </a:r>
          </a:p>
          <a:p>
            <a:pPr>
              <a:spcAft>
                <a:spcPts val="600"/>
              </a:spcAft>
            </a:pPr>
            <a:r>
              <a:rPr lang="vi-VN" sz="3200" b="1" dirty="0">
                <a:solidFill>
                  <a:srgbClr val="1B8A7A"/>
                </a:solidFill>
                <a:latin typeface="Arial"/>
              </a:rPr>
              <a:t>5 – Demo</a:t>
            </a:r>
          </a:p>
          <a:p>
            <a:pPr>
              <a:spcAft>
                <a:spcPts val="600"/>
              </a:spcAft>
            </a:pPr>
            <a:r>
              <a:rPr lang="vi-VN" sz="3200" b="1" dirty="0">
                <a:solidFill>
                  <a:srgbClr val="1B8A7A"/>
                </a:solidFill>
                <a:latin typeface="Arial"/>
              </a:rPr>
              <a:t>6 – Hạn chế và hướng cải thiện </a:t>
            </a:r>
            <a:endParaRPr sz="2800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986E-2709-2B50-821D-B87068F1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46530-300E-DBDD-7C6B-304B0B933D3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Phạm vi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đồ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án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Thuận</a:t>
            </a:r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0ED03-DFCB-5AF3-DCB1-9F857B814DF3}"/>
              </a:ext>
            </a:extLst>
          </p:cNvPr>
          <p:cNvSpPr txBox="1"/>
          <p:nvPr/>
        </p:nvSpPr>
        <p:spPr>
          <a:xfrm>
            <a:off x="502920" y="1325880"/>
            <a:ext cx="11185855" cy="4693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Vấn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đề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600" dirty="0">
                <a:solidFill>
                  <a:srgbClr val="444B52"/>
                </a:solidFill>
                <a:latin typeface="Arial"/>
              </a:rPr>
              <a:t>	–  Ở nông thôn, bệnh viện lớn chưa nhiều</a:t>
            </a:r>
          </a:p>
          <a:p>
            <a:pPr>
              <a:spcAft>
                <a:spcPts val="600"/>
              </a:spcAft>
            </a:pPr>
            <a:r>
              <a:rPr lang="vi-VN" sz="1600" dirty="0">
                <a:solidFill>
                  <a:srgbClr val="444B52"/>
                </a:solidFill>
                <a:latin typeface="Arial"/>
              </a:rPr>
              <a:t>	–  Bác sĩ chuyên khoa chưa nhiều</a:t>
            </a:r>
          </a:p>
          <a:p>
            <a:pPr>
              <a:spcAft>
                <a:spcPts val="600"/>
              </a:spcAft>
            </a:pPr>
            <a:r>
              <a:rPr lang="vi-VN" sz="1600" dirty="0">
                <a:solidFill>
                  <a:srgbClr val="444B52"/>
                </a:solidFill>
                <a:latin typeface="Arial"/>
              </a:rPr>
              <a:t>	–  Điều kiện công nghệ như mạng và máy tính chưa cao</a:t>
            </a:r>
          </a:p>
          <a:p>
            <a:pPr>
              <a:spcAft>
                <a:spcPts val="600"/>
              </a:spcAft>
            </a:pPr>
            <a:r>
              <a:rPr lang="vi-VN" sz="1600" dirty="0">
                <a:solidFill>
                  <a:srgbClr val="444B52"/>
                </a:solidFill>
                <a:latin typeface="Arial"/>
              </a:rPr>
              <a:t>	–  Người cao tuổi khó thao tác sử dụng điện thoại	</a:t>
            </a:r>
            <a:endParaRPr lang="en-VN" sz="16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sz="15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vi-VN" sz="1500" b="1" dirty="0">
                <a:solidFill>
                  <a:srgbClr val="1B8A7A"/>
                </a:solidFill>
                <a:latin typeface="Arial"/>
              </a:rPr>
              <a:t>Tính năng giải quyết vấn đề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Sàng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lọc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đánh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giá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>
                <a:solidFill>
                  <a:srgbClr val="444B52"/>
                </a:solidFill>
                <a:latin typeface="Arial"/>
              </a:rPr>
              <a:t>RỦI RO 3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bệnh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mãn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tính</a:t>
            </a:r>
            <a:r>
              <a:rPr sz="1500" dirty="0">
                <a:solidFill>
                  <a:srgbClr val="444B52"/>
                </a:solidFill>
                <a:latin typeface="Arial"/>
              </a:rPr>
              <a:t>: Tim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mạch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Tiểu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đường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Tăng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áp</a:t>
            </a:r>
            <a:endParaRPr sz="150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Đầu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vào</a:t>
            </a:r>
            <a:r>
              <a:rPr sz="1500" dirty="0">
                <a:solidFill>
                  <a:srgbClr val="444B52"/>
                </a:solidFill>
                <a:latin typeface="Arial"/>
              </a:rPr>
              <a:t>: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chỉ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số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sức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khỏe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cơ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bản</a:t>
            </a:r>
            <a:r>
              <a:rPr sz="1500" dirty="0">
                <a:solidFill>
                  <a:srgbClr val="444B52"/>
                </a:solidFill>
                <a:latin typeface="Arial"/>
              </a:rPr>
              <a:t> (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tuổi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áp</a:t>
            </a:r>
            <a:r>
              <a:rPr sz="1500" dirty="0">
                <a:solidFill>
                  <a:srgbClr val="444B52"/>
                </a:solidFill>
                <a:latin typeface="Arial"/>
              </a:rPr>
              <a:t>, BMI,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đường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, cholesterol,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lối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sống</a:t>
            </a:r>
            <a:r>
              <a:rPr sz="1500" dirty="0">
                <a:solidFill>
                  <a:srgbClr val="444B52"/>
                </a:solidFill>
                <a:latin typeface="Arial"/>
              </a:rPr>
              <a:t>…)</a:t>
            </a: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Đầu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ra</a:t>
            </a:r>
            <a:r>
              <a:rPr sz="1500" dirty="0">
                <a:solidFill>
                  <a:srgbClr val="444B52"/>
                </a:solidFill>
                <a:latin typeface="Arial"/>
              </a:rPr>
              <a:t>: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xác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suất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rủi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ro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,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mức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độ rủi ro</a:t>
            </a:r>
            <a:r>
              <a:rPr sz="1500" dirty="0">
                <a:solidFill>
                  <a:srgbClr val="444B52"/>
                </a:solidFill>
                <a:latin typeface="Arial"/>
              </a:rPr>
              <a:t> (THẤP/TRUNG BÌNH/CAO)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khuyến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ngh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ị</a:t>
            </a:r>
            <a:endParaRPr lang="en-US" sz="150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600"/>
              </a:spcAft>
            </a:pPr>
            <a:r>
              <a:rPr lang="en-US" sz="1500" dirty="0">
                <a:solidFill>
                  <a:srgbClr val="444B52"/>
                </a:solidFill>
                <a:latin typeface="Arial"/>
              </a:rPr>
              <a:t>– 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Chạy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ở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máy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local,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không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gửi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dữ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liệu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ra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ngoài</a:t>
            </a:r>
            <a:endParaRPr lang="en-US" sz="150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600"/>
              </a:spcAft>
            </a:pPr>
            <a:r>
              <a:rPr lang="en-US" sz="1500" dirty="0">
                <a:solidFill>
                  <a:srgbClr val="444B52"/>
                </a:solidFill>
                <a:latin typeface="Arial"/>
              </a:rPr>
              <a:t>–  Lưu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thông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tin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bệnh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nhân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và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các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lần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đo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để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theo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dõi</a:t>
            </a:r>
            <a:endParaRPr sz="15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sz="15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vi-VN" sz="1500" b="1" dirty="0">
                <a:solidFill>
                  <a:srgbClr val="1B8A7A"/>
                </a:solidFill>
                <a:latin typeface="Arial"/>
              </a:rPr>
              <a:t>Ngoài phạm vi tính năng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lang="en-US" sz="1500" dirty="0">
                <a:solidFill>
                  <a:srgbClr val="444B52"/>
                </a:solidFill>
                <a:latin typeface="Arial"/>
              </a:rPr>
              <a:t>– 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Không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chẩn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đoán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không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thay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thế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bác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sĩ</a:t>
            </a:r>
            <a:endParaRPr lang="en-US" sz="150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Không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kê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đơn</a:t>
            </a:r>
            <a:r>
              <a:rPr sz="1500" dirty="0">
                <a:solidFill>
                  <a:srgbClr val="444B52"/>
                </a:solidFill>
                <a:latin typeface="Arial"/>
              </a:rPr>
              <a:t> /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không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chỉ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định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thuốc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(chatbox có chặn loại câu hỏi này)</a:t>
            </a:r>
          </a:p>
          <a:p>
            <a:pPr lvl="1">
              <a:spcAft>
                <a:spcPts val="600"/>
              </a:spcAft>
            </a:pPr>
            <a:r>
              <a:rPr lang="vi-VN" sz="1500" dirty="0">
                <a:solidFill>
                  <a:srgbClr val="444B52"/>
                </a:solidFill>
                <a:latin typeface="Arial"/>
              </a:rPr>
              <a:t>–  Kết quả khuyến nghị chỉ để tham khảo/sàng lọc</a:t>
            </a:r>
          </a:p>
        </p:txBody>
      </p:sp>
    </p:spTree>
    <p:extLst>
      <p:ext uri="{BB962C8B-B14F-4D97-AF65-F5344CB8AC3E}">
        <p14:creationId xmlns:p14="http://schemas.microsoft.com/office/powerpoint/2010/main" val="285685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Phân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tích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rủi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ro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theo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5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trục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Thuận</a:t>
            </a:r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531620"/>
            <a:ext cx="3045898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dirty="0" err="1">
                <a:solidFill>
                  <a:srgbClr val="1B8A7A"/>
                </a:solidFill>
                <a:latin typeface="Arial"/>
              </a:rPr>
              <a:t>Rủi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ro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hệ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thống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Trustworthy AI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745507"/>
              </p:ext>
            </p:extLst>
          </p:nvPr>
        </p:nvGraphicFramePr>
        <p:xfrm>
          <a:off x="502920" y="1943100"/>
          <a:ext cx="111556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39">
                <a:tc>
                  <a:txBody>
                    <a:bodyPr/>
                    <a:lstStyle/>
                    <a:p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Trục</a:t>
                      </a:r>
                      <a:endParaRPr sz="12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Rủi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ro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trong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bài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toán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y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tế</a:t>
                      </a:r>
                      <a:endParaRPr sz="12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Fairness (Công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bằng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Dữ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liệu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lệch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giới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/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tuổ</a:t>
                      </a:r>
                      <a:r>
                        <a:rPr lang="vi-VN" sz="1200" dirty="0">
                          <a:solidFill>
                            <a:srgbClr val="444B52"/>
                          </a:solidFill>
                          <a:latin typeface="Arial"/>
                        </a:rPr>
                        <a:t>i/vị trí địa lý/lối sống sinh hoạt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→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thiên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vị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nhóm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lang="vi-VN" sz="1200" dirty="0">
                          <a:solidFill>
                            <a:srgbClr val="444B52"/>
                          </a:solidFill>
                          <a:latin typeface="Arial"/>
                        </a:rPr>
                        <a:t>thành phố</a:t>
                      </a:r>
                      <a:endParaRPr sz="1200" dirty="0">
                        <a:solidFill>
                          <a:srgbClr val="444B52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Explainability (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Giải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thích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Mô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hình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'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hộp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đen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' →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khó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tin,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khó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kiểm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chứng</a:t>
                      </a:r>
                      <a:endParaRPr sz="1200" dirty="0">
                        <a:solidFill>
                          <a:srgbClr val="444B52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Robustness (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Bền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vững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Nhập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sai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/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nhiễu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,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ngoài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phạm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vi →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dự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đoán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sai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lang="vi-VN" sz="1200" dirty="0">
                          <a:solidFill>
                            <a:srgbClr val="444B52"/>
                          </a:solidFill>
                          <a:latin typeface="Arial"/>
                        </a:rPr>
                        <a:t>dẫn tới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nguy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hiểm</a:t>
                      </a:r>
                      <a:endParaRPr sz="1200" dirty="0">
                        <a:solidFill>
                          <a:srgbClr val="444B52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Privacy (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Riêng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tư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Dữ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liệu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sức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khỏe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nhạy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cảm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→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rò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rỉ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,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lạm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dụng</a:t>
                      </a:r>
                      <a:endParaRPr sz="1200" dirty="0">
                        <a:solidFill>
                          <a:srgbClr val="444B52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4"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Accountability (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Trách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nhiệm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Ai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chịu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trách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nhiệm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khi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sai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? Truy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vết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được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không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343400"/>
            <a:ext cx="2725426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dirty="0" err="1">
                <a:solidFill>
                  <a:srgbClr val="1B8A7A"/>
                </a:solidFill>
                <a:latin typeface="Arial"/>
              </a:rPr>
              <a:t>Từ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rủi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ro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→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yêu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cầu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thiết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kế</a:t>
            </a:r>
            <a:endParaRPr sz="1500" b="1" dirty="0">
              <a:solidFill>
                <a:srgbClr val="1B8A7A"/>
              </a:solidFill>
              <a:latin typeface="Arial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6043705"/>
              </p:ext>
            </p:extLst>
          </p:nvPr>
        </p:nvGraphicFramePr>
        <p:xfrm>
          <a:off x="502920" y="4754880"/>
          <a:ext cx="111556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39">
                <a:tc>
                  <a:txBody>
                    <a:bodyPr/>
                    <a:lstStyle/>
                    <a:p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Rủi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ro</a:t>
                      </a:r>
                      <a:endParaRPr sz="12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Yêu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cầu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thiết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kế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đã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áp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dụng</a:t>
                      </a:r>
                      <a:endParaRPr sz="12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Thiên vị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Đo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fairness/bias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trên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dữ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liệu</a:t>
                      </a:r>
                      <a:endParaRPr sz="1200" dirty="0">
                        <a:solidFill>
                          <a:srgbClr val="444B52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Hộp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đen</a:t>
                      </a:r>
                      <a:endParaRPr sz="1200" dirty="0">
                        <a:solidFill>
                          <a:srgbClr val="444B52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Tích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hợp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SHAP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giải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thích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đóng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góp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từng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đặc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trưng</a:t>
                      </a:r>
                      <a:endParaRPr sz="1200" dirty="0">
                        <a:solidFill>
                          <a:srgbClr val="444B52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Nhiễu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đầu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vào</a:t>
                      </a:r>
                      <a:endParaRPr sz="1200" dirty="0">
                        <a:solidFill>
                          <a:srgbClr val="444B52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Validate input +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kiểm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thử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robustness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Riêng tư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Chạy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local, offline,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không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gọi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API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ngoài</a:t>
                      </a:r>
                      <a:endParaRPr sz="1200" dirty="0">
                        <a:solidFill>
                          <a:srgbClr val="444B52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4">
                <a:tc>
                  <a:txBody>
                    <a:bodyPr/>
                    <a:lstStyle/>
                    <a:p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Trách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nhiệm</a:t>
                      </a:r>
                      <a:endParaRPr sz="1200" dirty="0">
                        <a:solidFill>
                          <a:srgbClr val="444B52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Không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chẩn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đoán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/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kê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</a:t>
                      </a:r>
                      <a:r>
                        <a:rPr sz="1200" dirty="0" err="1">
                          <a:solidFill>
                            <a:srgbClr val="444B52"/>
                          </a:solidFill>
                          <a:latin typeface="Arial"/>
                        </a:rPr>
                        <a:t>đơn</a:t>
                      </a:r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 + disclaimer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3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hệ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thống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Triều</a:t>
            </a:r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3072" y="126904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Train model: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F91F1E-71BE-8A83-9973-9680D0596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054" y="1702276"/>
            <a:ext cx="9135585" cy="38183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081D-638C-0277-4805-7B7571F7D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62F65B-1F29-97CE-708B-DEDEFD47506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3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hệ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thống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Triều</a:t>
            </a:r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28D1180-5E79-E22E-3A27-DDABD3975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2994" y="1538009"/>
            <a:ext cx="8205705" cy="426112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2B2369E-F6DD-3374-483C-ED25CBC11465}"/>
              </a:ext>
            </a:extLst>
          </p:cNvPr>
          <p:cNvSpPr txBox="1"/>
          <p:nvPr/>
        </p:nvSpPr>
        <p:spPr>
          <a:xfrm>
            <a:off x="119006" y="5876049"/>
            <a:ext cx="9871028" cy="11233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400"/>
              </a:spcAft>
            </a:pPr>
            <a:r>
              <a:rPr lang="vi-VN" sz="1300" dirty="0">
                <a:solidFill>
                  <a:srgbClr val="444B52"/>
                </a:solidFill>
                <a:latin typeface="Arial"/>
              </a:rPr>
              <a:t>–  Khuyến nghị dựa trên RULE (bảng tra cứu tĩnh), không dùng ML</a:t>
            </a:r>
          </a:p>
          <a:p>
            <a:pPr lvl="1">
              <a:spcAft>
                <a:spcPts val="400"/>
              </a:spcAft>
            </a:pPr>
            <a:r>
              <a:rPr lang="vi-VN" sz="1300" dirty="0">
                <a:solidFill>
                  <a:srgbClr val="444B52"/>
                </a:solidFill>
                <a:latin typeface="Arial"/>
              </a:rPr>
              <a:t>–  Ánh xạ theo mức rủi ro (LOW/MODERATE/HIGH) từng bệnh + tổng thể</a:t>
            </a:r>
          </a:p>
          <a:p>
            <a:pPr lvl="1">
              <a:spcAft>
                <a:spcPts val="400"/>
              </a:spcAft>
            </a:pPr>
            <a:r>
              <a:rPr lang="vi-VN" sz="1300" dirty="0">
                <a:solidFill>
                  <a:srgbClr val="444B52"/>
                </a:solidFill>
                <a:latin typeface="Arial"/>
              </a:rPr>
              <a:t>–  Ưu điểm: minh bạch, kiểm soát được, an toàn — phù hợp y tế; luôn kèm disclaimer</a:t>
            </a:r>
          </a:p>
          <a:p>
            <a:endParaRPr lang="en-V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3E3CCD-78EE-3A12-358D-46F18ECD2845}"/>
              </a:ext>
            </a:extLst>
          </p:cNvPr>
          <p:cNvSpPr txBox="1"/>
          <p:nvPr/>
        </p:nvSpPr>
        <p:spPr>
          <a:xfrm>
            <a:off x="502918" y="123023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App</a:t>
            </a:r>
            <a:r>
              <a:rPr lang="vi-VN" sz="1400" b="1" dirty="0">
                <a:solidFill>
                  <a:srgbClr val="1B8A7A"/>
                </a:solidFill>
                <a:latin typeface="Arial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877805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4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Dữ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liệ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u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Triều</a:t>
            </a:r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289780"/>
            <a:ext cx="3647152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dirty="0" err="1">
                <a:solidFill>
                  <a:srgbClr val="1B8A7A"/>
                </a:solidFill>
                <a:latin typeface="Arial"/>
              </a:rPr>
              <a:t>Dữ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liệu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&amp;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đánh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giá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chất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lượng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nguồn</a:t>
            </a:r>
            <a:r>
              <a:rPr lang="vi-VN" sz="1500" b="1" dirty="0">
                <a:solidFill>
                  <a:srgbClr val="1B8A7A"/>
                </a:solidFill>
                <a:latin typeface="Arial"/>
              </a:rPr>
              <a:t>:</a:t>
            </a:r>
            <a:endParaRPr sz="1500" b="1" dirty="0">
              <a:solidFill>
                <a:srgbClr val="1B8A7A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995682"/>
              </p:ext>
            </p:extLst>
          </p:nvPr>
        </p:nvGraphicFramePr>
        <p:xfrm>
          <a:off x="518007" y="2234995"/>
          <a:ext cx="11155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Bệnh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Bộ dữ liệu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Số dòng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Đặc trưng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Nhãn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Tim mạch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Cardiovascular Disease (Kaggle)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70.000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cardio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Tiểu đường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Pima Indians Diabetes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Tăng huyết áp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Framingham Heart Study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4.240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9373"/>
            <a:ext cx="11185855" cy="1502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</a:rPr>
              <a:t>Nguồn dữ liệu đáng tin cậy vì chống lưng cho Kaggle là Google và WHO nên ta có thể chấp nhận độ tin cậy</a:t>
            </a:r>
          </a:p>
          <a:p>
            <a:pPr>
              <a:spcAft>
                <a:spcPts val="400"/>
              </a:spcAft>
            </a:pPr>
            <a:endParaRPr lang="vi-VN" sz="125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</a:rPr>
              <a:t>Nguồn:</a:t>
            </a: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3"/>
              </a:rPr>
              <a:t>http://kaggle.com/datasets/jamaltariqcheema/pima-indians-diabetes-dataset</a:t>
            </a:r>
            <a:endParaRPr lang="vi-VN" sz="125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4"/>
              </a:rPr>
              <a:t>https://www.kaggle.com/datasets/sulianova/cardiovascular-disease-dataset</a:t>
            </a:r>
            <a:endParaRPr lang="vi-VN" sz="125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5"/>
              </a:rPr>
              <a:t>https://www.kaggle.com/datasets/khan1803115/hypertension-risk-model-main</a:t>
            </a:r>
            <a:endParaRPr lang="vi-VN" sz="1250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5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Dem</a:t>
            </a:r>
            <a:r>
              <a:rPr lang="vi-VN" sz="2600" b="1" dirty="0">
                <a:solidFill>
                  <a:srgbClr val="FFFFFF"/>
                </a:solidFill>
                <a:latin typeface="Arial"/>
              </a:rPr>
              <a:t>o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85855" cy="1192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1 -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Đánh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giá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rủi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ro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3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bệnh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mãn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tính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2 -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Khuyến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nghị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3 - CRUD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thông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tin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bệnh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nhân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và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thông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tin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đo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sức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khoẻ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 lvl="1">
              <a:spcAft>
                <a:spcPts val="5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E4DB9C-CCBF-6763-FF37-4C651DDB3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7880" y="2438271"/>
            <a:ext cx="7255934" cy="42116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6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Hạn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chế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&amp;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Hướng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cải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thiện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19" y="1656080"/>
            <a:ext cx="11185855" cy="26622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Hạn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chế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hiện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tại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 lvl="1">
              <a:spcAft>
                <a:spcPts val="500"/>
              </a:spcAft>
            </a:pPr>
            <a:r>
              <a:rPr sz="1400" dirty="0">
                <a:solidFill>
                  <a:srgbClr val="444B52"/>
                </a:solidFill>
                <a:latin typeface="Arial"/>
              </a:rPr>
              <a:t>– 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Dữ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liệu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là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nguồn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ngoại</a:t>
            </a:r>
            <a:r>
              <a:rPr sz="1400" dirty="0">
                <a:solidFill>
                  <a:srgbClr val="444B52"/>
                </a:solidFill>
                <a:latin typeface="Arial"/>
              </a:rPr>
              <a:t>,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nguy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cơ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lệch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phân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phối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với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dân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số</a:t>
            </a:r>
            <a:r>
              <a:rPr sz="1400" dirty="0">
                <a:solidFill>
                  <a:srgbClr val="444B52"/>
                </a:solidFill>
                <a:latin typeface="Arial"/>
              </a:rPr>
              <a:t> VN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5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–  Chưa có chatbox</a:t>
            </a:r>
          </a:p>
          <a:p>
            <a:pPr lvl="1">
              <a:spcAft>
                <a:spcPts val="5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•  Hướng cải thiện:</a:t>
            </a:r>
          </a:p>
          <a:p>
            <a:pPr lvl="1">
              <a:spcAft>
                <a:spcPts val="500"/>
              </a:spcAft>
            </a:pPr>
            <a:r>
              <a:rPr sz="1400" dirty="0">
                <a:solidFill>
                  <a:srgbClr val="444B52"/>
                </a:solidFill>
                <a:latin typeface="Arial"/>
              </a:rPr>
              <a:t>–  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Tích hợp chatbox </a:t>
            </a:r>
            <a:r>
              <a:rPr sz="1400" dirty="0">
                <a:solidFill>
                  <a:srgbClr val="444B52"/>
                </a:solidFill>
                <a:latin typeface="Arial"/>
              </a:rPr>
              <a:t>agent 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theo mô hình </a:t>
            </a:r>
            <a:r>
              <a:rPr sz="1400" dirty="0">
                <a:solidFill>
                  <a:srgbClr val="444B52"/>
                </a:solidFill>
                <a:latin typeface="Arial"/>
              </a:rPr>
              <a:t>RAG + LLM (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đọc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tài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liệu</a:t>
            </a:r>
            <a:r>
              <a:rPr sz="1400" dirty="0">
                <a:solidFill>
                  <a:srgbClr val="444B52"/>
                </a:solidFill>
                <a:latin typeface="Arial"/>
              </a:rPr>
              <a:t> y khoa tin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cậy</a:t>
            </a:r>
            <a:r>
              <a:rPr sz="1400" dirty="0">
                <a:solidFill>
                  <a:srgbClr val="444B52"/>
                </a:solidFill>
                <a:latin typeface="Arial"/>
              </a:rPr>
              <a:t>,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có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trích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nguồn</a:t>
            </a:r>
            <a:r>
              <a:rPr sz="1400" dirty="0">
                <a:solidFill>
                  <a:srgbClr val="444B52"/>
                </a:solidFill>
                <a:latin typeface="Arial"/>
              </a:rPr>
              <a:t>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sz="1400" dirty="0">
                <a:solidFill>
                  <a:srgbClr val="444B52"/>
                </a:solidFill>
                <a:latin typeface="Arial"/>
              </a:rPr>
              <a:t>– 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Bổ</a:t>
            </a:r>
            <a:r>
              <a:rPr sz="1400" dirty="0">
                <a:solidFill>
                  <a:srgbClr val="444B52"/>
                </a:solidFill>
                <a:latin typeface="Arial"/>
              </a:rPr>
              <a:t> sung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dữ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liệu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bản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địa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hóa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để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giảm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lệch</a:t>
            </a:r>
            <a:r>
              <a:rPr sz="1400" dirty="0">
                <a:solidFill>
                  <a:srgbClr val="444B52"/>
                </a:solidFill>
                <a:latin typeface="Arial"/>
              </a:rPr>
              <a:t>;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hoàn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thiện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requirements.txt</a:t>
            </a:r>
            <a:r>
              <a:rPr sz="1400" dirty="0">
                <a:solidFill>
                  <a:srgbClr val="444B52"/>
                </a:solidFill>
                <a:latin typeface="Arial"/>
              </a:rPr>
              <a:t> &amp;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đóng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gói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triển</a:t>
            </a:r>
            <a:r>
              <a:rPr sz="1400" dirty="0">
                <a:solidFill>
                  <a:srgbClr val="444B52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444B52"/>
                </a:solidFill>
                <a:latin typeface="Arial"/>
              </a:rPr>
              <a:t>khai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en-US" sz="1400" dirty="0">
                <a:solidFill>
                  <a:srgbClr val="444B52"/>
                </a:solidFill>
                <a:latin typeface="Arial"/>
              </a:rPr>
              <a:t>– 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Triển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khai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quy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trình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MLOps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dùng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dữ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liệu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thực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tế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ở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tram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xá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để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train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và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nâng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cấp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model</a:t>
            </a:r>
            <a:br>
              <a:rPr lang="en-US" sz="1400" dirty="0">
                <a:solidFill>
                  <a:srgbClr val="444B52"/>
                </a:solidFill>
                <a:latin typeface="Arial"/>
              </a:rPr>
            </a:br>
            <a:r>
              <a:rPr lang="en-US" sz="1400" dirty="0">
                <a:solidFill>
                  <a:srgbClr val="444B52"/>
                </a:solidFill>
                <a:latin typeface="Arial"/>
              </a:rPr>
              <a:t>– 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Tích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hợp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với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các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thiết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bị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y khoa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để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thu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thập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dữ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liệu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live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như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đồng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hồ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thông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minh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đeo</a:t>
            </a:r>
            <a:r>
              <a:rPr lang="en-US" sz="14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400" dirty="0" err="1">
                <a:solidFill>
                  <a:srgbClr val="444B52"/>
                </a:solidFill>
                <a:latin typeface="Arial"/>
              </a:rPr>
              <a:t>tay</a:t>
            </a:r>
            <a:endParaRPr lang="en-US" sz="140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500"/>
              </a:spcAft>
            </a:pPr>
            <a:endParaRPr sz="1400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dirty="0" err="1">
                <a:solidFill>
                  <a:srgbClr val="FFFFFF"/>
                </a:solidFill>
                <a:latin typeface="Arial"/>
              </a:rPr>
              <a:t>Kết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thúc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&amp;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Hỏi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đáp</a:t>
            </a:r>
            <a:endParaRPr sz="3400" b="1" dirty="0">
              <a:solidFill>
                <a:srgbClr val="FFFFFF"/>
              </a:solidFill>
              <a:latin typeface="Arial"/>
            </a:endParaRPr>
          </a:p>
          <a:p>
            <a:endParaRPr sz="1600" b="0" dirty="0">
              <a:solidFill>
                <a:srgbClr val="CFE3EC"/>
              </a:solidFill>
              <a:latin typeface="Arial"/>
            </a:endParaRPr>
          </a:p>
          <a:p>
            <a:r>
              <a:rPr sz="1800" b="1" dirty="0" err="1">
                <a:solidFill>
                  <a:srgbClr val="FFFFFF"/>
                </a:solidFill>
                <a:latin typeface="Arial"/>
              </a:rPr>
              <a:t>Cảm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ơn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vi-VN" sz="1800" b="1" dirty="0">
                <a:solidFill>
                  <a:srgbClr val="FFFFFF"/>
                </a:solidFill>
                <a:latin typeface="Arial"/>
              </a:rPr>
              <a:t>thầy và mọi người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đã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lắng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nghe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1308</TotalTime>
  <Words>1259</Words>
  <Application>Microsoft Macintosh PowerPoint</Application>
  <PresentationFormat>Widescreen</PresentationFormat>
  <Paragraphs>130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Dinh, Thong</cp:lastModifiedBy>
  <cp:revision>29</cp:revision>
  <dcterms:created xsi:type="dcterms:W3CDTF">2013-01-27T09:14:16Z</dcterms:created>
  <dcterms:modified xsi:type="dcterms:W3CDTF">2026-09-12T06:58:34Z</dcterms:modified>
  <cp:category/>
</cp:coreProperties>
</file>