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7" r:id="rId5"/>
    <p:sldId id="260" r:id="rId6"/>
    <p:sldId id="270" r:id="rId7"/>
    <p:sldId id="259" r:id="rId8"/>
    <p:sldId id="266" r:id="rId9"/>
    <p:sldId id="268" r:id="rId10"/>
    <p:sldId id="269" r:id="rId11"/>
    <p:sldId id="265" r:id="rId12"/>
    <p:sldId id="26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1"/>
    <p:restoredTop sz="94598"/>
  </p:normalViewPr>
  <p:slideViewPr>
    <p:cSldViewPr snapToGrid="0" snapToObjects="1">
      <p:cViewPr varScale="1">
        <p:scale>
          <a:sx n="151" d="100"/>
          <a:sy n="151" d="100"/>
        </p:scale>
        <p:origin x="4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198F-3080-83F6-A15E-AF08A8AD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B9447-10FE-9609-762A-8B054CD94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13767-219A-3043-0049-9DC2F4C03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763FE-23B3-E185-B875-D3C5EC24C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228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9796-55ED-43FA-32E6-B14D64E6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66814-12DE-C61C-4140-662FE9E0B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70F38-A355-A5B0-F4C8-ED7940447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DB3E6-623E-0119-8A2A-817476AAF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7459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3263-1B2F-CBEA-5EAB-86F928D9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C0CB5-1751-5E1D-8078-6F5F761EF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CEF49-8D2E-C74D-3D0E-8ABCDD98C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1D6A9-C0AF-B17F-9C74-5D8D735F1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4095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2837-E603-C43A-EF8E-21AC78A5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02726-D7B7-8FE2-92FD-9787B0480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26EB0-C798-BB29-7D7A-6668AA47A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D4D5F-BD2D-49D4-20F2-372E0EC7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2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AC63-E2CD-40A5-FA7A-F47C8EF8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A3892-1B2F-BED0-B13D-AAFDD2F2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97F23-6FDD-E440-861B-D51CE5D36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B4ED7-22B0-C2D5-C29B-8CEE0AE8C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2493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802A-6939-AD2E-06B8-C994A9BF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87F21-FEFD-C791-A144-FC84B9B48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0D0A2-C50F-985C-433D-F2DD2F478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AEB30-2E2B-29E1-AFCF-F5A86132C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8170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225F-C976-576D-0EE6-1176D53D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9D221-FD29-3B1A-87CE-D743152BF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18D41-857A-0BBD-DB7F-B24BD2132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71A58-3B46-A160-4410-BD16CA009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938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gặp</a:t>
            </a:r>
            <a:r>
              <a:rPr dirty="0"/>
              <a:t>:</a:t>
            </a:r>
          </a:p>
          <a:p>
            <a:r>
              <a:rPr dirty="0"/>
              <a:t>- '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LLM </a:t>
            </a:r>
            <a:r>
              <a:rPr dirty="0" err="1"/>
              <a:t>không</a:t>
            </a:r>
            <a:r>
              <a:rPr dirty="0"/>
              <a:t>?' → </a:t>
            </a:r>
            <a:r>
              <a:rPr dirty="0" err="1"/>
              <a:t>Không</a:t>
            </a:r>
            <a:r>
              <a:rPr dirty="0"/>
              <a:t>;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rule-based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ràng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an </a:t>
            </a:r>
            <a:r>
              <a:rPr dirty="0" err="1"/>
              <a:t>toàn</a:t>
            </a:r>
            <a:r>
              <a:rPr dirty="0"/>
              <a:t>; LLM/RAG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.</a:t>
            </a:r>
          </a:p>
          <a:p>
            <a:r>
              <a:rPr dirty="0"/>
              <a:t>- '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?' → </a:t>
            </a:r>
            <a:r>
              <a:rPr dirty="0" err="1"/>
              <a:t>nêu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/models/*_</a:t>
            </a:r>
            <a:r>
              <a:rPr dirty="0" err="1"/>
              <a:t>evaluation.py</a:t>
            </a:r>
            <a:r>
              <a:rPr dirty="0"/>
              <a:t> (</a:t>
            </a:r>
            <a:r>
              <a:rPr dirty="0" err="1"/>
              <a:t>điền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thật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).</a:t>
            </a:r>
          </a:p>
          <a:p>
            <a:r>
              <a:rPr dirty="0"/>
              <a:t>- '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RandomForest</a:t>
            </a:r>
            <a:r>
              <a:rPr dirty="0"/>
              <a:t>?' →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, </a:t>
            </a:r>
            <a:r>
              <a:rPr dirty="0" err="1"/>
              <a:t>ít</a:t>
            </a:r>
            <a:r>
              <a:rPr dirty="0"/>
              <a:t> overfit </a:t>
            </a:r>
            <a:r>
              <a:rPr dirty="0" err="1"/>
              <a:t>hơn</a:t>
            </a:r>
            <a:r>
              <a:rPr dirty="0"/>
              <a:t> 1 </a:t>
            </a:r>
            <a:r>
              <a:rPr dirty="0" err="1"/>
              <a:t>cây</a:t>
            </a:r>
            <a:r>
              <a:rPr dirty="0"/>
              <a:t>,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feature importance/SHAP.</a:t>
            </a:r>
          </a:p>
          <a:p>
            <a:r>
              <a:rPr dirty="0"/>
              <a:t>- '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cân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?' → </a:t>
            </a:r>
            <a:r>
              <a:rPr dirty="0" err="1"/>
              <a:t>tinh</a:t>
            </a:r>
            <a:r>
              <a:rPr dirty="0"/>
              <a:t> </a:t>
            </a:r>
            <a:r>
              <a:rPr dirty="0" err="1"/>
              <a:t>chỉnh</a:t>
            </a:r>
            <a:r>
              <a:rPr dirty="0"/>
              <a:t> threshold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bệnh</a:t>
            </a:r>
            <a:r>
              <a:rPr dirty="0"/>
              <a:t> (0.40/0.35/0.35)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kaggle.com/datasets/jamaltariqcheema/pima-indians-diabetes-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khan1803115/hypertension-risk-model-main" TargetMode="External"/><Relationship Id="rId4" Type="http://schemas.openxmlformats.org/officeDocument/2006/relationships/hyperlink" Target="https://www.kaggle.com/datasets/sulianova/cardiovascular-disease-datase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1B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CFE3EC"/>
                </a:solidFill>
                <a:latin typeface="Arial"/>
              </a:rPr>
              <a:t>Mô hình hỗ trợ đánh giá bệnh mãn tính</a:t>
            </a:r>
            <a:br>
              <a:rPr lang="vi-VN" sz="4000" b="1" dirty="0">
                <a:solidFill>
                  <a:srgbClr val="CFE3EC"/>
                </a:solidFill>
                <a:latin typeface="Arial"/>
              </a:rPr>
            </a:br>
            <a:r>
              <a:rPr lang="vi-VN" sz="4000" b="1" dirty="0">
                <a:solidFill>
                  <a:srgbClr val="CFE3EC"/>
                </a:solidFill>
                <a:latin typeface="Arial"/>
              </a:rPr>
              <a:t>dựa vào</a:t>
            </a:r>
          </a:p>
          <a:p>
            <a:r>
              <a:rPr lang="vi-VN" sz="4000" b="1" dirty="0">
                <a:solidFill>
                  <a:srgbClr val="CFE3EC"/>
                </a:solidFill>
                <a:latin typeface="Arial"/>
              </a:rPr>
              <a:t>dữ liệu chỉ số sức khoẻ có cấu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4702126"/>
            <a:ext cx="10545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Môn học: Lập trình Python cho Máy học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(</a:t>
            </a:r>
            <a:r>
              <a:rPr lang="en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CS116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)</a:t>
            </a:r>
          </a:p>
          <a:p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Giảng viên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: T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hầy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Nguyễn Hữu Quyền</a:t>
            </a:r>
            <a:endParaRPr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endParaRPr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r>
              <a:rPr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Nhóm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04:</a:t>
            </a:r>
            <a:b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</a:br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Đinh Đạt Thông — 26410294</a:t>
            </a:r>
          </a:p>
          <a:p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Nguyễn Đông Triều — 26410309</a:t>
            </a:r>
          </a:p>
          <a:p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Phạm Thái </a:t>
            </a:r>
            <a:r>
              <a:rPr sz="1300" b="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Thuận</a:t>
            </a:r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— 26410297</a:t>
            </a:r>
            <a:endParaRPr lang="vi-VN" sz="1300" b="0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r>
              <a:rPr lang="vi-VN"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Trần Ngọc Khánh </a:t>
            </a:r>
            <a:r>
              <a:rPr lang="en-VN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—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26410222</a:t>
            </a:r>
            <a:endParaRPr sz="1300" b="0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Nội dung</a:t>
            </a:r>
            <a:endParaRPr sz="1300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3072" y="1713145"/>
            <a:ext cx="11185855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1 – Vấn đề</a:t>
            </a:r>
          </a:p>
          <a:p>
            <a:pPr>
              <a:spcAft>
                <a:spcPts val="600"/>
              </a:spcAft>
            </a:pPr>
            <a:endParaRPr lang="vi-VN" sz="24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2 – Giải pháp</a:t>
            </a:r>
          </a:p>
          <a:p>
            <a:pPr>
              <a:spcAft>
                <a:spcPts val="4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	</a:t>
            </a:r>
          </a:p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3 – Demo </a:t>
            </a:r>
            <a:endParaRPr sz="2000" dirty="0">
              <a:solidFill>
                <a:srgbClr val="444B5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986E-2709-2B50-821D-B87068F1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46530-300E-DBDD-7C6B-304B0B933D36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1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2600" b="1" dirty="0" err="1">
                <a:solidFill>
                  <a:srgbClr val="FFFFFF"/>
                </a:solidFill>
                <a:latin typeface="Arial"/>
              </a:rPr>
              <a:t>Vấn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Arial"/>
              </a:rPr>
              <a:t>đề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0ED03-DFCB-5AF3-DCB1-9F857B814DF3}"/>
              </a:ext>
            </a:extLst>
          </p:cNvPr>
          <p:cNvSpPr txBox="1"/>
          <p:nvPr/>
        </p:nvSpPr>
        <p:spPr>
          <a:xfrm>
            <a:off x="502920" y="1325880"/>
            <a:ext cx="11185855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• 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Vấn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đề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vi-VN" sz="1600" dirty="0">
                <a:solidFill>
                  <a:srgbClr val="444B52"/>
                </a:solidFill>
                <a:latin typeface="Arial"/>
              </a:rPr>
              <a:t>	– Đánh giá bệnh mãn tính ban đầu tốn thời gian</a:t>
            </a:r>
          </a:p>
          <a:p>
            <a:pPr>
              <a:spcAft>
                <a:spcPts val="600"/>
              </a:spcAft>
            </a:pPr>
            <a:r>
              <a:rPr lang="vi-VN" sz="1600" b="1" dirty="0">
                <a:solidFill>
                  <a:srgbClr val="444B52"/>
                </a:solidFill>
                <a:latin typeface="Arial"/>
              </a:rPr>
              <a:t>	</a:t>
            </a:r>
            <a:r>
              <a:rPr lang="vi-VN" sz="1600" dirty="0">
                <a:solidFill>
                  <a:srgbClr val="444B52"/>
                </a:solidFill>
                <a:latin typeface="Arial"/>
              </a:rPr>
              <a:t>– Bác sĩ nhận hỗ trợ tăng tốc độ đánh giá lâm sàng các hồ sơ chỉ số sức khoẻ</a:t>
            </a:r>
          </a:p>
          <a:p>
            <a:pPr>
              <a:spcAft>
                <a:spcPts val="600"/>
              </a:spcAft>
            </a:pPr>
            <a:r>
              <a:rPr lang="vi-VN" sz="1600" b="1" dirty="0">
                <a:solidFill>
                  <a:srgbClr val="444B52"/>
                </a:solidFill>
                <a:latin typeface="Arial"/>
              </a:rPr>
              <a:t>	</a:t>
            </a:r>
            <a:r>
              <a:rPr lang="vi-VN" sz="1600" dirty="0">
                <a:solidFill>
                  <a:srgbClr val="444B52"/>
                </a:solidFill>
                <a:latin typeface="Arial"/>
              </a:rPr>
              <a:t>– Bài toán dự đoán nhãn phân loại và xác suất nhãn</a:t>
            </a:r>
            <a:endParaRPr lang="en-VN" sz="16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1B8A7A"/>
                </a:solidFill>
                <a:latin typeface="Arial"/>
              </a:rPr>
              <a:t>•  </a:t>
            </a:r>
            <a:r>
              <a:rPr lang="vi-VN" sz="1500" b="1" dirty="0">
                <a:solidFill>
                  <a:srgbClr val="1B8A7A"/>
                </a:solidFill>
                <a:latin typeface="Arial"/>
              </a:rPr>
              <a:t>Tính năng giải quyết vấn đề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Sàng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lọc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đánh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giá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>
                <a:solidFill>
                  <a:srgbClr val="444B52"/>
                </a:solidFill>
                <a:latin typeface="Arial"/>
              </a:rPr>
              <a:t>RỦI RO 3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bệnh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mãn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tính</a:t>
            </a:r>
            <a:r>
              <a:rPr sz="1500" dirty="0">
                <a:solidFill>
                  <a:srgbClr val="444B52"/>
                </a:solidFill>
                <a:latin typeface="Arial"/>
              </a:rPr>
              <a:t>: Tim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mạch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Tiểu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đường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Tăng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áp</a:t>
            </a:r>
            <a:endParaRPr sz="150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Đầu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vào</a:t>
            </a:r>
            <a:r>
              <a:rPr sz="1500" dirty="0">
                <a:solidFill>
                  <a:srgbClr val="444B52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chỉ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số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sức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khỏe</a:t>
            </a:r>
            <a:r>
              <a:rPr sz="1500" dirty="0">
                <a:solidFill>
                  <a:srgbClr val="444B52"/>
                </a:solidFill>
                <a:latin typeface="Arial"/>
              </a:rPr>
              <a:t> (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tuổi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áp</a:t>
            </a:r>
            <a:r>
              <a:rPr sz="1500" dirty="0">
                <a:solidFill>
                  <a:srgbClr val="444B52"/>
                </a:solidFill>
                <a:latin typeface="Arial"/>
              </a:rPr>
              <a:t>, BMI,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đường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, cholesterol,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lối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sống</a:t>
            </a:r>
            <a:r>
              <a:rPr sz="1500" dirty="0">
                <a:solidFill>
                  <a:srgbClr val="444B52"/>
                </a:solidFill>
                <a:latin typeface="Arial"/>
              </a:rPr>
              <a:t>…)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Đầu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ra</a:t>
            </a:r>
            <a:r>
              <a:rPr sz="1500" dirty="0">
                <a:solidFill>
                  <a:srgbClr val="444B52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xác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suất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rủi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ro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cho mỗi bệnh trong 3 loại bệnh trên,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mức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độ rủi ro</a:t>
            </a:r>
            <a:r>
              <a:rPr sz="1500" dirty="0">
                <a:solidFill>
                  <a:srgbClr val="444B52"/>
                </a:solidFill>
                <a:latin typeface="Arial"/>
              </a:rPr>
              <a:t> (THẤP/TRUNG BÌNH/CAO)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khuyến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ngh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ị</a:t>
            </a:r>
            <a:endParaRPr lang="en-US" sz="1500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85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12C6-5626-2B91-5488-0BFA6672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5FE787-3626-CB45-0701-6A61F7775C70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VN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29716-1F64-851A-8BFF-9E3640C9AB52}"/>
              </a:ext>
            </a:extLst>
          </p:cNvPr>
          <p:cNvSpPr txBox="1"/>
          <p:nvPr/>
        </p:nvSpPr>
        <p:spPr>
          <a:xfrm>
            <a:off x="503073" y="2279967"/>
            <a:ext cx="4305995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</a:t>
            </a:r>
          </a:p>
          <a:p>
            <a:pPr>
              <a:spcAft>
                <a:spcPts val="400"/>
              </a:spcAft>
            </a:pPr>
            <a:endParaRPr lang="vi-VN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2.2.2. Tune model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2.2.3. Đánh giá final model</a:t>
            </a:r>
          </a:p>
          <a:p>
            <a:pPr>
              <a:spcAft>
                <a:spcPts val="400"/>
              </a:spcAft>
            </a:pPr>
            <a:endParaRPr lang="vi-VN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2.3. Dựng app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12074-3F68-25C8-6E34-896D7D3CEEE4}"/>
              </a:ext>
            </a:extLst>
          </p:cNvPr>
          <p:cNvSpPr txBox="1"/>
          <p:nvPr/>
        </p:nvSpPr>
        <p:spPr>
          <a:xfrm>
            <a:off x="0" y="6488668"/>
            <a:ext cx="247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cardio_preprocessing.py</a:t>
            </a:r>
            <a:endParaRPr lang="en-V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2B35B-9759-7DC4-019F-224B2644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99" y="1579362"/>
            <a:ext cx="6773028" cy="409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3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2. Giải 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95682"/>
              </p:ext>
            </p:extLst>
          </p:nvPr>
        </p:nvGraphicFramePr>
        <p:xfrm>
          <a:off x="518007" y="2234995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Bệnh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Bộ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dữ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liệu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Số dòng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Đặc trưng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Nhãn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Tim mạch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Cardiovascular Disease (Kaggle)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70.000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cardio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Tiểu đường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Pima Indians Diabetes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Tăng huyết áp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Framingham Heart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4.240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6208"/>
            <a:ext cx="11185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</a:rPr>
              <a:t>Nguồn </a:t>
            </a:r>
            <a:r>
              <a:rPr lang="vi-VN" sz="1250" b="1" dirty="0">
                <a:solidFill>
                  <a:srgbClr val="444B52"/>
                </a:solidFill>
                <a:latin typeface="Arial"/>
              </a:rPr>
              <a:t>Kaggle</a:t>
            </a:r>
            <a:r>
              <a:rPr lang="vi-VN" sz="1250" dirty="0">
                <a:solidFill>
                  <a:srgbClr val="444B52"/>
                </a:solidFill>
                <a:latin typeface="Arial"/>
              </a:rPr>
              <a:t>:</a:t>
            </a: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3"/>
              </a:rPr>
              <a:t>http://kaggle.com/datasets/jamaltariqcheema/pima-indians-diabetes-dataset</a:t>
            </a:r>
            <a:endParaRPr lang="vi-VN" sz="1250" dirty="0">
              <a:solidFill>
                <a:srgbClr val="444B52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4"/>
              </a:rPr>
              <a:t>https://www.kaggle.com/datasets/sulianova/cardiovascular-disease-dataset</a:t>
            </a:r>
            <a:endParaRPr lang="vi-VN" sz="1250" dirty="0">
              <a:solidFill>
                <a:srgbClr val="444B52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5"/>
              </a:rPr>
              <a:t>https://www.kaggle.com/datasets/khan1803115/hypertension-risk-model-main</a:t>
            </a:r>
            <a:endParaRPr lang="vi-VN" sz="1250" dirty="0">
              <a:solidFill>
                <a:srgbClr val="444B52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8EC98-9C55-C4EB-AD10-A384497E555C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 (20% test, 80% train)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BB87-083E-E1D2-9330-88AF5B82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3016B-0092-D3E1-9EA4-94599E449351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VN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C029F-CDDC-453B-5A64-8E2D80478B5C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 (20% test, 80% train)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3C4FE-8818-BF0F-9430-DF9870AB4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847" y="1943100"/>
            <a:ext cx="736600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E374B-B890-2DB9-847D-5B1876A9DAF0}"/>
              </a:ext>
            </a:extLst>
          </p:cNvPr>
          <p:cNvSpPr txBox="1"/>
          <p:nvPr/>
        </p:nvSpPr>
        <p:spPr>
          <a:xfrm>
            <a:off x="0" y="6488668"/>
            <a:ext cx="247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cardio_preprocessing.py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0443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4E6FF-28A5-E54F-E22B-392D02EA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1809689"/>
            <a:ext cx="7772400" cy="4339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482DE-B4E3-DEC2-D5FA-56307072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00CB-2EFC-F7B9-632B-A6B484C1707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8FCCE-AD1A-B4FD-3FBA-14667488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6" y="1974990"/>
            <a:ext cx="11844562" cy="3613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55EAAF-B7ED-CD20-E70A-E51865014E1E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279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A3B4-DEEE-AD69-93D4-D2E6166B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D2F39D-10DE-BDC6-0600-326D7FDA7D7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B9E17-D07A-FE8B-ED2A-AC10CCF5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170" y="3047315"/>
            <a:ext cx="7469659" cy="1771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5EDBAE-8AF2-7073-9CBE-0DC33ABAB030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2.2.2. Tune model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196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178A-7D52-76B6-0964-51C2F998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590FEB-5C72-FF64-9BF9-5E4B7DFA93A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4E404-15A0-25D9-0286-92104EBE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" y="2849099"/>
            <a:ext cx="11963542" cy="1503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32D1C-DBA4-A325-80A7-CFAD97AE7263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2.2.3. Đánh giá final model</a:t>
            </a:r>
          </a:p>
        </p:txBody>
      </p:sp>
    </p:spTree>
    <p:extLst>
      <p:ext uri="{BB962C8B-B14F-4D97-AF65-F5344CB8AC3E}">
        <p14:creationId xmlns:p14="http://schemas.microsoft.com/office/powerpoint/2010/main" val="303606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081D-638C-0277-4805-7B7571F7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62F65B-1F29-97CE-708B-DEDEFD475062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2369E-F6DD-3374-483C-ED25CBC11465}"/>
              </a:ext>
            </a:extLst>
          </p:cNvPr>
          <p:cNvSpPr txBox="1"/>
          <p:nvPr/>
        </p:nvSpPr>
        <p:spPr>
          <a:xfrm>
            <a:off x="9525000" y="1746765"/>
            <a:ext cx="2447237" cy="23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Khuyến nghị dựa trên RULE (bảng tra cứu tĩnh), không dùng ML</a:t>
            </a:r>
          </a:p>
          <a:p>
            <a:pPr lvl="1">
              <a:spcAft>
                <a:spcPts val="400"/>
              </a:spcAft>
            </a:pPr>
            <a:endParaRPr lang="vi-VN" sz="105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Ánh xạ theo mức rủi ro (LOW/MODERATE/HIGH) từng bệnh + tổng thể</a:t>
            </a:r>
          </a:p>
          <a:p>
            <a:pPr lvl="1">
              <a:spcAft>
                <a:spcPts val="400"/>
              </a:spcAft>
            </a:pPr>
            <a:endParaRPr lang="vi-VN" sz="105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Ưu điểm: minh bạch, kiểm soát được, an toàn — phù hợp y tế; luôn kèm disclaimer</a:t>
            </a:r>
          </a:p>
          <a:p>
            <a:endParaRPr lang="en-V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0A6DB-880A-2B79-0FE5-F8DA311D40EA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2.3. Dựng webapp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68638-EFDF-DDB0-FB0D-5CC77CE68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4" y="1592207"/>
            <a:ext cx="9427680" cy="5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0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3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Dem</a:t>
            </a:r>
            <a:r>
              <a:rPr lang="vi-VN" sz="2600" b="1" dirty="0">
                <a:solidFill>
                  <a:srgbClr val="FFFFFF"/>
                </a:solidFill>
                <a:latin typeface="Arial"/>
              </a:rPr>
              <a:t>o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85855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3.1 -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Đánh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giá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rủi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ro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3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bệnh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mãn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tính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3.2 -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Khuyến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nghị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3.3 - CRUD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thông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tin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bệnh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nhân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và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thông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tin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đo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sức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khoẻ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 lvl="1">
              <a:spcAft>
                <a:spcPts val="500"/>
              </a:spcAft>
            </a:pPr>
            <a:endParaRPr lang="vi-VN" sz="1400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4DB9C-CCBF-6763-FF37-4C651DDB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173" y="2336671"/>
            <a:ext cx="8953347" cy="42116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thúc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&amp;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Hỏi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đáp</a:t>
            </a:r>
            <a:endParaRPr sz="3400" b="1" dirty="0">
              <a:solidFill>
                <a:srgbClr val="FFFFFF"/>
              </a:solidFill>
              <a:latin typeface="Arial"/>
            </a:endParaRPr>
          </a:p>
          <a:p>
            <a:endParaRPr sz="1600" b="0" dirty="0">
              <a:solidFill>
                <a:srgbClr val="CFE3EC"/>
              </a:solidFill>
              <a:latin typeface="Arial"/>
            </a:endParaRPr>
          </a:p>
          <a:p>
            <a:r>
              <a:rPr sz="1800" b="1" dirty="0" err="1">
                <a:solidFill>
                  <a:srgbClr val="FFFFFF"/>
                </a:solidFill>
                <a:latin typeface="Arial"/>
              </a:rPr>
              <a:t>Cảm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ơn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vi-VN" sz="1800" b="1" dirty="0">
                <a:solidFill>
                  <a:srgbClr val="FFFFFF"/>
                </a:solidFill>
                <a:latin typeface="Arial"/>
              </a:rPr>
              <a:t>thầy và mọi người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đã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lắng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nghe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683</Words>
  <Application>Microsoft Macintosh PowerPoint</Application>
  <PresentationFormat>Widescreen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Dinh, Thong</cp:lastModifiedBy>
  <cp:revision>120</cp:revision>
  <dcterms:created xsi:type="dcterms:W3CDTF">2013-01-27T09:14:16Z</dcterms:created>
  <dcterms:modified xsi:type="dcterms:W3CDTF">2026-09-27T07:45:00Z</dcterms:modified>
  <cp:category/>
</cp:coreProperties>
</file>